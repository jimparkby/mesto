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Старт" id="{5726E6C3-AF7D-B3EF-B9DC-AE0AB645C552}">
          <p14:sldIdLst>
            <p14:sldId id="256"/>
            <p14:sldId id="257"/>
            <p14:sldId id="258"/>
            <p14:sldId id="259"/>
          </p14:sldIdLst>
        </p14:section>
        <p14:section name="Идея" id="{8ED26A4E-5ABC-703B-C9FE-F1C51DC7B7EC}">
          <p14:sldIdLst>
            <p14:sldId id="260"/>
          </p14:sldIdLst>
        </p14:section>
        <p14:section name="Проблема" id="{259DFCC1-89F5-A28B-738F-637D142903B8}">
          <p14:sldIdLst>
            <p14:sldId id="261"/>
            <p14:sldId id="262"/>
          </p14:sldIdLst>
        </p14:section>
        <p14:section name="Исследование" id="{6A4C19B5-3F95-CA51-B90B-1E32F54C4FBF}">
          <p14:sldIdLst>
            <p14:sldId id="263"/>
          </p14:sldIdLst>
        </p14:section>
        <p14:section name="Продукт" id="{256CBD21-0BB4-9CE4-725F-F39776765081}">
          <p14:sldIdLst>
            <p14:sldId id="264"/>
            <p14:sldId id="265"/>
          </p14:sldIdLst>
        </p14:section>
        <p14:section name="Бизнес" id="{93C2FAB0-9C86-FBD2-6EF8-8C6D5E549A1B}">
          <p14:sldIdLst>
            <p14:sldId id="266"/>
          </p14:sldIdLst>
        </p14:section>
        <p14:section name="Рынок" id="{6C5AB3C2-2393-294F-0DF3-EBA9A5797E15}">
          <p14:sldIdLst>
            <p14:sldId id="267"/>
          </p14:sldIdLst>
        </p14:section>
        <p14:section name="Демо" id="{A55043D6-E7AF-AD40-AC13-4032CD106D33}">
          <p14:sldIdLst>
            <p14:sldId id="268"/>
          </p14:sldIdLst>
        </p14:section>
        <p14:section name="UX" id="{91967451-F00E-E77D-A1F4-6D50BDAC69BD}">
          <p14:sldIdLst>
            <p14:sldId id="269"/>
          </p14:sldIdLst>
        </p14:section>
        <p14:section name="Дальше" id="{840003A5-3DE2-E3D1-526D-DE04609C51E3}">
          <p14:sldIdLst>
            <p14:sldId id="270"/>
          </p14:sldIdLst>
        </p14:section>
        <p14:section name="Финал" id="{CE244005-037F-6784-9115-1CA1C4105F6A}">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55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03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1. Ориентир: 15 сек.
«Место» — наш проект про спорт. Мы хотим, чтобы в одном месте человек мог найти компанию, выбрать тренировку или записаться на мероприятие. Сегодня расскажем, как мы переосмыслили эту идею в ходе обсуждения.
(Дальше — клик: экраны приложения по очереди выходят вперёд, по одному на каждую часть названия.)</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2. Ориентир: 10 сек.
Компания: найти людей для игры. В профиле видно интересы, опыт и историю участия. Общий рейтинг людей мы убрали.</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3. Ориентир: 10 сек.
Тренировки: подбор занятия по возрасту, интересам, бюджету, дням и времени, с картой рядом. Ориентир — выбор за 4–5 минут. В MVP сейчас события, тренировки — следующий этап.</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4. Ориентир: 10 сек.
События: на карточке сразу видны дата, место, цена, уровень и сколько мест осталось, а записаться можно одной кнопкой.</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5. Ориентир: 35 сек.
Раньше мы в первую очередь говорили о поиске компании: хочется поиграть, но не с кем. Сейчас пришли к мысли, что это может быть одной из функций более широкой платформы. Человек заходит в «Место», чтобы понять, какие спортивные возможности ему вообще доступны. Здесь можно найти людей для игры, посмотреть тренировки и выбрать мероприятие. Всё это связывает одна задача — помочь человеку найти подходящий вариант и начать заниматься.</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6. Ориентир: 40 сек.
Мы выделили две ключевые проблемы. Первая — отсутствие удобной автоматизированной записи: человеку приходится писать тренеру или администратору, ждать ответа и отдельно уточнять цену, расписание и свободные места. Вторая — разрозненность информации. Тренировки публикуются на разных сайтах, в социальных сетях и Telegram, поэтому приходится сравнивать варианты вручную и долго выбирать спорт или тренера. Mesto должно объединить предложения и сделать путь от интереса до записи проще.</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7. Ориентир: 45 сек.
Чтобы проверить проблему, мы проанализировали ответы 20 человек. 17 из 20 занимаются с тренерами — это первый сигнал спроса. 8 человек пользуются Telegram-чатами, где ищут варианты, а 7 сталкивались со сложностями при выборе тренера. 14 из 20 хотели бы попробовать разные спортивные игры. Это небольшая предварительная выборка, поэтому мы не переносим результат на весь рынок. Для следующего этапа решили сфокусироваться на аудитории 17–25 лет и проверить, как она выбирает спорт, тренера и формат занятий.</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1. Слайд 8. Ориентир: 30 сек.
Мы написали администраторам спортивных чатов и проанализировали ответы: им такая платформа актуальна. Сейчас мы на стадии добавления их анкет и переноса новых чатов в Mesto.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2. Слайд 9. Ориентир: 60 сек.
Представим человека сорока лет, который решил заняться спортом, но не знает, с чего начать. Он заходит на платформу и указывает базовые данные: возраст, интересы, сколько готов платить, сколько раз в неделю может заниматься и в какое время. Дальше получает подходящие варианты из базы: вид спорта, расписание, стоимость и расположение. На карте он видит, что находится ближе к дому, сравнивает предложения и выбирает занятие, на которое хочет записаться. Мы хотим, чтобы этот выбор занимал четыре-пять минут. Это пока наш ориентир. Сам подбор можно начать с обычных фильтров по базе данных. ИИ рассматриваем как удобный способ вести такой диалог с человеком, но необходимость и реализацию ещё обсуждаем.</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2. Слайд 10. Ориентир: 35 сек.
Ещё одна идея — отдельные профили участников и организаторов. У участника можно увидеть описание, спортивные интересы и опыт. У организатора — информацию о себе, тренировках и мероприятиях. Также хотим показывать историю участия: например, человек прошёл марафон или участвовал в турнире. Это помогает понять его опыт и найти повод для общения. Общий рейтинг людей пока решили убрать: не всем нравится, когда их оценивают. Нам ближе профиль, который показывает, чем человек увлекается и где он участвовал.</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3. Слайд 11. Ориентир: 65 сек.
Самый открытый вопрос для нас — монетизация. Полезный продукт ещё не означает, что за него будут платить. В обсуждении пришли к такому варианту: для обычного участника поиск и базовые возможности остаются бесплатными. Любитель тоже может разместить свою игру. А для клуба, спортивной школы или организатора, который регулярно публикует много мероприятий, можно предложить подписку с расширенными возможностями. Например, больше публикаций или продвижение событий. При этом точную цену мы пока не определяли. Также обсуждали единый спортивный абонемент и посмотрели на примеры Allsports и ClassPass. Но пока не выбрали эту модель. Сейчас хотим понять, за какую конкретную пользу организатор действительно будет готов платить.</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3. Слайд 12. Ориентир: 60 сек.
Мы сравнили Mesto с прямыми конкурентами, косвенными решениями и заменителями. «Вместик» помогает искать и бронировать спортивные и досуговые объекты, RedSale — находить тренеров и сравнивать анкеты. Allsports и Sport Priority закрывают отдельные сценарии: выбор спортивных объектов или запись в подключённых клубах и студиях. Telegram-чаты и соцсети — привычная альтернатива для поиска компании и советов, но информация там разрознена. Наше предполагаемое отличие — объединить предложения из разных источников, парсер и пользовательские публикации с картой, событиями и поиском людей. При этом автоматизированную запись к тренерам ещё предстоит развивать: мы не заявляем, что уже полностью решили эту задачу. Функции в таблице оценены по публичным описаниям сервисов.</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3. Слайд 13. Ориентир: 30 сек.
В завершение покажем наш MVP: карточку события, карту и профиль. Дополнительно мы добавили парсер и собираем реальные предложения от пользователей, чтобы каталог опирался на актуальные варианты. На слайде есть ссылки для просмотра веб-версии, кода и Telegram.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3. Слайд 14. Ориентир: 40 сек.
По ходу работы мы поменяли UX. Тренеров и тренировки вынесли отдельным блоком вверх. Карусель видов спорта сократили: показываем только самые популярные, например футбол и баскетбол, а дальше есть кнопка «Далее» — по ней всплывает окно с фильтром всех видов спорта, и не нужно мотать весь список. Фильтры вынесли отдельным окном, и хотим, чтобы они закрывались свайпом, а не нажатием на пустую область. Ещё добавляем информационный блок для каждого вида спорта: везде уровень игры называется по-разному — в волейболе это Д2, Д3, в бадминтоне A, B, C, D — и пользователь может заранее ознакомиться с этими обозначениями.</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Спикер 3. Слайд 15.
Следующий шаг — проверить качество собранных предложений, улучшить фильтры и понять, какие функции записи наиболее востребованы. Будем рады обратной связи по приоритетам развития проекта.</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Вопросы жюри после выступления:
1. Не слишком ли мы расширили идею? Какой сценарий вы бы выбрали главным для первой версии: поиск компании или подбор тренировок?
2. За какую конкретную пользу клубы и организаторы могли бы платить нам регулярно? Достаточно ли публикаций и продвижения для подписки?
3. Как вы оцениваете нашу идею подбора: нужен ли здесь ИИ или на первом этапе достаточно хорошей базы и фильтров?
4. Каким вы видите наше сильное отличие от спортивных агрегаторов вроде Allsports и ClassPass?
5. Что в этой концепции вы бы убрали или упростили в первую очередь?</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PEN">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10058400" y="384048"/>
            <a:ext cx="1581912" cy="384048"/>
          </a:xfrm>
          <a:prstGeom prst="rect">
            <a:avLst/>
          </a:prstGeom>
          <a:noFill/>
          <a:ln/>
        </p:spPr>
        <p:txBody>
          <a:bodyPr wrap="square" lIns="0" tIns="0" rIns="0" bIns="0" rtlCol="0" anchor="ctr"/>
          <a:lstStyle/>
          <a:p>
            <a:pPr marL="0" indent="0" algn="r">
              <a:buNone/>
            </a:pPr>
            <a:r>
              <a:rPr lang="en-US" sz="2000" b="1" dirty="0">
                <a:solidFill>
                  <a:schemeClr val="tx2"/>
                </a:solidFill>
              </a:rPr>
              <a:t>Mesto</a:t>
            </a:r>
            <a:endParaRPr lang="en-US" sz="20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rtlCol="0"/>
          <a:lstStyle>
            <a:lvl1pPr marL="0" indent="0" algn="l">
              <a:buNone/>
              <a:defRPr lang="en-US" sz="4000" b="1" dirty="0">
                <a:solidFill>
                  <a:schemeClr val="tx1"/>
                </a:solidFill>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48640" y="6400800"/>
            <a:ext cx="1828800" cy="320040"/>
          </a:xfrm>
          <a:prstGeom prst="rect">
            <a:avLst/>
          </a:prstGeom>
          <a:noFill/>
          <a:ln/>
        </p:spPr>
        <p:txBody>
          <a:bodyPr wrap="square" lIns="0" tIns="0" rIns="0" bIns="0" rtlCol="0" anchor="ctr"/>
          <a:lstStyle/>
          <a:p>
            <a:pPr marL="0" indent="0">
              <a:buNone/>
            </a:pPr>
            <a:r>
              <a:rPr lang="en-US" sz="1800" b="1" dirty="0">
                <a:solidFill>
                  <a:schemeClr val="accent2"/>
                </a:solidFill>
              </a:rPr>
              <a:t>Mesto</a:t>
            </a:r>
            <a:endParaRPr lang="en-US" sz="1800" dirty="0"/>
          </a:p>
        </p:txBody>
      </p:sp>
      <p:sp>
        <p:nvSpPr>
          <p:cNvPr id="4" name="Text 1"/>
          <p:cNvSpPr>
            <a:spLocks noGrp="1"/>
          </p:cNvSpPr>
          <p:nvPr>
            <p:ph type="title" idx="102" hasCustomPrompt="1"/>
          </p:nvPr>
        </p:nvSpPr>
        <p:spPr>
          <a:xfrm>
            <a:off x="548640" y="914400"/>
            <a:ext cx="4297680" cy="15544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4.png"/><Relationship Id="rId10" Type="http://schemas.openxmlformats.org/officeDocument/2006/relationships/image" Target="../media/image33.png"/><Relationship Id="rId4" Type="http://schemas.openxmlformats.org/officeDocument/2006/relationships/image" Target="../media/image6.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ard" descr="Бордовая карточка-фон"/>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822960" y="566928"/>
            <a:ext cx="5669280" cy="1463040"/>
          </a:xfrm>
          <a:prstGeom prst="rect">
            <a:avLst/>
          </a:prstGeom>
          <a:noFill/>
          <a:ln/>
        </p:spPr>
        <p:txBody>
          <a:bodyPr wrap="square" lIns="0" tIns="0" rIns="0" bIns="0" rtlCol="0" anchor="t"/>
          <a:lstStyle/>
          <a:p>
            <a:pPr marL="0" indent="0">
              <a:buNone/>
            </a:pPr>
            <a:r>
              <a:rPr lang="en-US" sz="8800" b="1" dirty="0">
                <a:solidFill>
                  <a:schemeClr val="bg1"/>
                </a:solidFill>
              </a:rPr>
              <a:t>Mesto</a:t>
            </a:r>
            <a:endParaRPr lang="en-US" sz="8800" dirty="0"/>
          </a:p>
        </p:txBody>
      </p:sp>
      <p:sp>
        <p:nvSpPr>
          <p:cNvPr id="4" name="!!toc"/>
          <p:cNvSpPr txBox="1"/>
          <p:nvPr/>
        </p:nvSpPr>
        <p:spPr>
          <a:xfrm>
            <a:off x="822960" y="2514600"/>
            <a:ext cx="5394960" cy="2286000"/>
          </a:xfrm>
          <a:prstGeom prst="rect">
            <a:avLst/>
          </a:prstGeom>
          <a:noFill/>
          <a:ln/>
        </p:spPr>
        <p:txBody>
          <a:bodyPr wrap="square" lIns="0" tIns="0" rIns="0" bIns="0" rtlCol="0" anchor="t"/>
          <a:lstStyle/>
          <a:p>
            <a:pPr marL="0" indent="0">
              <a:lnSpc>
                <a:spcPct val="105000"/>
              </a:lnSpc>
              <a:buNone/>
            </a:pPr>
            <a:r>
              <a:rPr lang="en-US" sz="4600" dirty="0">
                <a:solidFill>
                  <a:schemeClr val="bg1"/>
                </a:solidFill>
              </a:rPr>
              <a:t>Компания</a:t>
            </a:r>
            <a:endParaRPr lang="en-US" sz="4600" dirty="0"/>
          </a:p>
          <a:p>
            <a:pPr marL="0" indent="0">
              <a:lnSpc>
                <a:spcPct val="105000"/>
              </a:lnSpc>
              <a:buNone/>
            </a:pPr>
            <a:r>
              <a:rPr lang="en-US" sz="4600" dirty="0">
                <a:solidFill>
                  <a:schemeClr val="bg1"/>
                </a:solidFill>
              </a:rPr>
              <a:t>Тренировки</a:t>
            </a:r>
            <a:endParaRPr lang="en-US" sz="4600" dirty="0"/>
          </a:p>
          <a:p>
            <a:pPr marL="0" indent="0">
              <a:lnSpc>
                <a:spcPct val="105000"/>
              </a:lnSpc>
              <a:buNone/>
            </a:pPr>
            <a:r>
              <a:rPr lang="en-US" sz="4600" dirty="0">
                <a:solidFill>
                  <a:schemeClr val="bg1"/>
                </a:solidFill>
              </a:rPr>
              <a:t>События</a:t>
            </a:r>
            <a:endParaRPr lang="en-US" sz="4600" dirty="0"/>
          </a:p>
        </p:txBody>
      </p:sp>
      <p:sp>
        <p:nvSpPr>
          <p:cNvPr id="5" name="!!caption"/>
          <p:cNvSpPr txBox="1"/>
          <p:nvPr/>
        </p:nvSpPr>
        <p:spPr>
          <a:xfrm>
            <a:off x="822960" y="4983480"/>
            <a:ext cx="5394960" cy="457200"/>
          </a:xfrm>
          <a:prstGeom prst="rect">
            <a:avLst/>
          </a:prstGeom>
          <a:noFill/>
          <a:ln/>
        </p:spPr>
        <p:txBody>
          <a:bodyPr wrap="square" lIns="0" tIns="0" rIns="0" bIns="0" rtlCol="0" anchor="t"/>
          <a:lstStyle/>
          <a:p>
            <a:pPr marL="0" indent="0">
              <a:buNone/>
            </a:pPr>
            <a:r>
              <a:rPr lang="en-US" sz="2600" dirty="0">
                <a:solidFill>
                  <a:srgbClr val="E9D3DB"/>
                </a:solidFill>
              </a:rPr>
              <a:t>в одном месте</a:t>
            </a:r>
            <a:endParaRPr lang="en-US" sz="2600" dirty="0"/>
          </a:p>
        </p:txBody>
      </p:sp>
      <p:sp>
        <p:nvSpPr>
          <p:cNvPr id="6" name="!!sub"/>
          <p:cNvSpPr txBox="1"/>
          <p:nvPr/>
        </p:nvSpPr>
        <p:spPr>
          <a:xfrm>
            <a:off x="822960" y="5897880"/>
            <a:ext cx="5394960" cy="365760"/>
          </a:xfrm>
          <a:prstGeom prst="rect">
            <a:avLst/>
          </a:prstGeom>
          <a:noFill/>
          <a:ln/>
        </p:spPr>
        <p:txBody>
          <a:bodyPr wrap="square" lIns="0" tIns="0" rIns="0" bIns="0" rtlCol="0" anchor="t"/>
          <a:lstStyle/>
          <a:p>
            <a:pPr marL="0" indent="0">
              <a:buNone/>
            </a:pPr>
            <a:r>
              <a:rPr lang="en-US" sz="1600" dirty="0">
                <a:solidFill>
                  <a:srgbClr val="F7A8C0"/>
                </a:solidFill>
              </a:rPr>
              <a:t>Любительский спорт в Минске</a:t>
            </a:r>
            <a:endParaRPr lang="en-US" sz="1600" dirty="0"/>
          </a:p>
        </p:txBody>
      </p:sp>
      <p:pic>
        <p:nvPicPr>
          <p:cNvPr id="7" name="!!phone-L" descr="Экран Mesto: профиль пользователя"/>
          <p:cNvPicPr>
            <a:picLocks noChangeAspect="1"/>
          </p:cNvPicPr>
          <p:nvPr/>
        </p:nvPicPr>
        <p:blipFill>
          <a:blip r:embed="rId4"/>
          <a:stretch>
            <a:fillRect/>
          </a:stretch>
        </p:blipFill>
        <p:spPr>
          <a:xfrm>
            <a:off x="6249789" y="2344121"/>
            <a:ext cx="2260961" cy="3875933"/>
          </a:xfrm>
          <a:prstGeom prst="rect">
            <a:avLst/>
          </a:prstGeom>
        </p:spPr>
      </p:pic>
      <p:sp>
        <p:nvSpPr>
          <p:cNvPr id="8" name="!!dim-L"/>
          <p:cNvSpPr/>
          <p:nvPr/>
        </p:nvSpPr>
        <p:spPr>
          <a:xfrm>
            <a:off x="6467459" y="2400294"/>
            <a:ext cx="1825620" cy="3489744"/>
          </a:xfrm>
          <a:prstGeom prst="roundRect">
            <a:avLst>
              <a:gd name="adj" fmla="val 7500"/>
            </a:avLst>
          </a:prstGeom>
          <a:solidFill>
            <a:srgbClr val="8B1E3F">
              <a:alpha val="0"/>
            </a:srgbClr>
          </a:solidFill>
          <a:ln/>
        </p:spPr>
      </p:sp>
      <p:pic>
        <p:nvPicPr>
          <p:cNvPr id="9" name="!!phone-R" descr="Экран Mesto: карточка события"/>
          <p:cNvPicPr>
            <a:picLocks noChangeAspect="1"/>
          </p:cNvPicPr>
          <p:nvPr/>
        </p:nvPicPr>
        <p:blipFill>
          <a:blip r:embed="rId5"/>
          <a:stretch>
            <a:fillRect/>
          </a:stretch>
        </p:blipFill>
        <p:spPr>
          <a:xfrm>
            <a:off x="9831180" y="2344121"/>
            <a:ext cx="2260961" cy="3921573"/>
          </a:xfrm>
          <a:prstGeom prst="rect">
            <a:avLst/>
          </a:prstGeom>
        </p:spPr>
      </p:pic>
      <p:sp>
        <p:nvSpPr>
          <p:cNvPr id="10" name="!!dim-R"/>
          <p:cNvSpPr/>
          <p:nvPr/>
        </p:nvSpPr>
        <p:spPr>
          <a:xfrm>
            <a:off x="10048850" y="2400294"/>
            <a:ext cx="1825620" cy="3535384"/>
          </a:xfrm>
          <a:prstGeom prst="roundRect">
            <a:avLst>
              <a:gd name="adj" fmla="val 7500"/>
            </a:avLst>
          </a:prstGeom>
          <a:solidFill>
            <a:srgbClr val="8B1E3F">
              <a:alpha val="0"/>
            </a:srgbClr>
          </a:solidFill>
          <a:ln/>
        </p:spPr>
      </p:sp>
      <p:pic>
        <p:nvPicPr>
          <p:cNvPr id="11" name="!!phone-C" descr="Экран Mesto: карта событий"/>
          <p:cNvPicPr>
            <a:picLocks noChangeAspect="1"/>
          </p:cNvPicPr>
          <p:nvPr/>
        </p:nvPicPr>
        <p:blipFill>
          <a:blip r:embed="rId6"/>
          <a:stretch>
            <a:fillRect/>
          </a:stretch>
        </p:blipFill>
        <p:spPr>
          <a:xfrm>
            <a:off x="7996095" y="2176579"/>
            <a:ext cx="2359263" cy="4194653"/>
          </a:xfrm>
          <a:prstGeom prst="rect">
            <a:avLst/>
          </a:prstGeom>
        </p:spPr>
      </p:pic>
      <p:sp>
        <p:nvSpPr>
          <p:cNvPr id="12" name="!!dim-C"/>
          <p:cNvSpPr/>
          <p:nvPr/>
        </p:nvSpPr>
        <p:spPr>
          <a:xfrm>
            <a:off x="8223229" y="2235194"/>
            <a:ext cx="1904995" cy="3791673"/>
          </a:xfrm>
          <a:prstGeom prst="roundRect">
            <a:avLst>
              <a:gd name="adj" fmla="val 7500"/>
            </a:avLst>
          </a:prstGeom>
          <a:solidFill>
            <a:srgbClr val="8B1E3F">
              <a:alpha val="0"/>
            </a:srgbClr>
          </a:soli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card" descr="Бордовая карточка-фон"/>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822960" y="457200"/>
            <a:ext cx="2743200" cy="566928"/>
          </a:xfrm>
          <a:prstGeom prst="rect">
            <a:avLst/>
          </a:prstGeom>
          <a:noFill/>
          <a:ln/>
        </p:spPr>
        <p:txBody>
          <a:bodyPr wrap="square" lIns="0" tIns="0" rIns="0" bIns="0" rtlCol="0" anchor="t"/>
          <a:lstStyle/>
          <a:p>
            <a:pPr marL="0" indent="0">
              <a:buNone/>
            </a:pPr>
            <a:r>
              <a:rPr lang="en-US" sz="3200" b="1" dirty="0">
                <a:solidFill>
                  <a:schemeClr val="bg1"/>
                </a:solidFill>
              </a:rPr>
              <a:t>Mesto</a:t>
            </a:r>
            <a:endParaRPr lang="en-US" sz="3200" dirty="0"/>
          </a:p>
        </p:txBody>
      </p:sp>
      <p:sp>
        <p:nvSpPr>
          <p:cNvPr id="4" name="!!tab1"/>
          <p:cNvSpPr txBox="1"/>
          <p:nvPr/>
        </p:nvSpPr>
        <p:spPr>
          <a:xfrm>
            <a:off x="822960" y="1188720"/>
            <a:ext cx="1143000" cy="365760"/>
          </a:xfrm>
          <a:prstGeom prst="rect">
            <a:avLst/>
          </a:prstGeom>
          <a:noFill/>
          <a:ln/>
        </p:spPr>
        <p:txBody>
          <a:bodyPr wrap="square" lIns="0" tIns="0" rIns="0" bIns="0" rtlCol="0" anchor="ctr"/>
          <a:lstStyle/>
          <a:p>
            <a:pPr marL="0" indent="0">
              <a:buNone/>
            </a:pPr>
            <a:r>
              <a:rPr lang="en-US" sz="2000" b="1" dirty="0">
                <a:solidFill>
                  <a:schemeClr val="bg1"/>
                </a:solidFill>
              </a:rPr>
              <a:t>Компания</a:t>
            </a:r>
            <a:endParaRPr lang="en-US" sz="2000" dirty="0"/>
          </a:p>
        </p:txBody>
      </p:sp>
      <p:sp>
        <p:nvSpPr>
          <p:cNvPr id="5" name="!!tab2"/>
          <p:cNvSpPr txBox="1"/>
          <p:nvPr/>
        </p:nvSpPr>
        <p:spPr>
          <a:xfrm>
            <a:off x="2377440" y="1188720"/>
            <a:ext cx="1463040" cy="365760"/>
          </a:xfrm>
          <a:prstGeom prst="rect">
            <a:avLst/>
          </a:prstGeom>
          <a:noFill/>
          <a:ln/>
        </p:spPr>
        <p:txBody>
          <a:bodyPr wrap="square" lIns="0" tIns="0" rIns="0" bIns="0" rtlCol="0" anchor="ctr"/>
          <a:lstStyle/>
          <a:p>
            <a:pPr marL="0" indent="0">
              <a:buNone/>
            </a:pPr>
            <a:r>
              <a:rPr lang="en-US" sz="2000" b="1" dirty="0">
                <a:solidFill>
                  <a:srgbClr val="E7A9B8"/>
                </a:solidFill>
              </a:rPr>
              <a:t>Тренировки</a:t>
            </a:r>
            <a:endParaRPr lang="en-US" sz="2000" dirty="0"/>
          </a:p>
        </p:txBody>
      </p:sp>
      <p:sp>
        <p:nvSpPr>
          <p:cNvPr id="6" name="!!tab3"/>
          <p:cNvSpPr txBox="1"/>
          <p:nvPr/>
        </p:nvSpPr>
        <p:spPr>
          <a:xfrm>
            <a:off x="4206240" y="1188720"/>
            <a:ext cx="1051560" cy="365760"/>
          </a:xfrm>
          <a:prstGeom prst="rect">
            <a:avLst/>
          </a:prstGeom>
          <a:noFill/>
          <a:ln/>
        </p:spPr>
        <p:txBody>
          <a:bodyPr wrap="square" lIns="0" tIns="0" rIns="0" bIns="0" rtlCol="0" anchor="ctr"/>
          <a:lstStyle/>
          <a:p>
            <a:pPr marL="0" indent="0">
              <a:buNone/>
            </a:pPr>
            <a:r>
              <a:rPr lang="en-US" sz="2000" b="1" dirty="0">
                <a:solidFill>
                  <a:srgbClr val="E7A9B8"/>
                </a:solidFill>
              </a:rPr>
              <a:t>События</a:t>
            </a:r>
            <a:endParaRPr lang="en-US" sz="2000" dirty="0"/>
          </a:p>
        </p:txBody>
      </p:sp>
      <p:sp>
        <p:nvSpPr>
          <p:cNvPr id="7" name="!!underline"/>
          <p:cNvSpPr/>
          <p:nvPr/>
        </p:nvSpPr>
        <p:spPr>
          <a:xfrm>
            <a:off x="822960" y="1600200"/>
            <a:ext cx="1097280" cy="45720"/>
          </a:xfrm>
          <a:prstGeom prst="rect">
            <a:avLst/>
          </a:prstGeom>
          <a:solidFill>
            <a:srgbClr val="FF6B5E"/>
          </a:solidFill>
          <a:ln/>
        </p:spPr>
      </p:sp>
      <p:sp>
        <p:nvSpPr>
          <p:cNvPr id="8" name="@rise:8|Desc title"/>
          <p:cNvSpPr txBox="1"/>
          <p:nvPr/>
        </p:nvSpPr>
        <p:spPr>
          <a:xfrm>
            <a:off x="822960" y="2103120"/>
            <a:ext cx="5852160" cy="731520"/>
          </a:xfrm>
          <a:prstGeom prst="rect">
            <a:avLst/>
          </a:prstGeom>
          <a:noFill/>
          <a:ln/>
        </p:spPr>
        <p:txBody>
          <a:bodyPr wrap="square" lIns="0" tIns="0" rIns="0" bIns="0" rtlCol="0" anchor="t"/>
          <a:lstStyle/>
          <a:p>
            <a:pPr marL="0" indent="0">
              <a:buNone/>
            </a:pPr>
            <a:r>
              <a:rPr lang="en-US" sz="4200" b="1" dirty="0">
                <a:solidFill>
                  <a:schemeClr val="bg1"/>
                </a:solidFill>
              </a:rPr>
              <a:t>Компания</a:t>
            </a:r>
            <a:endParaRPr lang="en-US" sz="4200" dirty="0"/>
          </a:p>
        </p:txBody>
      </p:sp>
      <p:sp>
        <p:nvSpPr>
          <p:cNvPr id="9" name="@rise:9|Desc lead"/>
          <p:cNvSpPr txBox="1"/>
          <p:nvPr/>
        </p:nvSpPr>
        <p:spPr>
          <a:xfrm>
            <a:off x="822960" y="2880360"/>
            <a:ext cx="5852160" cy="822960"/>
          </a:xfrm>
          <a:prstGeom prst="rect">
            <a:avLst/>
          </a:prstGeom>
          <a:noFill/>
          <a:ln/>
        </p:spPr>
        <p:txBody>
          <a:bodyPr wrap="square" lIns="0" tIns="0" rIns="0" bIns="0" rtlCol="0" anchor="t"/>
          <a:lstStyle/>
          <a:p>
            <a:pPr marL="0" indent="0">
              <a:buNone/>
            </a:pPr>
            <a:r>
              <a:rPr lang="en-US" sz="2200" dirty="0">
                <a:solidFill>
                  <a:srgbClr val="E9D3DB"/>
                </a:solidFill>
              </a:rPr>
              <a:t>Найти людей для игры и общения.</a:t>
            </a:r>
            <a:endParaRPr lang="en-US" sz="2200" dirty="0"/>
          </a:p>
        </p:txBody>
      </p:sp>
      <p:sp>
        <p:nvSpPr>
          <p:cNvPr id="10" name="@rise:10|Bullet dot"/>
          <p:cNvSpPr/>
          <p:nvPr/>
        </p:nvSpPr>
        <p:spPr>
          <a:xfrm>
            <a:off x="841248" y="4032504"/>
            <a:ext cx="146304" cy="146304"/>
          </a:xfrm>
          <a:prstGeom prst="ellipse">
            <a:avLst/>
          </a:prstGeom>
          <a:solidFill>
            <a:srgbClr val="FF6B5E"/>
          </a:solidFill>
          <a:ln/>
        </p:spPr>
      </p:sp>
      <p:sp>
        <p:nvSpPr>
          <p:cNvPr id="11" name="@rise:10|Bullet text"/>
          <p:cNvSpPr txBox="1"/>
          <p:nvPr/>
        </p:nvSpPr>
        <p:spPr>
          <a:xfrm>
            <a:off x="1188720" y="3931920"/>
            <a:ext cx="5486400" cy="384048"/>
          </a:xfrm>
          <a:prstGeom prst="rect">
            <a:avLst/>
          </a:prstGeom>
          <a:noFill/>
          <a:ln/>
        </p:spPr>
        <p:txBody>
          <a:bodyPr wrap="square" lIns="0" tIns="0" rIns="0" bIns="0" rtlCol="0" anchor="ctr"/>
          <a:lstStyle/>
          <a:p>
            <a:pPr marL="0" indent="0">
              <a:buNone/>
            </a:pPr>
            <a:r>
              <a:rPr lang="en-US" sz="2000" dirty="0">
                <a:solidFill>
                  <a:schemeClr val="bg1"/>
                </a:solidFill>
              </a:rPr>
              <a:t>Профиль с интересами и опытом</a:t>
            </a:r>
            <a:endParaRPr lang="en-US" sz="2000" dirty="0"/>
          </a:p>
        </p:txBody>
      </p:sp>
      <p:sp>
        <p:nvSpPr>
          <p:cNvPr id="12" name="@rise:11|Bullet dot"/>
          <p:cNvSpPr/>
          <p:nvPr/>
        </p:nvSpPr>
        <p:spPr>
          <a:xfrm>
            <a:off x="841248" y="4636008"/>
            <a:ext cx="146304" cy="146304"/>
          </a:xfrm>
          <a:prstGeom prst="ellipse">
            <a:avLst/>
          </a:prstGeom>
          <a:solidFill>
            <a:srgbClr val="FF6B5E"/>
          </a:solidFill>
          <a:ln/>
        </p:spPr>
      </p:sp>
      <p:sp>
        <p:nvSpPr>
          <p:cNvPr id="13" name="@rise:11|Bullet text"/>
          <p:cNvSpPr txBox="1"/>
          <p:nvPr/>
        </p:nvSpPr>
        <p:spPr>
          <a:xfrm>
            <a:off x="1188720" y="4535424"/>
            <a:ext cx="5486400" cy="384048"/>
          </a:xfrm>
          <a:prstGeom prst="rect">
            <a:avLst/>
          </a:prstGeom>
          <a:noFill/>
          <a:ln/>
        </p:spPr>
        <p:txBody>
          <a:bodyPr wrap="square" lIns="0" tIns="0" rIns="0" bIns="0" rtlCol="0" anchor="ctr"/>
          <a:lstStyle/>
          <a:p>
            <a:pPr marL="0" indent="0">
              <a:buNone/>
            </a:pPr>
            <a:r>
              <a:rPr lang="en-US" sz="2000" dirty="0">
                <a:solidFill>
                  <a:schemeClr val="bg1"/>
                </a:solidFill>
              </a:rPr>
              <a:t>История участия: забеги, турниры, события</a:t>
            </a:r>
            <a:endParaRPr lang="en-US" sz="2000" dirty="0"/>
          </a:p>
        </p:txBody>
      </p:sp>
      <p:sp>
        <p:nvSpPr>
          <p:cNvPr id="14" name="@rise:12|Bullet dot"/>
          <p:cNvSpPr/>
          <p:nvPr/>
        </p:nvSpPr>
        <p:spPr>
          <a:xfrm>
            <a:off x="841248" y="5239512"/>
            <a:ext cx="146304" cy="146304"/>
          </a:xfrm>
          <a:prstGeom prst="ellipse">
            <a:avLst/>
          </a:prstGeom>
          <a:solidFill>
            <a:srgbClr val="FF6B5E"/>
          </a:solidFill>
          <a:ln/>
        </p:spPr>
      </p:sp>
      <p:sp>
        <p:nvSpPr>
          <p:cNvPr id="15" name="@rise:12|Bullet text"/>
          <p:cNvSpPr txBox="1"/>
          <p:nvPr/>
        </p:nvSpPr>
        <p:spPr>
          <a:xfrm>
            <a:off x="1188720" y="5138928"/>
            <a:ext cx="5486400" cy="384048"/>
          </a:xfrm>
          <a:prstGeom prst="rect">
            <a:avLst/>
          </a:prstGeom>
          <a:noFill/>
          <a:ln/>
        </p:spPr>
        <p:txBody>
          <a:bodyPr wrap="square" lIns="0" tIns="0" rIns="0" bIns="0" rtlCol="0" anchor="ctr"/>
          <a:lstStyle/>
          <a:p>
            <a:pPr marL="0" indent="0">
              <a:buNone/>
            </a:pPr>
            <a:r>
              <a:rPr lang="en-US" sz="2000" dirty="0">
                <a:solidFill>
                  <a:schemeClr val="bg1"/>
                </a:solidFill>
              </a:rPr>
              <a:t>Без общего рейтинга людей</a:t>
            </a:r>
            <a:endParaRPr lang="en-US" sz="2000" dirty="0"/>
          </a:p>
        </p:txBody>
      </p:sp>
      <p:pic>
        <p:nvPicPr>
          <p:cNvPr id="16" name="!!phone-C" descr="Экран Mesto: карта событий"/>
          <p:cNvPicPr>
            <a:picLocks noChangeAspect="1"/>
          </p:cNvPicPr>
          <p:nvPr/>
        </p:nvPicPr>
        <p:blipFill>
          <a:blip r:embed="rId4"/>
          <a:stretch>
            <a:fillRect/>
          </a:stretch>
        </p:blipFill>
        <p:spPr>
          <a:xfrm>
            <a:off x="7098061" y="1839542"/>
            <a:ext cx="2123337" cy="3775188"/>
          </a:xfrm>
          <a:prstGeom prst="rect">
            <a:avLst/>
          </a:prstGeom>
        </p:spPr>
      </p:pic>
      <p:sp>
        <p:nvSpPr>
          <p:cNvPr id="17" name="!!dim-C"/>
          <p:cNvSpPr/>
          <p:nvPr/>
        </p:nvSpPr>
        <p:spPr>
          <a:xfrm>
            <a:off x="7302482" y="1892295"/>
            <a:ext cx="1714496" cy="3412506"/>
          </a:xfrm>
          <a:prstGeom prst="roundRect">
            <a:avLst>
              <a:gd name="adj" fmla="val 7500"/>
            </a:avLst>
          </a:prstGeom>
          <a:solidFill>
            <a:srgbClr val="8B1E3F">
              <a:alpha val="55000"/>
            </a:srgbClr>
          </a:solidFill>
          <a:ln/>
        </p:spPr>
      </p:sp>
      <p:pic>
        <p:nvPicPr>
          <p:cNvPr id="18" name="!!phone-R" descr="Экран Mesto: карточка события"/>
          <p:cNvPicPr>
            <a:picLocks noChangeAspect="1"/>
          </p:cNvPicPr>
          <p:nvPr/>
        </p:nvPicPr>
        <p:blipFill>
          <a:blip r:embed="rId5"/>
          <a:stretch>
            <a:fillRect/>
          </a:stretch>
        </p:blipFill>
        <p:spPr>
          <a:xfrm>
            <a:off x="9828554" y="1839542"/>
            <a:ext cx="2123337" cy="3682869"/>
          </a:xfrm>
          <a:prstGeom prst="rect">
            <a:avLst/>
          </a:prstGeom>
        </p:spPr>
      </p:pic>
      <p:sp>
        <p:nvSpPr>
          <p:cNvPr id="19" name="!!dim-R"/>
          <p:cNvSpPr/>
          <p:nvPr/>
        </p:nvSpPr>
        <p:spPr>
          <a:xfrm>
            <a:off x="10032975" y="1892295"/>
            <a:ext cx="1714496" cy="3320187"/>
          </a:xfrm>
          <a:prstGeom prst="roundRect">
            <a:avLst>
              <a:gd name="adj" fmla="val 7500"/>
            </a:avLst>
          </a:prstGeom>
          <a:solidFill>
            <a:srgbClr val="8B1E3F">
              <a:alpha val="55000"/>
            </a:srgbClr>
          </a:solidFill>
          <a:ln/>
        </p:spPr>
      </p:sp>
      <p:pic>
        <p:nvPicPr>
          <p:cNvPr id="20" name="!!phone-L" descr="Экран Mesto: профиль пользователя"/>
          <p:cNvPicPr>
            <a:picLocks noChangeAspect="1"/>
          </p:cNvPicPr>
          <p:nvPr/>
        </p:nvPicPr>
        <p:blipFill>
          <a:blip r:embed="rId6"/>
          <a:stretch>
            <a:fillRect/>
          </a:stretch>
        </p:blipFill>
        <p:spPr>
          <a:xfrm>
            <a:off x="7904949" y="1214899"/>
            <a:ext cx="3240055" cy="5554380"/>
          </a:xfrm>
          <a:prstGeom prst="rect">
            <a:avLst/>
          </a:prstGeom>
        </p:spPr>
      </p:pic>
      <p:sp>
        <p:nvSpPr>
          <p:cNvPr id="21" name="!!dim-L"/>
          <p:cNvSpPr/>
          <p:nvPr/>
        </p:nvSpPr>
        <p:spPr>
          <a:xfrm>
            <a:off x="8216879" y="1295397"/>
            <a:ext cx="2616193" cy="5000954"/>
          </a:xfrm>
          <a:prstGeom prst="roundRect">
            <a:avLst>
              <a:gd name="adj" fmla="val 7500"/>
            </a:avLst>
          </a:prstGeom>
          <a:solidFill>
            <a:srgbClr val="8B1E3F">
              <a:alpha val="0"/>
            </a:srgbClr>
          </a:solidFill>
          <a:ln/>
        </p:spPr>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96"/>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nodeType="withEffect">
                                  <p:stCondLst>
                                    <p:cond delay="108"/>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par>
                                <p:cTn id="11" presetID="10" presetClass="entr" presetSubtype="0" fill="hold" nodeType="withEffect">
                                  <p:stCondLst>
                                    <p:cond delay="12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par>
                                <p:cTn id="14" presetID="10" presetClass="entr" presetSubtype="0" fill="hold" nodeType="withEffect">
                                  <p:stCondLst>
                                    <p:cond delay="12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
                                        <p:tgtEl>
                                          <p:spTgt spid="11"/>
                                        </p:tgtEl>
                                      </p:cBhvr>
                                    </p:animEffect>
                                  </p:childTnLst>
                                </p:cTn>
                              </p:par>
                              <p:par>
                                <p:cTn id="17" presetID="10" presetClass="entr" presetSubtype="0" fill="hold" nodeType="withEffect">
                                  <p:stCondLst>
                                    <p:cond delay="132"/>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
                                        <p:tgtEl>
                                          <p:spTgt spid="12"/>
                                        </p:tgtEl>
                                      </p:cBhvr>
                                    </p:animEffect>
                                  </p:childTnLst>
                                </p:cTn>
                              </p:par>
                              <p:par>
                                <p:cTn id="20" presetID="10" presetClass="entr" presetSubtype="0" fill="hold" nodeType="withEffect">
                                  <p:stCondLst>
                                    <p:cond delay="132"/>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par>
                                <p:cTn id="23" presetID="10" presetClass="entr" presetSubtype="0" fill="hold" nodeType="withEffect">
                                  <p:stCondLst>
                                    <p:cond delay="144"/>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00"/>
                                        <p:tgtEl>
                                          <p:spTgt spid="14"/>
                                        </p:tgtEl>
                                      </p:cBhvr>
                                    </p:animEffect>
                                  </p:childTnLst>
                                </p:cTn>
                              </p:par>
                              <p:par>
                                <p:cTn id="26" presetID="10" presetClass="entr" presetSubtype="0" fill="hold" nodeType="withEffect">
                                  <p:stCondLst>
                                    <p:cond delay="144"/>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card" descr="Бордовая карточка-фон"/>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822960" y="457200"/>
            <a:ext cx="2743200" cy="566928"/>
          </a:xfrm>
          <a:prstGeom prst="rect">
            <a:avLst/>
          </a:prstGeom>
          <a:noFill/>
          <a:ln/>
        </p:spPr>
        <p:txBody>
          <a:bodyPr wrap="square" lIns="0" tIns="0" rIns="0" bIns="0" rtlCol="0" anchor="t"/>
          <a:lstStyle/>
          <a:p>
            <a:pPr marL="0" indent="0">
              <a:buNone/>
            </a:pPr>
            <a:r>
              <a:rPr lang="en-US" sz="3200" b="1" dirty="0">
                <a:solidFill>
                  <a:schemeClr val="bg1"/>
                </a:solidFill>
              </a:rPr>
              <a:t>Mesto</a:t>
            </a:r>
            <a:endParaRPr lang="en-US" sz="3200" dirty="0"/>
          </a:p>
        </p:txBody>
      </p:sp>
      <p:sp>
        <p:nvSpPr>
          <p:cNvPr id="4" name="!!tab1"/>
          <p:cNvSpPr txBox="1"/>
          <p:nvPr/>
        </p:nvSpPr>
        <p:spPr>
          <a:xfrm>
            <a:off x="822960" y="1188720"/>
            <a:ext cx="1143000" cy="365760"/>
          </a:xfrm>
          <a:prstGeom prst="rect">
            <a:avLst/>
          </a:prstGeom>
          <a:noFill/>
          <a:ln/>
        </p:spPr>
        <p:txBody>
          <a:bodyPr wrap="square" lIns="0" tIns="0" rIns="0" bIns="0" rtlCol="0" anchor="ctr"/>
          <a:lstStyle/>
          <a:p>
            <a:pPr marL="0" indent="0">
              <a:buNone/>
            </a:pPr>
            <a:r>
              <a:rPr lang="en-US" sz="2000" b="1" dirty="0">
                <a:solidFill>
                  <a:srgbClr val="E7A9B8"/>
                </a:solidFill>
              </a:rPr>
              <a:t>Компания</a:t>
            </a:r>
            <a:endParaRPr lang="en-US" sz="2000" dirty="0"/>
          </a:p>
        </p:txBody>
      </p:sp>
      <p:sp>
        <p:nvSpPr>
          <p:cNvPr id="5" name="!!tab2"/>
          <p:cNvSpPr txBox="1"/>
          <p:nvPr/>
        </p:nvSpPr>
        <p:spPr>
          <a:xfrm>
            <a:off x="2377440" y="1188720"/>
            <a:ext cx="1463040" cy="365760"/>
          </a:xfrm>
          <a:prstGeom prst="rect">
            <a:avLst/>
          </a:prstGeom>
          <a:noFill/>
          <a:ln/>
        </p:spPr>
        <p:txBody>
          <a:bodyPr wrap="square" lIns="0" tIns="0" rIns="0" bIns="0" rtlCol="0" anchor="ctr"/>
          <a:lstStyle/>
          <a:p>
            <a:pPr marL="0" indent="0">
              <a:buNone/>
            </a:pPr>
            <a:r>
              <a:rPr lang="en-US" sz="2000" b="1" dirty="0">
                <a:solidFill>
                  <a:schemeClr val="bg1"/>
                </a:solidFill>
              </a:rPr>
              <a:t>Тренировки</a:t>
            </a:r>
            <a:endParaRPr lang="en-US" sz="2000" dirty="0"/>
          </a:p>
        </p:txBody>
      </p:sp>
      <p:sp>
        <p:nvSpPr>
          <p:cNvPr id="6" name="!!tab3"/>
          <p:cNvSpPr txBox="1"/>
          <p:nvPr/>
        </p:nvSpPr>
        <p:spPr>
          <a:xfrm>
            <a:off x="4206240" y="1188720"/>
            <a:ext cx="1051560" cy="365760"/>
          </a:xfrm>
          <a:prstGeom prst="rect">
            <a:avLst/>
          </a:prstGeom>
          <a:noFill/>
          <a:ln/>
        </p:spPr>
        <p:txBody>
          <a:bodyPr wrap="square" lIns="0" tIns="0" rIns="0" bIns="0" rtlCol="0" anchor="ctr"/>
          <a:lstStyle/>
          <a:p>
            <a:pPr marL="0" indent="0">
              <a:buNone/>
            </a:pPr>
            <a:r>
              <a:rPr lang="en-US" sz="2000" b="1" dirty="0">
                <a:solidFill>
                  <a:srgbClr val="E7A9B8"/>
                </a:solidFill>
              </a:rPr>
              <a:t>События</a:t>
            </a:r>
            <a:endParaRPr lang="en-US" sz="2000" dirty="0"/>
          </a:p>
        </p:txBody>
      </p:sp>
      <p:sp>
        <p:nvSpPr>
          <p:cNvPr id="7" name="!!underline"/>
          <p:cNvSpPr/>
          <p:nvPr/>
        </p:nvSpPr>
        <p:spPr>
          <a:xfrm>
            <a:off x="2377440" y="1600200"/>
            <a:ext cx="1371600" cy="45720"/>
          </a:xfrm>
          <a:prstGeom prst="rect">
            <a:avLst/>
          </a:prstGeom>
          <a:solidFill>
            <a:srgbClr val="FF6B5E"/>
          </a:solidFill>
          <a:ln/>
        </p:spPr>
      </p:sp>
      <p:sp>
        <p:nvSpPr>
          <p:cNvPr id="8" name="@rise:8|Desc title"/>
          <p:cNvSpPr txBox="1"/>
          <p:nvPr/>
        </p:nvSpPr>
        <p:spPr>
          <a:xfrm>
            <a:off x="822960" y="2103120"/>
            <a:ext cx="5852160" cy="731520"/>
          </a:xfrm>
          <a:prstGeom prst="rect">
            <a:avLst/>
          </a:prstGeom>
          <a:noFill/>
          <a:ln/>
        </p:spPr>
        <p:txBody>
          <a:bodyPr wrap="square" lIns="0" tIns="0" rIns="0" bIns="0" rtlCol="0" anchor="t"/>
          <a:lstStyle/>
          <a:p>
            <a:pPr marL="0" indent="0">
              <a:buNone/>
            </a:pPr>
            <a:r>
              <a:rPr lang="en-US" sz="4200" b="1" dirty="0">
                <a:solidFill>
                  <a:schemeClr val="bg1"/>
                </a:solidFill>
              </a:rPr>
              <a:t>Тренировки</a:t>
            </a:r>
            <a:endParaRPr lang="en-US" sz="4200" dirty="0"/>
          </a:p>
        </p:txBody>
      </p:sp>
      <p:sp>
        <p:nvSpPr>
          <p:cNvPr id="9" name="@rise:9|Desc lead"/>
          <p:cNvSpPr txBox="1"/>
          <p:nvPr/>
        </p:nvSpPr>
        <p:spPr>
          <a:xfrm>
            <a:off x="822960" y="2880360"/>
            <a:ext cx="5852160" cy="822960"/>
          </a:xfrm>
          <a:prstGeom prst="rect">
            <a:avLst/>
          </a:prstGeom>
          <a:noFill/>
          <a:ln/>
        </p:spPr>
        <p:txBody>
          <a:bodyPr wrap="square" lIns="0" tIns="0" rIns="0" bIns="0" rtlCol="0" anchor="t"/>
          <a:lstStyle/>
          <a:p>
            <a:pPr marL="0" indent="0">
              <a:buNone/>
            </a:pPr>
            <a:r>
              <a:rPr lang="en-US" sz="2200" dirty="0">
                <a:solidFill>
                  <a:srgbClr val="E9D3DB"/>
                </a:solidFill>
              </a:rPr>
              <a:t>Подобрать занятие за 4–5 минут.</a:t>
            </a:r>
            <a:endParaRPr lang="en-US" sz="2200" dirty="0"/>
          </a:p>
        </p:txBody>
      </p:sp>
      <p:sp>
        <p:nvSpPr>
          <p:cNvPr id="10" name="@rise:10|Bullet dot"/>
          <p:cNvSpPr/>
          <p:nvPr/>
        </p:nvSpPr>
        <p:spPr>
          <a:xfrm>
            <a:off x="841248" y="4032504"/>
            <a:ext cx="146304" cy="146304"/>
          </a:xfrm>
          <a:prstGeom prst="ellipse">
            <a:avLst/>
          </a:prstGeom>
          <a:solidFill>
            <a:srgbClr val="FF6B5E"/>
          </a:solidFill>
          <a:ln/>
        </p:spPr>
      </p:sp>
      <p:sp>
        <p:nvSpPr>
          <p:cNvPr id="11" name="@rise:10|Bullet text"/>
          <p:cNvSpPr txBox="1"/>
          <p:nvPr/>
        </p:nvSpPr>
        <p:spPr>
          <a:xfrm>
            <a:off x="1188720" y="3931920"/>
            <a:ext cx="5486400" cy="384048"/>
          </a:xfrm>
          <a:prstGeom prst="rect">
            <a:avLst/>
          </a:prstGeom>
          <a:noFill/>
          <a:ln/>
        </p:spPr>
        <p:txBody>
          <a:bodyPr wrap="square" lIns="0" tIns="0" rIns="0" bIns="0" rtlCol="0" anchor="ctr"/>
          <a:lstStyle/>
          <a:p>
            <a:pPr marL="0" indent="0">
              <a:buNone/>
            </a:pPr>
            <a:r>
              <a:rPr lang="en-US" sz="2000" dirty="0">
                <a:solidFill>
                  <a:schemeClr val="bg1"/>
                </a:solidFill>
              </a:rPr>
              <a:t>Возраст, интересы, бюджет, дни и время</a:t>
            </a:r>
            <a:endParaRPr lang="en-US" sz="2000" dirty="0"/>
          </a:p>
        </p:txBody>
      </p:sp>
      <p:sp>
        <p:nvSpPr>
          <p:cNvPr id="12" name="@rise:11|Bullet dot"/>
          <p:cNvSpPr/>
          <p:nvPr/>
        </p:nvSpPr>
        <p:spPr>
          <a:xfrm>
            <a:off x="841248" y="4636008"/>
            <a:ext cx="146304" cy="146304"/>
          </a:xfrm>
          <a:prstGeom prst="ellipse">
            <a:avLst/>
          </a:prstGeom>
          <a:solidFill>
            <a:srgbClr val="FF6B5E"/>
          </a:solidFill>
          <a:ln/>
        </p:spPr>
      </p:sp>
      <p:sp>
        <p:nvSpPr>
          <p:cNvPr id="13" name="@rise:11|Bullet text"/>
          <p:cNvSpPr txBox="1"/>
          <p:nvPr/>
        </p:nvSpPr>
        <p:spPr>
          <a:xfrm>
            <a:off x="1188720" y="4535424"/>
            <a:ext cx="5486400" cy="384048"/>
          </a:xfrm>
          <a:prstGeom prst="rect">
            <a:avLst/>
          </a:prstGeom>
          <a:noFill/>
          <a:ln/>
        </p:spPr>
        <p:txBody>
          <a:bodyPr wrap="square" lIns="0" tIns="0" rIns="0" bIns="0" rtlCol="0" anchor="ctr"/>
          <a:lstStyle/>
          <a:p>
            <a:pPr marL="0" indent="0">
              <a:buNone/>
            </a:pPr>
            <a:r>
              <a:rPr lang="en-US" sz="2000" dirty="0">
                <a:solidFill>
                  <a:schemeClr val="bg1"/>
                </a:solidFill>
              </a:rPr>
              <a:t>Цена, расписание и место на карте</a:t>
            </a:r>
            <a:endParaRPr lang="en-US" sz="2000" dirty="0"/>
          </a:p>
        </p:txBody>
      </p:sp>
      <p:sp>
        <p:nvSpPr>
          <p:cNvPr id="14" name="@rise:12|Bullet dot"/>
          <p:cNvSpPr/>
          <p:nvPr/>
        </p:nvSpPr>
        <p:spPr>
          <a:xfrm>
            <a:off x="841248" y="5239512"/>
            <a:ext cx="146304" cy="146304"/>
          </a:xfrm>
          <a:prstGeom prst="ellipse">
            <a:avLst/>
          </a:prstGeom>
          <a:solidFill>
            <a:srgbClr val="FF6B5E"/>
          </a:solidFill>
          <a:ln/>
        </p:spPr>
      </p:sp>
      <p:sp>
        <p:nvSpPr>
          <p:cNvPr id="15" name="@rise:12|Bullet text"/>
          <p:cNvSpPr txBox="1"/>
          <p:nvPr/>
        </p:nvSpPr>
        <p:spPr>
          <a:xfrm>
            <a:off x="1188720" y="5138928"/>
            <a:ext cx="5486400" cy="384048"/>
          </a:xfrm>
          <a:prstGeom prst="rect">
            <a:avLst/>
          </a:prstGeom>
          <a:noFill/>
          <a:ln/>
        </p:spPr>
        <p:txBody>
          <a:bodyPr wrap="square" lIns="0" tIns="0" rIns="0" bIns="0" rtlCol="0" anchor="ctr"/>
          <a:lstStyle/>
          <a:p>
            <a:pPr marL="0" indent="0">
              <a:buNone/>
            </a:pPr>
            <a:r>
              <a:rPr lang="en-US" sz="2000" dirty="0">
                <a:solidFill>
                  <a:schemeClr val="bg1"/>
                </a:solidFill>
              </a:rPr>
              <a:t>В MVP сейчас события, тренировки — следом</a:t>
            </a:r>
            <a:endParaRPr lang="en-US" sz="2000" dirty="0"/>
          </a:p>
        </p:txBody>
      </p:sp>
      <p:pic>
        <p:nvPicPr>
          <p:cNvPr id="16" name="!!phone-L" descr="Экран Mesto: профиль пользователя"/>
          <p:cNvPicPr>
            <a:picLocks noChangeAspect="1"/>
          </p:cNvPicPr>
          <p:nvPr/>
        </p:nvPicPr>
        <p:blipFill>
          <a:blip r:embed="rId4"/>
          <a:stretch>
            <a:fillRect/>
          </a:stretch>
        </p:blipFill>
        <p:spPr>
          <a:xfrm>
            <a:off x="7098061" y="1839542"/>
            <a:ext cx="2123337" cy="3640006"/>
          </a:xfrm>
          <a:prstGeom prst="rect">
            <a:avLst/>
          </a:prstGeom>
        </p:spPr>
      </p:pic>
      <p:sp>
        <p:nvSpPr>
          <p:cNvPr id="17" name="!!dim-L"/>
          <p:cNvSpPr/>
          <p:nvPr/>
        </p:nvSpPr>
        <p:spPr>
          <a:xfrm>
            <a:off x="7302482" y="1892295"/>
            <a:ext cx="1714496" cy="3277324"/>
          </a:xfrm>
          <a:prstGeom prst="roundRect">
            <a:avLst>
              <a:gd name="adj" fmla="val 7500"/>
            </a:avLst>
          </a:prstGeom>
          <a:solidFill>
            <a:srgbClr val="8B1E3F">
              <a:alpha val="55000"/>
            </a:srgbClr>
          </a:solidFill>
          <a:ln/>
        </p:spPr>
      </p:sp>
      <p:pic>
        <p:nvPicPr>
          <p:cNvPr id="18" name="!!phone-R" descr="Экран Mesto: карточка события"/>
          <p:cNvPicPr>
            <a:picLocks noChangeAspect="1"/>
          </p:cNvPicPr>
          <p:nvPr/>
        </p:nvPicPr>
        <p:blipFill>
          <a:blip r:embed="rId5"/>
          <a:stretch>
            <a:fillRect/>
          </a:stretch>
        </p:blipFill>
        <p:spPr>
          <a:xfrm>
            <a:off x="9828554" y="1839542"/>
            <a:ext cx="2123337" cy="3682869"/>
          </a:xfrm>
          <a:prstGeom prst="rect">
            <a:avLst/>
          </a:prstGeom>
        </p:spPr>
      </p:pic>
      <p:sp>
        <p:nvSpPr>
          <p:cNvPr id="19" name="!!dim-R"/>
          <p:cNvSpPr/>
          <p:nvPr/>
        </p:nvSpPr>
        <p:spPr>
          <a:xfrm>
            <a:off x="10032975" y="1892295"/>
            <a:ext cx="1714496" cy="3320187"/>
          </a:xfrm>
          <a:prstGeom prst="roundRect">
            <a:avLst>
              <a:gd name="adj" fmla="val 7500"/>
            </a:avLst>
          </a:prstGeom>
          <a:solidFill>
            <a:srgbClr val="8B1E3F">
              <a:alpha val="55000"/>
            </a:srgbClr>
          </a:solidFill>
          <a:ln/>
        </p:spPr>
      </p:sp>
      <p:pic>
        <p:nvPicPr>
          <p:cNvPr id="20" name="!!phone-C" descr="Экран Mesto: карта событий"/>
          <p:cNvPicPr>
            <a:picLocks noChangeAspect="1"/>
          </p:cNvPicPr>
          <p:nvPr/>
        </p:nvPicPr>
        <p:blipFill>
          <a:blip r:embed="rId6"/>
          <a:stretch>
            <a:fillRect/>
          </a:stretch>
        </p:blipFill>
        <p:spPr>
          <a:xfrm>
            <a:off x="7904949" y="1214899"/>
            <a:ext cx="3240055" cy="5760657"/>
          </a:xfrm>
          <a:prstGeom prst="rect">
            <a:avLst/>
          </a:prstGeom>
        </p:spPr>
      </p:pic>
      <p:sp>
        <p:nvSpPr>
          <p:cNvPr id="21" name="!!dim-C"/>
          <p:cNvSpPr/>
          <p:nvPr/>
        </p:nvSpPr>
        <p:spPr>
          <a:xfrm>
            <a:off x="8216879" y="1295397"/>
            <a:ext cx="2616193" cy="5207231"/>
          </a:xfrm>
          <a:prstGeom prst="roundRect">
            <a:avLst>
              <a:gd name="adj" fmla="val 7500"/>
            </a:avLst>
          </a:prstGeom>
          <a:solidFill>
            <a:srgbClr val="8B1E3F">
              <a:alpha val="0"/>
            </a:srgbClr>
          </a:solidFill>
          <a:ln/>
        </p:spPr>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96"/>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nodeType="withEffect">
                                  <p:stCondLst>
                                    <p:cond delay="108"/>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par>
                                <p:cTn id="11" presetID="10" presetClass="entr" presetSubtype="0" fill="hold" nodeType="withEffect">
                                  <p:stCondLst>
                                    <p:cond delay="12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par>
                                <p:cTn id="14" presetID="10" presetClass="entr" presetSubtype="0" fill="hold" nodeType="withEffect">
                                  <p:stCondLst>
                                    <p:cond delay="12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
                                        <p:tgtEl>
                                          <p:spTgt spid="11"/>
                                        </p:tgtEl>
                                      </p:cBhvr>
                                    </p:animEffect>
                                  </p:childTnLst>
                                </p:cTn>
                              </p:par>
                              <p:par>
                                <p:cTn id="17" presetID="10" presetClass="entr" presetSubtype="0" fill="hold" nodeType="withEffect">
                                  <p:stCondLst>
                                    <p:cond delay="132"/>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
                                        <p:tgtEl>
                                          <p:spTgt spid="12"/>
                                        </p:tgtEl>
                                      </p:cBhvr>
                                    </p:animEffect>
                                  </p:childTnLst>
                                </p:cTn>
                              </p:par>
                              <p:par>
                                <p:cTn id="20" presetID="10" presetClass="entr" presetSubtype="0" fill="hold" nodeType="withEffect">
                                  <p:stCondLst>
                                    <p:cond delay="132"/>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par>
                                <p:cTn id="23" presetID="10" presetClass="entr" presetSubtype="0" fill="hold" nodeType="withEffect">
                                  <p:stCondLst>
                                    <p:cond delay="144"/>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00"/>
                                        <p:tgtEl>
                                          <p:spTgt spid="14"/>
                                        </p:tgtEl>
                                      </p:cBhvr>
                                    </p:animEffect>
                                  </p:childTnLst>
                                </p:cTn>
                              </p:par>
                              <p:par>
                                <p:cTn id="26" presetID="10" presetClass="entr" presetSubtype="0" fill="hold" nodeType="withEffect">
                                  <p:stCondLst>
                                    <p:cond delay="144"/>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card" descr="Бордовая карточка-фон"/>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822960" y="457200"/>
            <a:ext cx="2743200" cy="566928"/>
          </a:xfrm>
          <a:prstGeom prst="rect">
            <a:avLst/>
          </a:prstGeom>
          <a:noFill/>
          <a:ln/>
        </p:spPr>
        <p:txBody>
          <a:bodyPr wrap="square" lIns="0" tIns="0" rIns="0" bIns="0" rtlCol="0" anchor="t"/>
          <a:lstStyle/>
          <a:p>
            <a:pPr marL="0" indent="0">
              <a:buNone/>
            </a:pPr>
            <a:r>
              <a:rPr lang="en-US" sz="3200" b="1" dirty="0">
                <a:solidFill>
                  <a:schemeClr val="bg1"/>
                </a:solidFill>
              </a:rPr>
              <a:t>Mesto</a:t>
            </a:r>
            <a:endParaRPr lang="en-US" sz="3200" dirty="0"/>
          </a:p>
        </p:txBody>
      </p:sp>
      <p:sp>
        <p:nvSpPr>
          <p:cNvPr id="4" name="!!tab1"/>
          <p:cNvSpPr txBox="1"/>
          <p:nvPr/>
        </p:nvSpPr>
        <p:spPr>
          <a:xfrm>
            <a:off x="822960" y="1188720"/>
            <a:ext cx="1143000" cy="365760"/>
          </a:xfrm>
          <a:prstGeom prst="rect">
            <a:avLst/>
          </a:prstGeom>
          <a:noFill/>
          <a:ln/>
        </p:spPr>
        <p:txBody>
          <a:bodyPr wrap="square" lIns="0" tIns="0" rIns="0" bIns="0" rtlCol="0" anchor="ctr"/>
          <a:lstStyle/>
          <a:p>
            <a:pPr marL="0" indent="0">
              <a:buNone/>
            </a:pPr>
            <a:r>
              <a:rPr lang="en-US" sz="2000" b="1" dirty="0">
                <a:solidFill>
                  <a:srgbClr val="E7A9B8"/>
                </a:solidFill>
              </a:rPr>
              <a:t>Компания</a:t>
            </a:r>
            <a:endParaRPr lang="en-US" sz="2000" dirty="0"/>
          </a:p>
        </p:txBody>
      </p:sp>
      <p:sp>
        <p:nvSpPr>
          <p:cNvPr id="5" name="!!tab2"/>
          <p:cNvSpPr txBox="1"/>
          <p:nvPr/>
        </p:nvSpPr>
        <p:spPr>
          <a:xfrm>
            <a:off x="2377440" y="1188720"/>
            <a:ext cx="1463040" cy="365760"/>
          </a:xfrm>
          <a:prstGeom prst="rect">
            <a:avLst/>
          </a:prstGeom>
          <a:noFill/>
          <a:ln/>
        </p:spPr>
        <p:txBody>
          <a:bodyPr wrap="square" lIns="0" tIns="0" rIns="0" bIns="0" rtlCol="0" anchor="ctr"/>
          <a:lstStyle/>
          <a:p>
            <a:pPr marL="0" indent="0">
              <a:buNone/>
            </a:pPr>
            <a:r>
              <a:rPr lang="en-US" sz="2000" b="1" dirty="0">
                <a:solidFill>
                  <a:srgbClr val="E7A9B8"/>
                </a:solidFill>
              </a:rPr>
              <a:t>Тренировки</a:t>
            </a:r>
            <a:endParaRPr lang="en-US" sz="2000" dirty="0"/>
          </a:p>
        </p:txBody>
      </p:sp>
      <p:sp>
        <p:nvSpPr>
          <p:cNvPr id="6" name="!!tab3"/>
          <p:cNvSpPr txBox="1"/>
          <p:nvPr/>
        </p:nvSpPr>
        <p:spPr>
          <a:xfrm>
            <a:off x="4206240" y="1188720"/>
            <a:ext cx="1051560" cy="365760"/>
          </a:xfrm>
          <a:prstGeom prst="rect">
            <a:avLst/>
          </a:prstGeom>
          <a:noFill/>
          <a:ln/>
        </p:spPr>
        <p:txBody>
          <a:bodyPr wrap="square" lIns="0" tIns="0" rIns="0" bIns="0" rtlCol="0" anchor="ctr"/>
          <a:lstStyle/>
          <a:p>
            <a:pPr marL="0" indent="0">
              <a:buNone/>
            </a:pPr>
            <a:r>
              <a:rPr lang="en-US" sz="2000" b="1" dirty="0">
                <a:solidFill>
                  <a:schemeClr val="bg1"/>
                </a:solidFill>
              </a:rPr>
              <a:t>События</a:t>
            </a:r>
            <a:endParaRPr lang="en-US" sz="2000" dirty="0"/>
          </a:p>
        </p:txBody>
      </p:sp>
      <p:sp>
        <p:nvSpPr>
          <p:cNvPr id="7" name="!!underline"/>
          <p:cNvSpPr/>
          <p:nvPr/>
        </p:nvSpPr>
        <p:spPr>
          <a:xfrm>
            <a:off x="4206240" y="1600200"/>
            <a:ext cx="960120" cy="45720"/>
          </a:xfrm>
          <a:prstGeom prst="rect">
            <a:avLst/>
          </a:prstGeom>
          <a:solidFill>
            <a:srgbClr val="FF6B5E"/>
          </a:solidFill>
          <a:ln/>
        </p:spPr>
      </p:sp>
      <p:sp>
        <p:nvSpPr>
          <p:cNvPr id="8" name="@rise:8|Desc title"/>
          <p:cNvSpPr txBox="1"/>
          <p:nvPr/>
        </p:nvSpPr>
        <p:spPr>
          <a:xfrm>
            <a:off x="822960" y="2103120"/>
            <a:ext cx="5852160" cy="731520"/>
          </a:xfrm>
          <a:prstGeom prst="rect">
            <a:avLst/>
          </a:prstGeom>
          <a:noFill/>
          <a:ln/>
        </p:spPr>
        <p:txBody>
          <a:bodyPr wrap="square" lIns="0" tIns="0" rIns="0" bIns="0" rtlCol="0" anchor="t"/>
          <a:lstStyle/>
          <a:p>
            <a:pPr marL="0" indent="0">
              <a:buNone/>
            </a:pPr>
            <a:r>
              <a:rPr lang="en-US" sz="4200" b="1" dirty="0">
                <a:solidFill>
                  <a:schemeClr val="bg1"/>
                </a:solidFill>
              </a:rPr>
              <a:t>События</a:t>
            </a:r>
            <a:endParaRPr lang="en-US" sz="4200" dirty="0"/>
          </a:p>
        </p:txBody>
      </p:sp>
      <p:sp>
        <p:nvSpPr>
          <p:cNvPr id="9" name="@rise:9|Desc lead"/>
          <p:cNvSpPr txBox="1"/>
          <p:nvPr/>
        </p:nvSpPr>
        <p:spPr>
          <a:xfrm>
            <a:off x="822960" y="2880360"/>
            <a:ext cx="5852160" cy="822960"/>
          </a:xfrm>
          <a:prstGeom prst="rect">
            <a:avLst/>
          </a:prstGeom>
          <a:noFill/>
          <a:ln/>
        </p:spPr>
        <p:txBody>
          <a:bodyPr wrap="square" lIns="0" tIns="0" rIns="0" bIns="0" rtlCol="0" anchor="t"/>
          <a:lstStyle/>
          <a:p>
            <a:pPr marL="0" indent="0">
              <a:buNone/>
            </a:pPr>
            <a:r>
              <a:rPr lang="en-US" sz="2200" dirty="0">
                <a:solidFill>
                  <a:srgbClr val="E9D3DB"/>
                </a:solidFill>
              </a:rPr>
              <a:t>Забеги, турниры и мероприятия рядом.</a:t>
            </a:r>
            <a:endParaRPr lang="en-US" sz="2200" dirty="0"/>
          </a:p>
        </p:txBody>
      </p:sp>
      <p:sp>
        <p:nvSpPr>
          <p:cNvPr id="10" name="@rise:10|Bullet dot"/>
          <p:cNvSpPr/>
          <p:nvPr/>
        </p:nvSpPr>
        <p:spPr>
          <a:xfrm>
            <a:off x="841248" y="4032504"/>
            <a:ext cx="146304" cy="146304"/>
          </a:xfrm>
          <a:prstGeom prst="ellipse">
            <a:avLst/>
          </a:prstGeom>
          <a:solidFill>
            <a:srgbClr val="FF6B5E"/>
          </a:solidFill>
          <a:ln/>
        </p:spPr>
      </p:sp>
      <p:sp>
        <p:nvSpPr>
          <p:cNvPr id="11" name="@rise:10|Bullet text"/>
          <p:cNvSpPr txBox="1"/>
          <p:nvPr/>
        </p:nvSpPr>
        <p:spPr>
          <a:xfrm>
            <a:off x="1188720" y="3931920"/>
            <a:ext cx="5486400" cy="384048"/>
          </a:xfrm>
          <a:prstGeom prst="rect">
            <a:avLst/>
          </a:prstGeom>
          <a:noFill/>
          <a:ln/>
        </p:spPr>
        <p:txBody>
          <a:bodyPr wrap="square" lIns="0" tIns="0" rIns="0" bIns="0" rtlCol="0" anchor="ctr"/>
          <a:lstStyle/>
          <a:p>
            <a:pPr marL="0" indent="0">
              <a:buNone/>
            </a:pPr>
            <a:r>
              <a:rPr lang="en-US" sz="2000" dirty="0">
                <a:solidFill>
                  <a:schemeClr val="bg1"/>
                </a:solidFill>
              </a:rPr>
              <a:t>Дата, место, цена и уровень на одной карточке</a:t>
            </a:r>
            <a:endParaRPr lang="en-US" sz="2000" dirty="0"/>
          </a:p>
        </p:txBody>
      </p:sp>
      <p:sp>
        <p:nvSpPr>
          <p:cNvPr id="12" name="@rise:11|Bullet dot"/>
          <p:cNvSpPr/>
          <p:nvPr/>
        </p:nvSpPr>
        <p:spPr>
          <a:xfrm>
            <a:off x="841248" y="4636008"/>
            <a:ext cx="146304" cy="146304"/>
          </a:xfrm>
          <a:prstGeom prst="ellipse">
            <a:avLst/>
          </a:prstGeom>
          <a:solidFill>
            <a:srgbClr val="FF6B5E"/>
          </a:solidFill>
          <a:ln/>
        </p:spPr>
      </p:sp>
      <p:sp>
        <p:nvSpPr>
          <p:cNvPr id="13" name="@rise:11|Bullet text"/>
          <p:cNvSpPr txBox="1"/>
          <p:nvPr/>
        </p:nvSpPr>
        <p:spPr>
          <a:xfrm>
            <a:off x="1188720" y="4535424"/>
            <a:ext cx="5486400" cy="384048"/>
          </a:xfrm>
          <a:prstGeom prst="rect">
            <a:avLst/>
          </a:prstGeom>
          <a:noFill/>
          <a:ln/>
        </p:spPr>
        <p:txBody>
          <a:bodyPr wrap="square" lIns="0" tIns="0" rIns="0" bIns="0" rtlCol="0" anchor="ctr"/>
          <a:lstStyle/>
          <a:p>
            <a:pPr marL="0" indent="0">
              <a:buNone/>
            </a:pPr>
            <a:r>
              <a:rPr lang="en-US" sz="2000" dirty="0">
                <a:solidFill>
                  <a:schemeClr val="bg1"/>
                </a:solidFill>
              </a:rPr>
              <a:t>Сколько мест осталось — видно сразу</a:t>
            </a:r>
            <a:endParaRPr lang="en-US" sz="2000" dirty="0"/>
          </a:p>
        </p:txBody>
      </p:sp>
      <p:sp>
        <p:nvSpPr>
          <p:cNvPr id="14" name="@rise:12|Bullet dot"/>
          <p:cNvSpPr/>
          <p:nvPr/>
        </p:nvSpPr>
        <p:spPr>
          <a:xfrm>
            <a:off x="841248" y="5239512"/>
            <a:ext cx="146304" cy="146304"/>
          </a:xfrm>
          <a:prstGeom prst="ellipse">
            <a:avLst/>
          </a:prstGeom>
          <a:solidFill>
            <a:srgbClr val="FF6B5E"/>
          </a:solidFill>
          <a:ln/>
        </p:spPr>
      </p:sp>
      <p:sp>
        <p:nvSpPr>
          <p:cNvPr id="15" name="@rise:12|Bullet text"/>
          <p:cNvSpPr txBox="1"/>
          <p:nvPr/>
        </p:nvSpPr>
        <p:spPr>
          <a:xfrm>
            <a:off x="1188720" y="5138928"/>
            <a:ext cx="5486400" cy="384048"/>
          </a:xfrm>
          <a:prstGeom prst="rect">
            <a:avLst/>
          </a:prstGeom>
          <a:noFill/>
          <a:ln/>
        </p:spPr>
        <p:txBody>
          <a:bodyPr wrap="square" lIns="0" tIns="0" rIns="0" bIns="0" rtlCol="0" anchor="ctr"/>
          <a:lstStyle/>
          <a:p>
            <a:pPr marL="0" indent="0">
              <a:buNone/>
            </a:pPr>
            <a:r>
              <a:rPr lang="en-US" sz="2000" dirty="0">
                <a:solidFill>
                  <a:schemeClr val="bg1"/>
                </a:solidFill>
              </a:rPr>
              <a:t>Запись одной кнопкой</a:t>
            </a:r>
            <a:endParaRPr lang="en-US" sz="2000" dirty="0"/>
          </a:p>
        </p:txBody>
      </p:sp>
      <p:pic>
        <p:nvPicPr>
          <p:cNvPr id="16" name="!!phone-L" descr="Экран Mesto: профиль пользователя"/>
          <p:cNvPicPr>
            <a:picLocks noChangeAspect="1"/>
          </p:cNvPicPr>
          <p:nvPr/>
        </p:nvPicPr>
        <p:blipFill>
          <a:blip r:embed="rId4"/>
          <a:stretch>
            <a:fillRect/>
          </a:stretch>
        </p:blipFill>
        <p:spPr>
          <a:xfrm>
            <a:off x="7098061" y="1839542"/>
            <a:ext cx="2123337" cy="3640006"/>
          </a:xfrm>
          <a:prstGeom prst="rect">
            <a:avLst/>
          </a:prstGeom>
        </p:spPr>
      </p:pic>
      <p:sp>
        <p:nvSpPr>
          <p:cNvPr id="17" name="!!dim-L"/>
          <p:cNvSpPr/>
          <p:nvPr/>
        </p:nvSpPr>
        <p:spPr>
          <a:xfrm>
            <a:off x="7302482" y="1892295"/>
            <a:ext cx="1714496" cy="3277324"/>
          </a:xfrm>
          <a:prstGeom prst="roundRect">
            <a:avLst>
              <a:gd name="adj" fmla="val 7500"/>
            </a:avLst>
          </a:prstGeom>
          <a:solidFill>
            <a:srgbClr val="8B1E3F">
              <a:alpha val="55000"/>
            </a:srgbClr>
          </a:solidFill>
          <a:ln/>
        </p:spPr>
      </p:sp>
      <p:pic>
        <p:nvPicPr>
          <p:cNvPr id="18" name="!!phone-C" descr="Экран Mesto: карта событий"/>
          <p:cNvPicPr>
            <a:picLocks noChangeAspect="1"/>
          </p:cNvPicPr>
          <p:nvPr/>
        </p:nvPicPr>
        <p:blipFill>
          <a:blip r:embed="rId5"/>
          <a:stretch>
            <a:fillRect/>
          </a:stretch>
        </p:blipFill>
        <p:spPr>
          <a:xfrm>
            <a:off x="9828554" y="1839542"/>
            <a:ext cx="2123337" cy="3775188"/>
          </a:xfrm>
          <a:prstGeom prst="rect">
            <a:avLst/>
          </a:prstGeom>
        </p:spPr>
      </p:pic>
      <p:sp>
        <p:nvSpPr>
          <p:cNvPr id="19" name="!!dim-C"/>
          <p:cNvSpPr/>
          <p:nvPr/>
        </p:nvSpPr>
        <p:spPr>
          <a:xfrm>
            <a:off x="10032975" y="1892295"/>
            <a:ext cx="1714496" cy="3412506"/>
          </a:xfrm>
          <a:prstGeom prst="roundRect">
            <a:avLst>
              <a:gd name="adj" fmla="val 7500"/>
            </a:avLst>
          </a:prstGeom>
          <a:solidFill>
            <a:srgbClr val="8B1E3F">
              <a:alpha val="55000"/>
            </a:srgbClr>
          </a:solidFill>
          <a:ln/>
        </p:spPr>
      </p:sp>
      <p:pic>
        <p:nvPicPr>
          <p:cNvPr id="20" name="!!phone-R" descr="Экран Mesto: карточка события"/>
          <p:cNvPicPr>
            <a:picLocks noChangeAspect="1"/>
          </p:cNvPicPr>
          <p:nvPr/>
        </p:nvPicPr>
        <p:blipFill>
          <a:blip r:embed="rId6"/>
          <a:stretch>
            <a:fillRect/>
          </a:stretch>
        </p:blipFill>
        <p:spPr>
          <a:xfrm>
            <a:off x="7904949" y="1214899"/>
            <a:ext cx="3240055" cy="5619785"/>
          </a:xfrm>
          <a:prstGeom prst="rect">
            <a:avLst/>
          </a:prstGeom>
        </p:spPr>
      </p:pic>
      <p:sp>
        <p:nvSpPr>
          <p:cNvPr id="21" name="!!dim-R"/>
          <p:cNvSpPr/>
          <p:nvPr/>
        </p:nvSpPr>
        <p:spPr>
          <a:xfrm>
            <a:off x="8216879" y="1295397"/>
            <a:ext cx="2616193" cy="5066359"/>
          </a:xfrm>
          <a:prstGeom prst="roundRect">
            <a:avLst>
              <a:gd name="adj" fmla="val 7500"/>
            </a:avLst>
          </a:prstGeom>
          <a:solidFill>
            <a:srgbClr val="8B1E3F">
              <a:alpha val="0"/>
            </a:srgbClr>
          </a:solidFill>
          <a:ln/>
        </p:spPr>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96"/>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nodeType="withEffect">
                                  <p:stCondLst>
                                    <p:cond delay="108"/>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par>
                                <p:cTn id="11" presetID="10" presetClass="entr" presetSubtype="0" fill="hold" nodeType="withEffect">
                                  <p:stCondLst>
                                    <p:cond delay="12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par>
                                <p:cTn id="14" presetID="10" presetClass="entr" presetSubtype="0" fill="hold" nodeType="withEffect">
                                  <p:stCondLst>
                                    <p:cond delay="12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
                                        <p:tgtEl>
                                          <p:spTgt spid="11"/>
                                        </p:tgtEl>
                                      </p:cBhvr>
                                    </p:animEffect>
                                  </p:childTnLst>
                                </p:cTn>
                              </p:par>
                              <p:par>
                                <p:cTn id="17" presetID="10" presetClass="entr" presetSubtype="0" fill="hold" nodeType="withEffect">
                                  <p:stCondLst>
                                    <p:cond delay="132"/>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
                                        <p:tgtEl>
                                          <p:spTgt spid="12"/>
                                        </p:tgtEl>
                                      </p:cBhvr>
                                    </p:animEffect>
                                  </p:childTnLst>
                                </p:cTn>
                              </p:par>
                              <p:par>
                                <p:cTn id="20" presetID="10" presetClass="entr" presetSubtype="0" fill="hold" nodeType="withEffect">
                                  <p:stCondLst>
                                    <p:cond delay="132"/>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par>
                                <p:cTn id="23" presetID="10" presetClass="entr" presetSubtype="0" fill="hold" nodeType="withEffect">
                                  <p:stCondLst>
                                    <p:cond delay="144"/>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00"/>
                                        <p:tgtEl>
                                          <p:spTgt spid="14"/>
                                        </p:tgtEl>
                                      </p:cBhvr>
                                    </p:animEffect>
                                  </p:childTnLst>
                                </p:cTn>
                              </p:par>
                              <p:par>
                                <p:cTn id="26" presetID="10" presetClass="entr" presetSubtype="0" fill="hold" nodeType="withEffect">
                                  <p:stCondLst>
                                    <p:cond delay="144"/>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fade:0|Pill"/>
          <p:cNvSpPr/>
          <p:nvPr/>
        </p:nvSpPr>
        <p:spPr>
          <a:xfrm>
            <a:off x="548640" y="411480"/>
            <a:ext cx="2569464" cy="329184"/>
          </a:xfrm>
          <a:prstGeom prst="roundRect">
            <a:avLst>
              <a:gd name="adj" fmla="val 50000"/>
            </a:avLst>
          </a:prstGeom>
          <a:solidFill>
            <a:srgbClr val="FFC94A"/>
          </a:solidFill>
          <a:ln/>
        </p:spPr>
      </p:sp>
      <p:sp>
        <p:nvSpPr>
          <p:cNvPr id="3" name="@fade:0|Pill text"/>
          <p:cNvSpPr txBox="1"/>
          <p:nvPr/>
        </p:nvSpPr>
        <p:spPr>
          <a:xfrm>
            <a:off x="548640" y="411480"/>
            <a:ext cx="2569464"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ЧТО МЫ ПЕРЕОСМЫСЛИЛИ</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Позиционирование</a:t>
            </a:r>
            <a:endParaRPr lang="en-US" sz="4000" dirty="0"/>
          </a:p>
        </p:txBody>
      </p:sp>
      <p:sp>
        <p:nvSpPr>
          <p:cNvPr id="5" name="@rise:2|Before card"/>
          <p:cNvSpPr/>
          <p:nvPr/>
        </p:nvSpPr>
        <p:spPr>
          <a:xfrm>
            <a:off x="548640" y="1965960"/>
            <a:ext cx="3383280" cy="4114800"/>
          </a:xfrm>
          <a:prstGeom prst="roundRect">
            <a:avLst>
              <a:gd name="adj" fmla="val 8108"/>
            </a:avLst>
          </a:prstGeom>
          <a:solidFill>
            <a:srgbClr val="E5DEFF"/>
          </a:solidFill>
          <a:ln/>
        </p:spPr>
      </p:sp>
      <p:sp>
        <p:nvSpPr>
          <p:cNvPr id="6" name="@fade:4|Before tag"/>
          <p:cNvSpPr txBox="1"/>
          <p:nvPr/>
        </p:nvSpPr>
        <p:spPr>
          <a:xfrm>
            <a:off x="914400" y="2286000"/>
            <a:ext cx="2743200" cy="274320"/>
          </a:xfrm>
          <a:prstGeom prst="rect">
            <a:avLst/>
          </a:prstGeom>
          <a:noFill/>
          <a:ln/>
        </p:spPr>
        <p:txBody>
          <a:bodyPr wrap="square" lIns="0" tIns="0" rIns="0" bIns="0" rtlCol="0" anchor="t"/>
          <a:lstStyle/>
          <a:p>
            <a:pPr marL="0" indent="0">
              <a:buNone/>
            </a:pPr>
            <a:r>
              <a:rPr lang="en-US" sz="1300" b="1" kern="0" spc="300" dirty="0">
                <a:solidFill>
                  <a:srgbClr val="6B4A5A"/>
                </a:solidFill>
              </a:rPr>
              <a:t>РАНЬШЕ</a:t>
            </a:r>
            <a:endParaRPr lang="en-US" sz="1300" dirty="0"/>
          </a:p>
        </p:txBody>
      </p:sp>
      <p:sp>
        <p:nvSpPr>
          <p:cNvPr id="7" name="@fade:4|Friends icon bg"/>
          <p:cNvSpPr/>
          <p:nvPr/>
        </p:nvSpPr>
        <p:spPr>
          <a:xfrm>
            <a:off x="914400" y="2834640"/>
            <a:ext cx="1097280" cy="1097280"/>
          </a:xfrm>
          <a:prstGeom prst="ellipse">
            <a:avLst/>
          </a:prstGeom>
          <a:solidFill>
            <a:srgbClr val="FFFFFF"/>
          </a:solidFill>
          <a:ln/>
        </p:spPr>
      </p:sp>
      <p:pic>
        <p:nvPicPr>
          <p:cNvPr id="8" name="@fade:4|Friends icon" descr="Friends icon"/>
          <p:cNvPicPr>
            <a:picLocks noChangeAspect="1"/>
          </p:cNvPicPr>
          <p:nvPr/>
        </p:nvPicPr>
        <p:blipFill>
          <a:blip r:embed="rId3"/>
          <a:stretch>
            <a:fillRect/>
          </a:stretch>
        </p:blipFill>
        <p:spPr>
          <a:xfrm>
            <a:off x="1177747" y="3097987"/>
            <a:ext cx="570586" cy="570586"/>
          </a:xfrm>
          <a:prstGeom prst="rect">
            <a:avLst/>
          </a:prstGeom>
        </p:spPr>
      </p:pic>
      <p:sp>
        <p:nvSpPr>
          <p:cNvPr id="9" name="@fade:4|Before title"/>
          <p:cNvSpPr txBox="1"/>
          <p:nvPr/>
        </p:nvSpPr>
        <p:spPr>
          <a:xfrm>
            <a:off x="914400" y="4297680"/>
            <a:ext cx="2743200" cy="457200"/>
          </a:xfrm>
          <a:prstGeom prst="rect">
            <a:avLst/>
          </a:prstGeom>
          <a:noFill/>
          <a:ln/>
        </p:spPr>
        <p:txBody>
          <a:bodyPr wrap="square" lIns="0" tIns="0" rIns="0" bIns="0" rtlCol="0" anchor="t"/>
          <a:lstStyle/>
          <a:p>
            <a:pPr marL="0" indent="0">
              <a:buNone/>
            </a:pPr>
            <a:r>
              <a:rPr lang="en-US" sz="2800" b="1" dirty="0">
                <a:solidFill>
                  <a:schemeClr val="tx1"/>
                </a:solidFill>
              </a:rPr>
              <a:t>Поиск компании</a:t>
            </a:r>
            <a:endParaRPr lang="en-US" sz="2800" dirty="0"/>
          </a:p>
        </p:txBody>
      </p:sp>
      <p:sp>
        <p:nvSpPr>
          <p:cNvPr id="10" name="@fade:4|Before text"/>
          <p:cNvSpPr txBox="1"/>
          <p:nvPr/>
        </p:nvSpPr>
        <p:spPr>
          <a:xfrm>
            <a:off x="914400" y="4846320"/>
            <a:ext cx="2743200" cy="731520"/>
          </a:xfrm>
          <a:prstGeom prst="rect">
            <a:avLst/>
          </a:prstGeom>
          <a:noFill/>
          <a:ln/>
        </p:spPr>
        <p:txBody>
          <a:bodyPr wrap="square" lIns="0" tIns="0" rIns="0" bIns="0" rtlCol="0" anchor="t"/>
          <a:lstStyle/>
          <a:p>
            <a:pPr marL="0" indent="0">
              <a:buNone/>
            </a:pPr>
            <a:r>
              <a:rPr lang="en-US" sz="1700" dirty="0">
                <a:solidFill>
                  <a:srgbClr val="6B4A5A"/>
                </a:solidFill>
              </a:rPr>
              <a:t>Хочется поиграть, но не с кем</a:t>
            </a:r>
            <a:endParaRPr lang="en-US" sz="1700" dirty="0"/>
          </a:p>
        </p:txBody>
      </p:sp>
      <p:sp>
        <p:nvSpPr>
          <p:cNvPr id="11" name="@pop:7|Arrow bg"/>
          <p:cNvSpPr/>
          <p:nvPr/>
        </p:nvSpPr>
        <p:spPr>
          <a:xfrm>
            <a:off x="4000500" y="3634740"/>
            <a:ext cx="777240" cy="777240"/>
          </a:xfrm>
          <a:prstGeom prst="ellipse">
            <a:avLst/>
          </a:prstGeom>
          <a:solidFill>
            <a:srgbClr val="FF6B5E"/>
          </a:solidFill>
          <a:ln/>
        </p:spPr>
      </p:sp>
      <p:pic>
        <p:nvPicPr>
          <p:cNvPr id="12" name="@pop:7|Arrow" descr="Arrow"/>
          <p:cNvPicPr>
            <a:picLocks noChangeAspect="1"/>
          </p:cNvPicPr>
          <p:nvPr/>
        </p:nvPicPr>
        <p:blipFill>
          <a:blip r:embed="rId4"/>
          <a:stretch>
            <a:fillRect/>
          </a:stretch>
        </p:blipFill>
        <p:spPr>
          <a:xfrm>
            <a:off x="4187038" y="3821278"/>
            <a:ext cx="404165" cy="404165"/>
          </a:xfrm>
          <a:prstGeom prst="rect">
            <a:avLst/>
          </a:prstGeom>
        </p:spPr>
      </p:pic>
      <p:sp>
        <p:nvSpPr>
          <p:cNvPr id="13" name="@rise:8|After card"/>
          <p:cNvSpPr/>
          <p:nvPr/>
        </p:nvSpPr>
        <p:spPr>
          <a:xfrm>
            <a:off x="5029200" y="1965960"/>
            <a:ext cx="6611112" cy="4114800"/>
          </a:xfrm>
          <a:prstGeom prst="roundRect">
            <a:avLst>
              <a:gd name="adj" fmla="val 6667"/>
            </a:avLst>
          </a:prstGeom>
          <a:solidFill>
            <a:srgbClr val="8B1E3F"/>
          </a:solidFill>
          <a:ln/>
        </p:spPr>
      </p:sp>
      <p:sp>
        <p:nvSpPr>
          <p:cNvPr id="14" name="@fade:10|After tag"/>
          <p:cNvSpPr txBox="1"/>
          <p:nvPr/>
        </p:nvSpPr>
        <p:spPr>
          <a:xfrm>
            <a:off x="5394960" y="2286000"/>
            <a:ext cx="2743200" cy="274320"/>
          </a:xfrm>
          <a:prstGeom prst="rect">
            <a:avLst/>
          </a:prstGeom>
          <a:noFill/>
          <a:ln/>
        </p:spPr>
        <p:txBody>
          <a:bodyPr wrap="square" lIns="0" tIns="0" rIns="0" bIns="0" rtlCol="0" anchor="t"/>
          <a:lstStyle/>
          <a:p>
            <a:pPr marL="0" indent="0">
              <a:buNone/>
            </a:pPr>
            <a:r>
              <a:rPr lang="en-US" sz="1300" b="1" kern="0" spc="300" dirty="0">
                <a:solidFill>
                  <a:schemeClr val="accent2"/>
                </a:solidFill>
              </a:rPr>
              <a:t>ТЕПЕРЬ</a:t>
            </a:r>
            <a:endParaRPr lang="en-US" sz="1300" dirty="0"/>
          </a:p>
        </p:txBody>
      </p:sp>
      <p:sp>
        <p:nvSpPr>
          <p:cNvPr id="15" name="@fade:10|After title"/>
          <p:cNvSpPr txBox="1"/>
          <p:nvPr/>
        </p:nvSpPr>
        <p:spPr>
          <a:xfrm>
            <a:off x="5394960" y="2606040"/>
            <a:ext cx="5852160" cy="640080"/>
          </a:xfrm>
          <a:prstGeom prst="rect">
            <a:avLst/>
          </a:prstGeom>
          <a:noFill/>
          <a:ln/>
        </p:spPr>
        <p:txBody>
          <a:bodyPr wrap="square" lIns="0" tIns="0" rIns="0" bIns="0" rtlCol="0" anchor="t"/>
          <a:lstStyle/>
          <a:p>
            <a:pPr marL="0" indent="0">
              <a:buNone/>
            </a:pPr>
            <a:r>
              <a:rPr lang="en-US" sz="3600" b="1" dirty="0">
                <a:solidFill>
                  <a:schemeClr val="bg1"/>
                </a:solidFill>
              </a:rPr>
              <a:t>Спортивная платформа</a:t>
            </a:r>
            <a:endParaRPr lang="en-US" sz="3600" dirty="0"/>
          </a:p>
        </p:txBody>
      </p:sp>
      <p:sp>
        <p:nvSpPr>
          <p:cNvPr id="16" name="@fade:10|After text"/>
          <p:cNvSpPr txBox="1"/>
          <p:nvPr/>
        </p:nvSpPr>
        <p:spPr>
          <a:xfrm>
            <a:off x="5394960" y="3291840"/>
            <a:ext cx="5852160" cy="411480"/>
          </a:xfrm>
          <a:prstGeom prst="rect">
            <a:avLst/>
          </a:prstGeom>
          <a:noFill/>
          <a:ln/>
        </p:spPr>
        <p:txBody>
          <a:bodyPr wrap="square" lIns="0" tIns="0" rIns="0" bIns="0" rtlCol="0" anchor="t"/>
          <a:lstStyle/>
          <a:p>
            <a:pPr marL="0" indent="0">
              <a:buNone/>
            </a:pPr>
            <a:r>
              <a:rPr lang="en-US" sz="1900" dirty="0">
                <a:solidFill>
                  <a:srgbClr val="E9D3DB"/>
                </a:solidFill>
              </a:rPr>
              <a:t>Выбрать занятие, найти людей и записаться</a:t>
            </a:r>
            <a:endParaRPr lang="en-US" sz="1900" dirty="0"/>
          </a:p>
        </p:txBody>
      </p:sp>
      <p:sp>
        <p:nvSpPr>
          <p:cNvPr id="17" name="@pop:12|Tile"/>
          <p:cNvSpPr/>
          <p:nvPr/>
        </p:nvSpPr>
        <p:spPr>
          <a:xfrm>
            <a:off x="5394960" y="4023360"/>
            <a:ext cx="1920240" cy="1783080"/>
          </a:xfrm>
          <a:prstGeom prst="roundRect">
            <a:avLst>
              <a:gd name="adj" fmla="val 11282"/>
            </a:avLst>
          </a:prstGeom>
          <a:solidFill>
            <a:srgbClr val="FFEFBF"/>
          </a:solidFill>
          <a:ln/>
        </p:spPr>
      </p:sp>
      <p:sp>
        <p:nvSpPr>
          <p:cNvPr id="18" name="@pop:12|Tile icon bg"/>
          <p:cNvSpPr/>
          <p:nvPr/>
        </p:nvSpPr>
        <p:spPr>
          <a:xfrm>
            <a:off x="5623560" y="4251960"/>
            <a:ext cx="640080" cy="640080"/>
          </a:xfrm>
          <a:prstGeom prst="ellipse">
            <a:avLst/>
          </a:prstGeom>
          <a:solidFill>
            <a:srgbClr val="FFFFFF"/>
          </a:solidFill>
          <a:ln/>
        </p:spPr>
      </p:sp>
      <p:pic>
        <p:nvPicPr>
          <p:cNvPr id="19" name="@pop:12|Tile icon" descr="Tile icon"/>
          <p:cNvPicPr>
            <a:picLocks noChangeAspect="1"/>
          </p:cNvPicPr>
          <p:nvPr/>
        </p:nvPicPr>
        <p:blipFill>
          <a:blip r:embed="rId5"/>
          <a:stretch>
            <a:fillRect/>
          </a:stretch>
        </p:blipFill>
        <p:spPr>
          <a:xfrm>
            <a:off x="5777179" y="4405579"/>
            <a:ext cx="332842" cy="332842"/>
          </a:xfrm>
          <a:prstGeom prst="rect">
            <a:avLst/>
          </a:prstGeom>
        </p:spPr>
      </p:pic>
      <p:sp>
        <p:nvSpPr>
          <p:cNvPr id="20" name="@pop:12|Tile label"/>
          <p:cNvSpPr txBox="1"/>
          <p:nvPr/>
        </p:nvSpPr>
        <p:spPr>
          <a:xfrm>
            <a:off x="5559552" y="4983480"/>
            <a:ext cx="1691640" cy="320040"/>
          </a:xfrm>
          <a:prstGeom prst="rect">
            <a:avLst/>
          </a:prstGeom>
          <a:noFill/>
          <a:ln/>
        </p:spPr>
        <p:txBody>
          <a:bodyPr wrap="square" lIns="0" tIns="0" rIns="0" bIns="0" rtlCol="0" anchor="t"/>
          <a:lstStyle/>
          <a:p>
            <a:pPr marL="0" indent="0">
              <a:buNone/>
            </a:pPr>
            <a:r>
              <a:rPr lang="en-US" sz="1600" b="1" dirty="0">
                <a:solidFill>
                  <a:schemeClr val="tx1"/>
                </a:solidFill>
              </a:rPr>
              <a:t>Выбрать занятие</a:t>
            </a:r>
            <a:endParaRPr lang="en-US" sz="1600" dirty="0"/>
          </a:p>
        </p:txBody>
      </p:sp>
      <p:sp>
        <p:nvSpPr>
          <p:cNvPr id="21" name="@pop:14|Tile"/>
          <p:cNvSpPr/>
          <p:nvPr/>
        </p:nvSpPr>
        <p:spPr>
          <a:xfrm>
            <a:off x="7470648" y="4023360"/>
            <a:ext cx="1920240" cy="1783080"/>
          </a:xfrm>
          <a:prstGeom prst="roundRect">
            <a:avLst>
              <a:gd name="adj" fmla="val 11282"/>
            </a:avLst>
          </a:prstGeom>
          <a:solidFill>
            <a:srgbClr val="D2F3E6"/>
          </a:solidFill>
          <a:ln/>
        </p:spPr>
      </p:sp>
      <p:sp>
        <p:nvSpPr>
          <p:cNvPr id="22" name="@pop:14|Tile icon bg"/>
          <p:cNvSpPr/>
          <p:nvPr/>
        </p:nvSpPr>
        <p:spPr>
          <a:xfrm>
            <a:off x="7699248" y="4251960"/>
            <a:ext cx="640080" cy="640080"/>
          </a:xfrm>
          <a:prstGeom prst="ellipse">
            <a:avLst/>
          </a:prstGeom>
          <a:solidFill>
            <a:srgbClr val="FFFFFF"/>
          </a:solidFill>
          <a:ln/>
        </p:spPr>
      </p:sp>
      <p:pic>
        <p:nvPicPr>
          <p:cNvPr id="23" name="@pop:14|Tile icon" descr="Tile icon"/>
          <p:cNvPicPr>
            <a:picLocks noChangeAspect="1"/>
          </p:cNvPicPr>
          <p:nvPr/>
        </p:nvPicPr>
        <p:blipFill>
          <a:blip r:embed="rId3"/>
          <a:stretch>
            <a:fillRect/>
          </a:stretch>
        </p:blipFill>
        <p:spPr>
          <a:xfrm>
            <a:off x="7852867" y="4405579"/>
            <a:ext cx="332842" cy="332842"/>
          </a:xfrm>
          <a:prstGeom prst="rect">
            <a:avLst/>
          </a:prstGeom>
        </p:spPr>
      </p:pic>
      <p:sp>
        <p:nvSpPr>
          <p:cNvPr id="24" name="@pop:14|Tile label"/>
          <p:cNvSpPr txBox="1"/>
          <p:nvPr/>
        </p:nvSpPr>
        <p:spPr>
          <a:xfrm>
            <a:off x="7635240" y="4983480"/>
            <a:ext cx="1691640" cy="320040"/>
          </a:xfrm>
          <a:prstGeom prst="rect">
            <a:avLst/>
          </a:prstGeom>
          <a:noFill/>
          <a:ln/>
        </p:spPr>
        <p:txBody>
          <a:bodyPr wrap="square" lIns="0" tIns="0" rIns="0" bIns="0" rtlCol="0" anchor="t"/>
          <a:lstStyle/>
          <a:p>
            <a:pPr marL="0" indent="0">
              <a:buNone/>
            </a:pPr>
            <a:r>
              <a:rPr lang="en-US" sz="1600" b="1" dirty="0">
                <a:solidFill>
                  <a:schemeClr val="tx1"/>
                </a:solidFill>
              </a:rPr>
              <a:t>Найти людей</a:t>
            </a:r>
            <a:endParaRPr lang="en-US" sz="1600" dirty="0"/>
          </a:p>
        </p:txBody>
      </p:sp>
      <p:sp>
        <p:nvSpPr>
          <p:cNvPr id="25" name="@pop:14|Tile sub"/>
          <p:cNvSpPr txBox="1"/>
          <p:nvPr/>
        </p:nvSpPr>
        <p:spPr>
          <a:xfrm>
            <a:off x="7635240" y="5303520"/>
            <a:ext cx="1645920" cy="457200"/>
          </a:xfrm>
          <a:prstGeom prst="rect">
            <a:avLst/>
          </a:prstGeom>
          <a:noFill/>
          <a:ln/>
        </p:spPr>
        <p:txBody>
          <a:bodyPr wrap="square" lIns="0" tIns="0" rIns="0" bIns="0" rtlCol="0" anchor="t"/>
          <a:lstStyle/>
          <a:p>
            <a:pPr marL="0" indent="0">
              <a:buNone/>
            </a:pPr>
            <a:r>
              <a:rPr lang="en-US" sz="1200" i="1" dirty="0">
                <a:solidFill>
                  <a:srgbClr val="6B4A5A"/>
                </a:solidFill>
              </a:rPr>
              <a:t>поиск компании — одна из функций</a:t>
            </a:r>
            <a:endParaRPr lang="en-US" sz="1200" dirty="0"/>
          </a:p>
        </p:txBody>
      </p:sp>
      <p:sp>
        <p:nvSpPr>
          <p:cNvPr id="26" name="@pop:16|Tile"/>
          <p:cNvSpPr/>
          <p:nvPr/>
        </p:nvSpPr>
        <p:spPr>
          <a:xfrm>
            <a:off x="9546336" y="4023360"/>
            <a:ext cx="1920240" cy="1783080"/>
          </a:xfrm>
          <a:prstGeom prst="roundRect">
            <a:avLst>
              <a:gd name="adj" fmla="val 11282"/>
            </a:avLst>
          </a:prstGeom>
          <a:solidFill>
            <a:srgbClr val="D8ECFF"/>
          </a:solidFill>
          <a:ln/>
        </p:spPr>
      </p:sp>
      <p:sp>
        <p:nvSpPr>
          <p:cNvPr id="27" name="@pop:16|Tile icon bg"/>
          <p:cNvSpPr/>
          <p:nvPr/>
        </p:nvSpPr>
        <p:spPr>
          <a:xfrm>
            <a:off x="9774936" y="4251960"/>
            <a:ext cx="640080" cy="640080"/>
          </a:xfrm>
          <a:prstGeom prst="ellipse">
            <a:avLst/>
          </a:prstGeom>
          <a:solidFill>
            <a:srgbClr val="FFFFFF"/>
          </a:solidFill>
          <a:ln/>
        </p:spPr>
      </p:sp>
      <p:pic>
        <p:nvPicPr>
          <p:cNvPr id="28" name="@pop:16|Tile icon" descr="Tile icon"/>
          <p:cNvPicPr>
            <a:picLocks noChangeAspect="1"/>
          </p:cNvPicPr>
          <p:nvPr/>
        </p:nvPicPr>
        <p:blipFill>
          <a:blip r:embed="rId6"/>
          <a:stretch>
            <a:fillRect/>
          </a:stretch>
        </p:blipFill>
        <p:spPr>
          <a:xfrm>
            <a:off x="9928555" y="4405579"/>
            <a:ext cx="332842" cy="332842"/>
          </a:xfrm>
          <a:prstGeom prst="rect">
            <a:avLst/>
          </a:prstGeom>
        </p:spPr>
      </p:pic>
      <p:sp>
        <p:nvSpPr>
          <p:cNvPr id="29" name="@pop:16|Tile label"/>
          <p:cNvSpPr txBox="1"/>
          <p:nvPr/>
        </p:nvSpPr>
        <p:spPr>
          <a:xfrm>
            <a:off x="9710928" y="4983480"/>
            <a:ext cx="1691640" cy="320040"/>
          </a:xfrm>
          <a:prstGeom prst="rect">
            <a:avLst/>
          </a:prstGeom>
          <a:noFill/>
          <a:ln/>
        </p:spPr>
        <p:txBody>
          <a:bodyPr wrap="square" lIns="0" tIns="0" rIns="0" bIns="0" rtlCol="0" anchor="t"/>
          <a:lstStyle/>
          <a:p>
            <a:pPr marL="0" indent="0">
              <a:buNone/>
            </a:pPr>
            <a:r>
              <a:rPr lang="en-US" sz="1600" b="1" dirty="0">
                <a:solidFill>
                  <a:schemeClr val="tx1"/>
                </a:solidFill>
              </a:rPr>
              <a:t>Записаться</a:t>
            </a:r>
            <a:endParaRPr lang="en-US" sz="1600" dirty="0"/>
          </a:p>
        </p:txBody>
      </p:sp>
      <p:sp>
        <p:nvSpPr>
          <p:cNvPr id="30"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5</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4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48"/>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4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48"/>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84"/>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84"/>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96"/>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12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12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12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144"/>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nodeType="withEffect">
                                  <p:stCondLst>
                                    <p:cond delay="144"/>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144"/>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144"/>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168"/>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168"/>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168"/>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par>
                                <p:cTn id="68" presetID="10" presetClass="entr" presetSubtype="0" fill="hold" nodeType="withEffect">
                                  <p:stCondLst>
                                    <p:cond delay="168"/>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00"/>
                                        <p:tgtEl>
                                          <p:spTgt spid="24"/>
                                        </p:tgtEl>
                                      </p:cBhvr>
                                    </p:animEffect>
                                  </p:childTnLst>
                                </p:cTn>
                              </p:par>
                              <p:par>
                                <p:cTn id="71" presetID="10" presetClass="entr" presetSubtype="0" fill="hold" nodeType="withEffect">
                                  <p:stCondLst>
                                    <p:cond delay="168"/>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192"/>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192"/>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192"/>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200"/>
                                        <p:tgtEl>
                                          <p:spTgt spid="28"/>
                                        </p:tgtEl>
                                      </p:cBhvr>
                                    </p:animEffect>
                                  </p:childTnLst>
                                </p:cTn>
                              </p:par>
                              <p:par>
                                <p:cTn id="83" presetID="10" presetClass="entr" presetSubtype="0" fill="hold" nodeType="withEffect">
                                  <p:stCondLst>
                                    <p:cond delay="192"/>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2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fade:0|Pill"/>
          <p:cNvSpPr/>
          <p:nvPr/>
        </p:nvSpPr>
        <p:spPr>
          <a:xfrm>
            <a:off x="548640" y="411480"/>
            <a:ext cx="1706270" cy="329184"/>
          </a:xfrm>
          <a:prstGeom prst="roundRect">
            <a:avLst>
              <a:gd name="adj" fmla="val 50000"/>
            </a:avLst>
          </a:prstGeom>
          <a:solidFill>
            <a:srgbClr val="FF6B5E"/>
          </a:solidFill>
          <a:ln/>
        </p:spPr>
      </p:sp>
      <p:sp>
        <p:nvSpPr>
          <p:cNvPr id="3" name="@fade:0|Pill text"/>
          <p:cNvSpPr txBox="1"/>
          <p:nvPr/>
        </p:nvSpPr>
        <p:spPr>
          <a:xfrm>
            <a:off x="548640" y="411480"/>
            <a:ext cx="1706270"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ДВЕ ПРОБЛЕМЫ</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Почему человеку трудно начать</a:t>
            </a:r>
            <a:endParaRPr lang="en-US" sz="4000" dirty="0"/>
          </a:p>
        </p:txBody>
      </p:sp>
      <p:sp>
        <p:nvSpPr>
          <p:cNvPr id="5" name="@rise:2|Card"/>
          <p:cNvSpPr/>
          <p:nvPr/>
        </p:nvSpPr>
        <p:spPr>
          <a:xfrm>
            <a:off x="548640" y="1920240"/>
            <a:ext cx="5422392" cy="3429000"/>
          </a:xfrm>
          <a:prstGeom prst="roundRect">
            <a:avLst>
              <a:gd name="adj" fmla="val 8000"/>
            </a:avLst>
          </a:prstGeom>
          <a:solidFill>
            <a:srgbClr val="FFDCD6"/>
          </a:solidFill>
          <a:ln/>
        </p:spPr>
      </p:sp>
      <p:sp>
        <p:nvSpPr>
          <p:cNvPr id="6" name="@fade:4|Number bg"/>
          <p:cNvSpPr/>
          <p:nvPr/>
        </p:nvSpPr>
        <p:spPr>
          <a:xfrm>
            <a:off x="822960" y="2194560"/>
            <a:ext cx="640080" cy="640080"/>
          </a:xfrm>
          <a:prstGeom prst="ellipse">
            <a:avLst/>
          </a:prstGeom>
          <a:solidFill>
            <a:srgbClr val="8B1E3F"/>
          </a:solidFill>
          <a:ln/>
        </p:spPr>
      </p:sp>
      <p:sp>
        <p:nvSpPr>
          <p:cNvPr id="7" name="@fade:4|Number"/>
          <p:cNvSpPr txBox="1"/>
          <p:nvPr/>
        </p:nvSpPr>
        <p:spPr>
          <a:xfrm>
            <a:off x="822960" y="219456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8" name="@fade:4|Icon bg"/>
          <p:cNvSpPr/>
          <p:nvPr/>
        </p:nvSpPr>
        <p:spPr>
          <a:xfrm>
            <a:off x="4782312" y="2103120"/>
            <a:ext cx="822960" cy="822960"/>
          </a:xfrm>
          <a:prstGeom prst="ellipse">
            <a:avLst/>
          </a:prstGeom>
          <a:solidFill>
            <a:srgbClr val="FFFFFF"/>
          </a:solidFill>
          <a:ln/>
        </p:spPr>
      </p:sp>
      <p:pic>
        <p:nvPicPr>
          <p:cNvPr id="9" name="@fade:4|Icon" descr="Icon"/>
          <p:cNvPicPr>
            <a:picLocks noChangeAspect="1"/>
          </p:cNvPicPr>
          <p:nvPr/>
        </p:nvPicPr>
        <p:blipFill>
          <a:blip r:embed="rId3"/>
          <a:stretch>
            <a:fillRect/>
          </a:stretch>
        </p:blipFill>
        <p:spPr>
          <a:xfrm>
            <a:off x="4979822" y="2300630"/>
            <a:ext cx="427939" cy="427939"/>
          </a:xfrm>
          <a:prstGeom prst="rect">
            <a:avLst/>
          </a:prstGeom>
        </p:spPr>
      </p:pic>
      <p:sp>
        <p:nvSpPr>
          <p:cNvPr id="10" name="@fade:4|Head"/>
          <p:cNvSpPr txBox="1"/>
          <p:nvPr/>
        </p:nvSpPr>
        <p:spPr>
          <a:xfrm>
            <a:off x="868680" y="3017520"/>
            <a:ext cx="4782312" cy="457200"/>
          </a:xfrm>
          <a:prstGeom prst="rect">
            <a:avLst/>
          </a:prstGeom>
          <a:noFill/>
          <a:ln/>
        </p:spPr>
        <p:txBody>
          <a:bodyPr wrap="square" lIns="0" tIns="0" rIns="0" bIns="0" rtlCol="0" anchor="t"/>
          <a:lstStyle/>
          <a:p>
            <a:pPr marL="0" indent="0">
              <a:buNone/>
            </a:pPr>
            <a:r>
              <a:rPr lang="en-US" sz="2600" b="1" dirty="0">
                <a:solidFill>
                  <a:schemeClr val="tx1"/>
                </a:solidFill>
              </a:rPr>
              <a:t>Нет удобной записи</a:t>
            </a:r>
            <a:endParaRPr lang="en-US" sz="2600" dirty="0"/>
          </a:p>
        </p:txBody>
      </p:sp>
      <p:sp>
        <p:nvSpPr>
          <p:cNvPr id="11" name="@fade:4|Body"/>
          <p:cNvSpPr txBox="1"/>
          <p:nvPr/>
        </p:nvSpPr>
        <p:spPr>
          <a:xfrm>
            <a:off x="868680" y="3520440"/>
            <a:ext cx="4782312" cy="1097280"/>
          </a:xfrm>
          <a:prstGeom prst="rect">
            <a:avLst/>
          </a:prstGeom>
          <a:noFill/>
          <a:ln/>
        </p:spPr>
        <p:txBody>
          <a:bodyPr wrap="square" lIns="0" tIns="0" rIns="0" bIns="0" rtlCol="0" anchor="t"/>
          <a:lstStyle/>
          <a:p>
            <a:pPr marL="0" indent="0">
              <a:buNone/>
            </a:pPr>
            <a:r>
              <a:rPr lang="en-US" sz="1500" dirty="0">
                <a:solidFill>
                  <a:schemeClr val="tx1"/>
                </a:solidFill>
              </a:rPr>
              <a:t>Приходится писать тренеру или администратору, ждать ответа и отдельно уточнять цену, расписание и свободные места.</a:t>
            </a:r>
            <a:endParaRPr lang="en-US" sz="1500" dirty="0"/>
          </a:p>
        </p:txBody>
      </p:sp>
      <p:sp>
        <p:nvSpPr>
          <p:cNvPr id="12" name="@pop:8|Chip"/>
          <p:cNvSpPr/>
          <p:nvPr/>
        </p:nvSpPr>
        <p:spPr>
          <a:xfrm>
            <a:off x="868680" y="4754880"/>
            <a:ext cx="1097280" cy="365760"/>
          </a:xfrm>
          <a:prstGeom prst="roundRect">
            <a:avLst>
              <a:gd name="adj" fmla="val 50000"/>
            </a:avLst>
          </a:prstGeom>
          <a:solidFill>
            <a:srgbClr val="FFFFFF"/>
          </a:solidFill>
          <a:ln/>
        </p:spPr>
      </p:sp>
      <p:sp>
        <p:nvSpPr>
          <p:cNvPr id="13" name="@pop:8|Chip text"/>
          <p:cNvSpPr txBox="1"/>
          <p:nvPr/>
        </p:nvSpPr>
        <p:spPr>
          <a:xfrm>
            <a:off x="868680" y="4754880"/>
            <a:ext cx="1097280" cy="365760"/>
          </a:xfrm>
          <a:prstGeom prst="rect">
            <a:avLst/>
          </a:prstGeom>
          <a:noFill/>
          <a:ln/>
        </p:spPr>
        <p:txBody>
          <a:bodyPr wrap="square" lIns="0" tIns="0" rIns="0" bIns="0" rtlCol="0" anchor="ctr"/>
          <a:lstStyle/>
          <a:p>
            <a:pPr marL="0" indent="0" algn="ctr">
              <a:buNone/>
            </a:pPr>
            <a:r>
              <a:rPr lang="en-US" sz="1300" b="1" dirty="0">
                <a:solidFill>
                  <a:srgbClr val="8B1E3F"/>
                </a:solidFill>
              </a:rPr>
              <a:t>Написать</a:t>
            </a:r>
            <a:endParaRPr lang="en-US" sz="1300" dirty="0"/>
          </a:p>
        </p:txBody>
      </p:sp>
      <p:sp>
        <p:nvSpPr>
          <p:cNvPr id="14" name="@pop:9|Chip"/>
          <p:cNvSpPr/>
          <p:nvPr/>
        </p:nvSpPr>
        <p:spPr>
          <a:xfrm>
            <a:off x="2075688" y="4754880"/>
            <a:ext cx="1463040" cy="365760"/>
          </a:xfrm>
          <a:prstGeom prst="roundRect">
            <a:avLst>
              <a:gd name="adj" fmla="val 50000"/>
            </a:avLst>
          </a:prstGeom>
          <a:solidFill>
            <a:srgbClr val="FFFFFF"/>
          </a:solidFill>
          <a:ln/>
        </p:spPr>
      </p:sp>
      <p:sp>
        <p:nvSpPr>
          <p:cNvPr id="15" name="@pop:9|Chip text"/>
          <p:cNvSpPr txBox="1"/>
          <p:nvPr/>
        </p:nvSpPr>
        <p:spPr>
          <a:xfrm>
            <a:off x="2075688" y="4754880"/>
            <a:ext cx="1463040" cy="365760"/>
          </a:xfrm>
          <a:prstGeom prst="rect">
            <a:avLst/>
          </a:prstGeom>
          <a:noFill/>
          <a:ln/>
        </p:spPr>
        <p:txBody>
          <a:bodyPr wrap="square" lIns="0" tIns="0" rIns="0" bIns="0" rtlCol="0" anchor="ctr"/>
          <a:lstStyle/>
          <a:p>
            <a:pPr marL="0" indent="0" algn="ctr">
              <a:buNone/>
            </a:pPr>
            <a:r>
              <a:rPr lang="en-US" sz="1300" b="1" dirty="0">
                <a:solidFill>
                  <a:srgbClr val="8B1E3F"/>
                </a:solidFill>
              </a:rPr>
              <a:t>Ждать ответа</a:t>
            </a:r>
            <a:endParaRPr lang="en-US" sz="1300" dirty="0"/>
          </a:p>
        </p:txBody>
      </p:sp>
      <p:sp>
        <p:nvSpPr>
          <p:cNvPr id="16" name="@pop:10|Chip"/>
          <p:cNvSpPr/>
          <p:nvPr/>
        </p:nvSpPr>
        <p:spPr>
          <a:xfrm>
            <a:off x="3648456" y="4754880"/>
            <a:ext cx="1554480" cy="365760"/>
          </a:xfrm>
          <a:prstGeom prst="roundRect">
            <a:avLst>
              <a:gd name="adj" fmla="val 50000"/>
            </a:avLst>
          </a:prstGeom>
          <a:solidFill>
            <a:srgbClr val="FFFFFF"/>
          </a:solidFill>
          <a:ln/>
        </p:spPr>
      </p:sp>
      <p:sp>
        <p:nvSpPr>
          <p:cNvPr id="17" name="@pop:10|Chip text"/>
          <p:cNvSpPr txBox="1"/>
          <p:nvPr/>
        </p:nvSpPr>
        <p:spPr>
          <a:xfrm>
            <a:off x="3648456" y="4754880"/>
            <a:ext cx="1554480" cy="365760"/>
          </a:xfrm>
          <a:prstGeom prst="rect">
            <a:avLst/>
          </a:prstGeom>
          <a:noFill/>
          <a:ln/>
        </p:spPr>
        <p:txBody>
          <a:bodyPr wrap="square" lIns="0" tIns="0" rIns="0" bIns="0" rtlCol="0" anchor="ctr"/>
          <a:lstStyle/>
          <a:p>
            <a:pPr marL="0" indent="0" algn="ctr">
              <a:buNone/>
            </a:pPr>
            <a:r>
              <a:rPr lang="en-US" sz="1300" b="1" dirty="0">
                <a:solidFill>
                  <a:srgbClr val="8B1E3F"/>
                </a:solidFill>
              </a:rPr>
              <a:t>Уточнять цену</a:t>
            </a:r>
            <a:endParaRPr lang="en-US" sz="1300" dirty="0"/>
          </a:p>
        </p:txBody>
      </p:sp>
      <p:sp>
        <p:nvSpPr>
          <p:cNvPr id="18" name="@rise:6|Card"/>
          <p:cNvSpPr/>
          <p:nvPr/>
        </p:nvSpPr>
        <p:spPr>
          <a:xfrm>
            <a:off x="6217920" y="1920240"/>
            <a:ext cx="5422392" cy="3429000"/>
          </a:xfrm>
          <a:prstGeom prst="roundRect">
            <a:avLst>
              <a:gd name="adj" fmla="val 8000"/>
            </a:avLst>
          </a:prstGeom>
          <a:solidFill>
            <a:srgbClr val="D8ECFF"/>
          </a:solidFill>
          <a:ln/>
        </p:spPr>
      </p:sp>
      <p:sp>
        <p:nvSpPr>
          <p:cNvPr id="19" name="@fade:8|Number bg"/>
          <p:cNvSpPr/>
          <p:nvPr/>
        </p:nvSpPr>
        <p:spPr>
          <a:xfrm>
            <a:off x="6492240" y="2194560"/>
            <a:ext cx="640080" cy="640080"/>
          </a:xfrm>
          <a:prstGeom prst="ellipse">
            <a:avLst/>
          </a:prstGeom>
          <a:solidFill>
            <a:srgbClr val="8B1E3F"/>
          </a:solidFill>
          <a:ln/>
        </p:spPr>
      </p:sp>
      <p:sp>
        <p:nvSpPr>
          <p:cNvPr id="20" name="@fade:8|Number"/>
          <p:cNvSpPr txBox="1"/>
          <p:nvPr/>
        </p:nvSpPr>
        <p:spPr>
          <a:xfrm>
            <a:off x="6492240" y="219456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21" name="@fade:8|Icon bg"/>
          <p:cNvSpPr/>
          <p:nvPr/>
        </p:nvSpPr>
        <p:spPr>
          <a:xfrm>
            <a:off x="10451592" y="2103120"/>
            <a:ext cx="822960" cy="822960"/>
          </a:xfrm>
          <a:prstGeom prst="ellipse">
            <a:avLst/>
          </a:prstGeom>
          <a:solidFill>
            <a:srgbClr val="FFFFFF"/>
          </a:solidFill>
          <a:ln/>
        </p:spPr>
      </p:sp>
      <p:pic>
        <p:nvPicPr>
          <p:cNvPr id="22" name="@fade:8|Icon" descr="Icon"/>
          <p:cNvPicPr>
            <a:picLocks noChangeAspect="1"/>
          </p:cNvPicPr>
          <p:nvPr/>
        </p:nvPicPr>
        <p:blipFill>
          <a:blip r:embed="rId4"/>
          <a:stretch>
            <a:fillRect/>
          </a:stretch>
        </p:blipFill>
        <p:spPr>
          <a:xfrm>
            <a:off x="10649102" y="2300630"/>
            <a:ext cx="427939" cy="427939"/>
          </a:xfrm>
          <a:prstGeom prst="rect">
            <a:avLst/>
          </a:prstGeom>
        </p:spPr>
      </p:pic>
      <p:sp>
        <p:nvSpPr>
          <p:cNvPr id="23" name="@fade:8|Head"/>
          <p:cNvSpPr txBox="1"/>
          <p:nvPr/>
        </p:nvSpPr>
        <p:spPr>
          <a:xfrm>
            <a:off x="6537960" y="3017520"/>
            <a:ext cx="4782312" cy="457200"/>
          </a:xfrm>
          <a:prstGeom prst="rect">
            <a:avLst/>
          </a:prstGeom>
          <a:noFill/>
          <a:ln/>
        </p:spPr>
        <p:txBody>
          <a:bodyPr wrap="square" lIns="0" tIns="0" rIns="0" bIns="0" rtlCol="0" anchor="t"/>
          <a:lstStyle/>
          <a:p>
            <a:pPr marL="0" indent="0">
              <a:buNone/>
            </a:pPr>
            <a:r>
              <a:rPr lang="en-US" sz="2600" b="1" dirty="0">
                <a:solidFill>
                  <a:schemeClr val="tx1"/>
                </a:solidFill>
              </a:rPr>
              <a:t>Разрозненная информация</a:t>
            </a:r>
            <a:endParaRPr lang="en-US" sz="2600" dirty="0"/>
          </a:p>
        </p:txBody>
      </p:sp>
      <p:sp>
        <p:nvSpPr>
          <p:cNvPr id="24" name="@fade:8|Body"/>
          <p:cNvSpPr txBox="1"/>
          <p:nvPr/>
        </p:nvSpPr>
        <p:spPr>
          <a:xfrm>
            <a:off x="6537960" y="3520440"/>
            <a:ext cx="4782312" cy="1097280"/>
          </a:xfrm>
          <a:prstGeom prst="rect">
            <a:avLst/>
          </a:prstGeom>
          <a:noFill/>
          <a:ln/>
        </p:spPr>
        <p:txBody>
          <a:bodyPr wrap="square" lIns="0" tIns="0" rIns="0" bIns="0" rtlCol="0" anchor="t"/>
          <a:lstStyle/>
          <a:p>
            <a:pPr marL="0" indent="0">
              <a:buNone/>
            </a:pPr>
            <a:r>
              <a:rPr lang="en-US" sz="1500" dirty="0">
                <a:solidFill>
                  <a:schemeClr val="tx1"/>
                </a:solidFill>
              </a:rPr>
              <a:t>Занятия и тренеры находятся на разных сайтах, в соцсетях и Telegram. Чтобы сравнить варианты и выбрать спорт, тренера, время и бюджет, человеку приходится искать в разных местах. Выбор затягивается.</a:t>
            </a:r>
            <a:endParaRPr lang="en-US" sz="1500" dirty="0"/>
          </a:p>
        </p:txBody>
      </p:sp>
      <p:sp>
        <p:nvSpPr>
          <p:cNvPr id="25" name="@pop:12|Chip"/>
          <p:cNvSpPr/>
          <p:nvPr/>
        </p:nvSpPr>
        <p:spPr>
          <a:xfrm>
            <a:off x="6537960" y="4754880"/>
            <a:ext cx="822960" cy="365760"/>
          </a:xfrm>
          <a:prstGeom prst="roundRect">
            <a:avLst>
              <a:gd name="adj" fmla="val 50000"/>
            </a:avLst>
          </a:prstGeom>
          <a:solidFill>
            <a:srgbClr val="FFFFFF"/>
          </a:solidFill>
          <a:ln/>
        </p:spPr>
      </p:sp>
      <p:sp>
        <p:nvSpPr>
          <p:cNvPr id="26" name="@pop:12|Chip text"/>
          <p:cNvSpPr txBox="1"/>
          <p:nvPr/>
        </p:nvSpPr>
        <p:spPr>
          <a:xfrm>
            <a:off x="6537960" y="4754880"/>
            <a:ext cx="822960" cy="365760"/>
          </a:xfrm>
          <a:prstGeom prst="rect">
            <a:avLst/>
          </a:prstGeom>
          <a:noFill/>
          <a:ln/>
        </p:spPr>
        <p:txBody>
          <a:bodyPr wrap="square" lIns="0" tIns="0" rIns="0" bIns="0" rtlCol="0" anchor="ctr"/>
          <a:lstStyle/>
          <a:p>
            <a:pPr marL="0" indent="0" algn="ctr">
              <a:buNone/>
            </a:pPr>
            <a:r>
              <a:rPr lang="en-US" sz="1300" b="1" dirty="0">
                <a:solidFill>
                  <a:srgbClr val="8B1E3F"/>
                </a:solidFill>
              </a:rPr>
              <a:t>Сайты</a:t>
            </a:r>
            <a:endParaRPr lang="en-US" sz="1300" dirty="0"/>
          </a:p>
        </p:txBody>
      </p:sp>
      <p:sp>
        <p:nvSpPr>
          <p:cNvPr id="27" name="@pop:13|Chip"/>
          <p:cNvSpPr/>
          <p:nvPr/>
        </p:nvSpPr>
        <p:spPr>
          <a:xfrm>
            <a:off x="7470648" y="4754880"/>
            <a:ext cx="1005840" cy="365760"/>
          </a:xfrm>
          <a:prstGeom prst="roundRect">
            <a:avLst>
              <a:gd name="adj" fmla="val 50000"/>
            </a:avLst>
          </a:prstGeom>
          <a:solidFill>
            <a:srgbClr val="FFFFFF"/>
          </a:solidFill>
          <a:ln/>
        </p:spPr>
      </p:sp>
      <p:sp>
        <p:nvSpPr>
          <p:cNvPr id="28" name="@pop:13|Chip text"/>
          <p:cNvSpPr txBox="1"/>
          <p:nvPr/>
        </p:nvSpPr>
        <p:spPr>
          <a:xfrm>
            <a:off x="7470648" y="4754880"/>
            <a:ext cx="1005840" cy="365760"/>
          </a:xfrm>
          <a:prstGeom prst="rect">
            <a:avLst/>
          </a:prstGeom>
          <a:noFill/>
          <a:ln/>
        </p:spPr>
        <p:txBody>
          <a:bodyPr wrap="square" lIns="0" tIns="0" rIns="0" bIns="0" rtlCol="0" anchor="ctr"/>
          <a:lstStyle/>
          <a:p>
            <a:pPr marL="0" indent="0" algn="ctr">
              <a:buNone/>
            </a:pPr>
            <a:r>
              <a:rPr lang="en-US" sz="1300" b="1" dirty="0">
                <a:solidFill>
                  <a:srgbClr val="8B1E3F"/>
                </a:solidFill>
              </a:rPr>
              <a:t>Соцсети</a:t>
            </a:r>
            <a:endParaRPr lang="en-US" sz="1300" dirty="0"/>
          </a:p>
        </p:txBody>
      </p:sp>
      <p:sp>
        <p:nvSpPr>
          <p:cNvPr id="29" name="@pop:14|Chip"/>
          <p:cNvSpPr/>
          <p:nvPr/>
        </p:nvSpPr>
        <p:spPr>
          <a:xfrm>
            <a:off x="8586216" y="4754880"/>
            <a:ext cx="1097280" cy="365760"/>
          </a:xfrm>
          <a:prstGeom prst="roundRect">
            <a:avLst>
              <a:gd name="adj" fmla="val 50000"/>
            </a:avLst>
          </a:prstGeom>
          <a:solidFill>
            <a:srgbClr val="FFFFFF"/>
          </a:solidFill>
          <a:ln/>
        </p:spPr>
      </p:sp>
      <p:sp>
        <p:nvSpPr>
          <p:cNvPr id="30" name="@pop:14|Chip text"/>
          <p:cNvSpPr txBox="1"/>
          <p:nvPr/>
        </p:nvSpPr>
        <p:spPr>
          <a:xfrm>
            <a:off x="8586216" y="4754880"/>
            <a:ext cx="1097280" cy="365760"/>
          </a:xfrm>
          <a:prstGeom prst="rect">
            <a:avLst/>
          </a:prstGeom>
          <a:noFill/>
          <a:ln/>
        </p:spPr>
        <p:txBody>
          <a:bodyPr wrap="square" lIns="0" tIns="0" rIns="0" bIns="0" rtlCol="0" anchor="ctr"/>
          <a:lstStyle/>
          <a:p>
            <a:pPr marL="0" indent="0" algn="ctr">
              <a:buNone/>
            </a:pPr>
            <a:r>
              <a:rPr lang="en-US" sz="1300" b="1" dirty="0">
                <a:solidFill>
                  <a:srgbClr val="8B1E3F"/>
                </a:solidFill>
              </a:rPr>
              <a:t>Telegram</a:t>
            </a:r>
            <a:endParaRPr lang="en-US" sz="1300" dirty="0"/>
          </a:p>
        </p:txBody>
      </p:sp>
      <p:sp>
        <p:nvSpPr>
          <p:cNvPr id="31" name="@rise:16|Bar"/>
          <p:cNvSpPr/>
          <p:nvPr/>
        </p:nvSpPr>
        <p:spPr>
          <a:xfrm>
            <a:off x="548640" y="5504688"/>
            <a:ext cx="11094415" cy="777240"/>
          </a:xfrm>
          <a:prstGeom prst="roundRect">
            <a:avLst>
              <a:gd name="adj" fmla="val 49412"/>
            </a:avLst>
          </a:prstGeom>
          <a:solidFill>
            <a:srgbClr val="2A0F1E"/>
          </a:solidFill>
          <a:ln/>
        </p:spPr>
      </p:sp>
      <p:sp>
        <p:nvSpPr>
          <p:cNvPr id="32" name="@fade:18|Link bg"/>
          <p:cNvSpPr/>
          <p:nvPr/>
        </p:nvSpPr>
        <p:spPr>
          <a:xfrm>
            <a:off x="832104" y="5628132"/>
            <a:ext cx="530352" cy="530352"/>
          </a:xfrm>
          <a:prstGeom prst="ellipse">
            <a:avLst/>
          </a:prstGeom>
          <a:solidFill>
            <a:srgbClr val="FFC94A"/>
          </a:solidFill>
          <a:ln/>
        </p:spPr>
      </p:sp>
      <p:pic>
        <p:nvPicPr>
          <p:cNvPr id="33" name="@fade:18|Link" descr="Link"/>
          <p:cNvPicPr>
            <a:picLocks noChangeAspect="1"/>
          </p:cNvPicPr>
          <p:nvPr/>
        </p:nvPicPr>
        <p:blipFill>
          <a:blip r:embed="rId5"/>
          <a:stretch>
            <a:fillRect/>
          </a:stretch>
        </p:blipFill>
        <p:spPr>
          <a:xfrm>
            <a:off x="959388" y="5755416"/>
            <a:ext cx="275783" cy="275783"/>
          </a:xfrm>
          <a:prstGeom prst="rect">
            <a:avLst/>
          </a:prstGeom>
        </p:spPr>
      </p:pic>
      <p:sp>
        <p:nvSpPr>
          <p:cNvPr id="34" name="@fade:18|Bar text"/>
          <p:cNvSpPr txBox="1"/>
          <p:nvPr/>
        </p:nvSpPr>
        <p:spPr>
          <a:xfrm>
            <a:off x="1600200" y="5504688"/>
            <a:ext cx="9722815" cy="777240"/>
          </a:xfrm>
          <a:prstGeom prst="rect">
            <a:avLst/>
          </a:prstGeom>
          <a:noFill/>
          <a:ln/>
        </p:spPr>
        <p:txBody>
          <a:bodyPr wrap="square" lIns="0" tIns="0" rIns="0" bIns="0" rtlCol="0" anchor="ctr"/>
          <a:lstStyle/>
          <a:p>
            <a:pPr marL="0" indent="0">
              <a:buNone/>
            </a:pPr>
            <a:r>
              <a:rPr lang="en-US" sz="2100" b="1" dirty="0">
                <a:solidFill>
                  <a:schemeClr val="bg1"/>
                </a:solidFill>
              </a:rPr>
              <a:t>Mesto объединяет предложения и сокращает путь от интереса до записи</a:t>
            </a:r>
            <a:endParaRPr lang="en-US" sz="2100" dirty="0"/>
          </a:p>
        </p:txBody>
      </p:sp>
      <p:sp>
        <p:nvSpPr>
          <p:cNvPr id="35"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6</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4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48"/>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4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48"/>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48"/>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72"/>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200"/>
                                        <p:tgtEl>
                                          <p:spTgt spid="18"/>
                                        </p:tgtEl>
                                      </p:cBhvr>
                                    </p:animEffect>
                                  </p:childTnLst>
                                </p:cTn>
                              </p:par>
                              <p:par>
                                <p:cTn id="35" presetID="10" presetClass="entr" presetSubtype="0" fill="hold" nodeType="withEffect">
                                  <p:stCondLst>
                                    <p:cond delay="96"/>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00"/>
                                        <p:tgtEl>
                                          <p:spTgt spid="12"/>
                                        </p:tgtEl>
                                      </p:cBhvr>
                                    </p:animEffect>
                                  </p:childTnLst>
                                </p:cTn>
                              </p:par>
                              <p:par>
                                <p:cTn id="38" presetID="10" presetClass="entr" presetSubtype="0" fill="hold" nodeType="withEffect">
                                  <p:stCondLst>
                                    <p:cond delay="96"/>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200"/>
                                        <p:tgtEl>
                                          <p:spTgt spid="13"/>
                                        </p:tgtEl>
                                      </p:cBhvr>
                                    </p:animEffect>
                                  </p:childTnLst>
                                </p:cTn>
                              </p:par>
                              <p:par>
                                <p:cTn id="41" presetID="10" presetClass="entr" presetSubtype="0" fill="hold" nodeType="withEffect">
                                  <p:stCondLst>
                                    <p:cond delay="96"/>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200"/>
                                        <p:tgtEl>
                                          <p:spTgt spid="19"/>
                                        </p:tgtEl>
                                      </p:cBhvr>
                                    </p:animEffect>
                                  </p:childTnLst>
                                </p:cTn>
                              </p:par>
                              <p:par>
                                <p:cTn id="44" presetID="10" presetClass="entr" presetSubtype="0" fill="hold" nodeType="withEffect">
                                  <p:stCondLst>
                                    <p:cond delay="96"/>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200"/>
                                        <p:tgtEl>
                                          <p:spTgt spid="20"/>
                                        </p:tgtEl>
                                      </p:cBhvr>
                                    </p:animEffect>
                                  </p:childTnLst>
                                </p:cTn>
                              </p:par>
                              <p:par>
                                <p:cTn id="47" presetID="10" presetClass="entr" presetSubtype="0" fill="hold" nodeType="withEffect">
                                  <p:stCondLst>
                                    <p:cond delay="96"/>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200"/>
                                        <p:tgtEl>
                                          <p:spTgt spid="21"/>
                                        </p:tgtEl>
                                      </p:cBhvr>
                                    </p:animEffect>
                                  </p:childTnLst>
                                </p:cTn>
                              </p:par>
                              <p:par>
                                <p:cTn id="50" presetID="10" presetClass="entr" presetSubtype="0" fill="hold" nodeType="withEffect">
                                  <p:stCondLst>
                                    <p:cond delay="96"/>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200"/>
                                        <p:tgtEl>
                                          <p:spTgt spid="22"/>
                                        </p:tgtEl>
                                      </p:cBhvr>
                                    </p:animEffect>
                                  </p:childTnLst>
                                </p:cTn>
                              </p:par>
                              <p:par>
                                <p:cTn id="53" presetID="10" presetClass="entr" presetSubtype="0" fill="hold" nodeType="withEffect">
                                  <p:stCondLst>
                                    <p:cond delay="96"/>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200"/>
                                        <p:tgtEl>
                                          <p:spTgt spid="23"/>
                                        </p:tgtEl>
                                      </p:cBhvr>
                                    </p:animEffect>
                                  </p:childTnLst>
                                </p:cTn>
                              </p:par>
                              <p:par>
                                <p:cTn id="56" presetID="10" presetClass="entr" presetSubtype="0" fill="hold" nodeType="withEffect">
                                  <p:stCondLst>
                                    <p:cond delay="96"/>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200"/>
                                        <p:tgtEl>
                                          <p:spTgt spid="24"/>
                                        </p:tgtEl>
                                      </p:cBhvr>
                                    </p:animEffect>
                                  </p:childTnLst>
                                </p:cTn>
                              </p:par>
                              <p:par>
                                <p:cTn id="59" presetID="10" presetClass="entr" presetSubtype="0" fill="hold" nodeType="withEffect">
                                  <p:stCondLst>
                                    <p:cond delay="108"/>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200"/>
                                        <p:tgtEl>
                                          <p:spTgt spid="14"/>
                                        </p:tgtEl>
                                      </p:cBhvr>
                                    </p:animEffect>
                                  </p:childTnLst>
                                </p:cTn>
                              </p:par>
                              <p:par>
                                <p:cTn id="62" presetID="10" presetClass="entr" presetSubtype="0" fill="hold" nodeType="withEffect">
                                  <p:stCondLst>
                                    <p:cond delay="108"/>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200"/>
                                        <p:tgtEl>
                                          <p:spTgt spid="15"/>
                                        </p:tgtEl>
                                      </p:cBhvr>
                                    </p:animEffect>
                                  </p:childTnLst>
                                </p:cTn>
                              </p:par>
                              <p:par>
                                <p:cTn id="65" presetID="10" presetClass="entr" presetSubtype="0" fill="hold" nodeType="withEffect">
                                  <p:stCondLst>
                                    <p:cond delay="12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200"/>
                                        <p:tgtEl>
                                          <p:spTgt spid="16"/>
                                        </p:tgtEl>
                                      </p:cBhvr>
                                    </p:animEffect>
                                  </p:childTnLst>
                                </p:cTn>
                              </p:par>
                              <p:par>
                                <p:cTn id="68" presetID="10" presetClass="entr" presetSubtype="0" fill="hold" nodeType="withEffect">
                                  <p:stCondLst>
                                    <p:cond delay="12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200"/>
                                        <p:tgtEl>
                                          <p:spTgt spid="17"/>
                                        </p:tgtEl>
                                      </p:cBhvr>
                                    </p:animEffect>
                                  </p:childTnLst>
                                </p:cTn>
                              </p:par>
                              <p:par>
                                <p:cTn id="71" presetID="10" presetClass="entr" presetSubtype="0" fill="hold" nodeType="withEffect">
                                  <p:stCondLst>
                                    <p:cond delay="144"/>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144"/>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156"/>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156"/>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200"/>
                                        <p:tgtEl>
                                          <p:spTgt spid="28"/>
                                        </p:tgtEl>
                                      </p:cBhvr>
                                    </p:animEffect>
                                  </p:childTnLst>
                                </p:cTn>
                              </p:par>
                              <p:par>
                                <p:cTn id="83" presetID="10" presetClass="entr" presetSubtype="0" fill="hold" nodeType="withEffect">
                                  <p:stCondLst>
                                    <p:cond delay="168"/>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200"/>
                                        <p:tgtEl>
                                          <p:spTgt spid="29"/>
                                        </p:tgtEl>
                                      </p:cBhvr>
                                    </p:animEffect>
                                  </p:childTnLst>
                                </p:cTn>
                              </p:par>
                              <p:par>
                                <p:cTn id="86" presetID="10" presetClass="entr" presetSubtype="0" fill="hold" nodeType="withEffect">
                                  <p:stCondLst>
                                    <p:cond delay="168"/>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200"/>
                                        <p:tgtEl>
                                          <p:spTgt spid="30"/>
                                        </p:tgtEl>
                                      </p:cBhvr>
                                    </p:animEffect>
                                  </p:childTnLst>
                                </p:cTn>
                              </p:par>
                              <p:par>
                                <p:cTn id="89" presetID="10" presetClass="entr" presetSubtype="0" fill="hold" nodeType="withEffect">
                                  <p:stCondLst>
                                    <p:cond delay="192"/>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200"/>
                                        <p:tgtEl>
                                          <p:spTgt spid="31"/>
                                        </p:tgtEl>
                                      </p:cBhvr>
                                    </p:animEffect>
                                  </p:childTnLst>
                                </p:cTn>
                              </p:par>
                              <p:par>
                                <p:cTn id="92" presetID="10" presetClass="entr" presetSubtype="0" fill="hold" nodeType="withEffect">
                                  <p:stCondLst>
                                    <p:cond delay="216"/>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200"/>
                                        <p:tgtEl>
                                          <p:spTgt spid="32"/>
                                        </p:tgtEl>
                                      </p:cBhvr>
                                    </p:animEffect>
                                  </p:childTnLst>
                                </p:cTn>
                              </p:par>
                              <p:par>
                                <p:cTn id="95" presetID="10" presetClass="entr" presetSubtype="0" fill="hold" nodeType="withEffect">
                                  <p:stCondLst>
                                    <p:cond delay="216"/>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200"/>
                                        <p:tgtEl>
                                          <p:spTgt spid="33"/>
                                        </p:tgtEl>
                                      </p:cBhvr>
                                    </p:animEffect>
                                  </p:childTnLst>
                                </p:cTn>
                              </p:par>
                              <p:par>
                                <p:cTn id="98" presetID="10" presetClass="entr" presetSubtype="0" fill="hold" nodeType="withEffect">
                                  <p:stCondLst>
                                    <p:cond delay="216"/>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2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fade:0|Pill"/>
          <p:cNvSpPr/>
          <p:nvPr/>
        </p:nvSpPr>
        <p:spPr>
          <a:xfrm>
            <a:off x="548640" y="411480"/>
            <a:ext cx="2785262" cy="329184"/>
          </a:xfrm>
          <a:prstGeom prst="roundRect">
            <a:avLst>
              <a:gd name="adj" fmla="val 50000"/>
            </a:avLst>
          </a:prstGeom>
          <a:solidFill>
            <a:srgbClr val="6FD3B0"/>
          </a:solidFill>
          <a:ln/>
        </p:spPr>
      </p:sp>
      <p:sp>
        <p:nvSpPr>
          <p:cNvPr id="3" name="@fade:0|Pill text"/>
          <p:cNvSpPr txBox="1"/>
          <p:nvPr/>
        </p:nvSpPr>
        <p:spPr>
          <a:xfrm>
            <a:off x="548640" y="411480"/>
            <a:ext cx="2785262"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ПЕРВИЧНОЕ ИССЛЕДОВАНИЕ</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Анализ аудитории</a:t>
            </a:r>
            <a:endParaRPr lang="en-US" sz="4000" dirty="0"/>
          </a:p>
        </p:txBody>
      </p:sp>
      <p:sp>
        <p:nvSpPr>
          <p:cNvPr id="5" name="@fade:2|Subtitle"/>
          <p:cNvSpPr txBox="1"/>
          <p:nvPr/>
        </p:nvSpPr>
        <p:spPr>
          <a:xfrm>
            <a:off x="548640" y="1609344"/>
            <a:ext cx="8229600" cy="292608"/>
          </a:xfrm>
          <a:prstGeom prst="rect">
            <a:avLst/>
          </a:prstGeom>
          <a:noFill/>
          <a:ln/>
        </p:spPr>
        <p:txBody>
          <a:bodyPr wrap="square" lIns="0" tIns="0" rIns="0" bIns="0" rtlCol="0" anchor="t"/>
          <a:lstStyle/>
          <a:p>
            <a:pPr marL="0" indent="0">
              <a:buNone/>
            </a:pPr>
            <a:r>
              <a:rPr lang="en-US" sz="1500" dirty="0">
                <a:solidFill>
                  <a:srgbClr val="6B4A5A"/>
                </a:solidFill>
              </a:rPr>
              <a:t>Анализ 20 человек · предварительная проверка гипотезы</a:t>
            </a:r>
            <a:endParaRPr lang="en-US" sz="1500" dirty="0"/>
          </a:p>
        </p:txBody>
      </p:sp>
      <p:sp>
        <p:nvSpPr>
          <p:cNvPr id="6" name="@rise:4|Stat card"/>
          <p:cNvSpPr/>
          <p:nvPr/>
        </p:nvSpPr>
        <p:spPr>
          <a:xfrm>
            <a:off x="548640" y="2057400"/>
            <a:ext cx="2075688" cy="2423160"/>
          </a:xfrm>
          <a:prstGeom prst="roundRect">
            <a:avLst>
              <a:gd name="adj" fmla="val 12335"/>
            </a:avLst>
          </a:prstGeom>
          <a:solidFill>
            <a:srgbClr val="FFDCD6"/>
          </a:solidFill>
          <a:ln/>
        </p:spPr>
      </p:sp>
      <p:sp>
        <p:nvSpPr>
          <p:cNvPr id="7" name="@fade:6|Number"/>
          <p:cNvSpPr txBox="1"/>
          <p:nvPr/>
        </p:nvSpPr>
        <p:spPr>
          <a:xfrm>
            <a:off x="777240" y="2240280"/>
            <a:ext cx="1618488" cy="685800"/>
          </a:xfrm>
          <a:prstGeom prst="rect">
            <a:avLst/>
          </a:prstGeom>
          <a:noFill/>
          <a:ln/>
        </p:spPr>
        <p:txBody>
          <a:bodyPr wrap="square" lIns="0" tIns="0" rIns="0" bIns="0" rtlCol="0" anchor="ctr"/>
          <a:lstStyle/>
          <a:p>
            <a:pPr marL="0" indent="0">
              <a:buNone/>
            </a:pPr>
            <a:r>
              <a:rPr lang="en-US" sz="4200" b="1" dirty="0">
                <a:solidFill>
                  <a:schemeClr val="tx2"/>
                </a:solidFill>
              </a:rPr>
              <a:t>17/20</a:t>
            </a:r>
            <a:endParaRPr lang="en-US" sz="4200" dirty="0"/>
          </a:p>
        </p:txBody>
      </p:sp>
      <p:sp>
        <p:nvSpPr>
          <p:cNvPr id="8" name="@fade:6|Percent"/>
          <p:cNvSpPr txBox="1"/>
          <p:nvPr/>
        </p:nvSpPr>
        <p:spPr>
          <a:xfrm>
            <a:off x="777240" y="2926080"/>
            <a:ext cx="1097280" cy="274320"/>
          </a:xfrm>
          <a:prstGeom prst="rect">
            <a:avLst/>
          </a:prstGeom>
          <a:noFill/>
          <a:ln/>
        </p:spPr>
        <p:txBody>
          <a:bodyPr wrap="square" lIns="0" tIns="0" rIns="0" bIns="0" rtlCol="0" anchor="t"/>
          <a:lstStyle/>
          <a:p>
            <a:pPr marL="0" indent="0">
              <a:buNone/>
            </a:pPr>
            <a:r>
              <a:rPr lang="en-US" sz="1500" b="1" dirty="0">
                <a:solidFill>
                  <a:schemeClr val="tx1"/>
                </a:solidFill>
              </a:rPr>
              <a:t>85%</a:t>
            </a:r>
            <a:endParaRPr lang="en-US" sz="1500" dirty="0"/>
          </a:p>
        </p:txBody>
      </p:sp>
      <p:sp>
        <p:nvSpPr>
          <p:cNvPr id="9" name="@fade:6|Bar track"/>
          <p:cNvSpPr/>
          <p:nvPr/>
        </p:nvSpPr>
        <p:spPr>
          <a:xfrm>
            <a:off x="777240" y="3273552"/>
            <a:ext cx="1618488" cy="128016"/>
          </a:xfrm>
          <a:prstGeom prst="roundRect">
            <a:avLst>
              <a:gd name="adj" fmla="val 50000"/>
            </a:avLst>
          </a:prstGeom>
          <a:solidFill>
            <a:srgbClr val="FFFFFF"/>
          </a:solidFill>
          <a:ln/>
        </p:spPr>
      </p:sp>
      <p:sp>
        <p:nvSpPr>
          <p:cNvPr id="10" name="@wipe:8|Bar fill"/>
          <p:cNvSpPr/>
          <p:nvPr/>
        </p:nvSpPr>
        <p:spPr>
          <a:xfrm>
            <a:off x="777240" y="3273552"/>
            <a:ext cx="1375715" cy="128016"/>
          </a:xfrm>
          <a:prstGeom prst="roundRect">
            <a:avLst>
              <a:gd name="adj" fmla="val 50000"/>
            </a:avLst>
          </a:prstGeom>
          <a:solidFill>
            <a:srgbClr val="8B1E3F"/>
          </a:solidFill>
          <a:ln/>
        </p:spPr>
      </p:sp>
      <p:sp>
        <p:nvSpPr>
          <p:cNvPr id="11" name="@fade:6|Label"/>
          <p:cNvSpPr txBox="1"/>
          <p:nvPr/>
        </p:nvSpPr>
        <p:spPr>
          <a:xfrm>
            <a:off x="777240" y="3547872"/>
            <a:ext cx="1664208" cy="822960"/>
          </a:xfrm>
          <a:prstGeom prst="rect">
            <a:avLst/>
          </a:prstGeom>
          <a:noFill/>
          <a:ln/>
        </p:spPr>
        <p:txBody>
          <a:bodyPr wrap="square" lIns="0" tIns="0" rIns="0" bIns="0" rtlCol="0" anchor="t"/>
          <a:lstStyle/>
          <a:p>
            <a:pPr marL="0" indent="0">
              <a:buNone/>
            </a:pPr>
            <a:r>
              <a:rPr lang="en-US" sz="1400" dirty="0">
                <a:solidFill>
                  <a:schemeClr val="tx1"/>
                </a:solidFill>
              </a:rPr>
              <a:t>занимаются с тренерами</a:t>
            </a:r>
            <a:endParaRPr lang="en-US" sz="1400" dirty="0"/>
          </a:p>
        </p:txBody>
      </p:sp>
      <p:sp>
        <p:nvSpPr>
          <p:cNvPr id="12" name="@rise:6|Stat card"/>
          <p:cNvSpPr/>
          <p:nvPr/>
        </p:nvSpPr>
        <p:spPr>
          <a:xfrm>
            <a:off x="2796510" y="2057400"/>
            <a:ext cx="2075688" cy="2423160"/>
          </a:xfrm>
          <a:prstGeom prst="roundRect">
            <a:avLst>
              <a:gd name="adj" fmla="val 12335"/>
            </a:avLst>
          </a:prstGeom>
          <a:solidFill>
            <a:srgbClr val="FFEFBF"/>
          </a:solidFill>
          <a:ln/>
        </p:spPr>
      </p:sp>
      <p:sp>
        <p:nvSpPr>
          <p:cNvPr id="13" name="@fade:8|Number"/>
          <p:cNvSpPr txBox="1"/>
          <p:nvPr/>
        </p:nvSpPr>
        <p:spPr>
          <a:xfrm>
            <a:off x="3025110" y="2240280"/>
            <a:ext cx="1618488" cy="685800"/>
          </a:xfrm>
          <a:prstGeom prst="rect">
            <a:avLst/>
          </a:prstGeom>
          <a:noFill/>
          <a:ln/>
        </p:spPr>
        <p:txBody>
          <a:bodyPr wrap="square" lIns="0" tIns="0" rIns="0" bIns="0" rtlCol="0" anchor="ctr"/>
          <a:lstStyle/>
          <a:p>
            <a:pPr marL="0" indent="0">
              <a:buNone/>
            </a:pPr>
            <a:r>
              <a:rPr lang="en-US" sz="4200" b="1" dirty="0">
                <a:solidFill>
                  <a:schemeClr val="tx2"/>
                </a:solidFill>
              </a:rPr>
              <a:t>8/20</a:t>
            </a:r>
            <a:endParaRPr lang="en-US" sz="4200" dirty="0"/>
          </a:p>
        </p:txBody>
      </p:sp>
      <p:sp>
        <p:nvSpPr>
          <p:cNvPr id="14" name="@fade:8|Percent"/>
          <p:cNvSpPr txBox="1"/>
          <p:nvPr/>
        </p:nvSpPr>
        <p:spPr>
          <a:xfrm>
            <a:off x="3025110" y="2926080"/>
            <a:ext cx="1097280" cy="274320"/>
          </a:xfrm>
          <a:prstGeom prst="rect">
            <a:avLst/>
          </a:prstGeom>
          <a:noFill/>
          <a:ln/>
        </p:spPr>
        <p:txBody>
          <a:bodyPr wrap="square" lIns="0" tIns="0" rIns="0" bIns="0" rtlCol="0" anchor="t"/>
          <a:lstStyle/>
          <a:p>
            <a:pPr marL="0" indent="0">
              <a:buNone/>
            </a:pPr>
            <a:r>
              <a:rPr lang="en-US" sz="1500" b="1" dirty="0">
                <a:solidFill>
                  <a:schemeClr val="tx1"/>
                </a:solidFill>
              </a:rPr>
              <a:t>40%</a:t>
            </a:r>
            <a:endParaRPr lang="en-US" sz="1500" dirty="0"/>
          </a:p>
        </p:txBody>
      </p:sp>
      <p:sp>
        <p:nvSpPr>
          <p:cNvPr id="15" name="@fade:8|Bar track"/>
          <p:cNvSpPr/>
          <p:nvPr/>
        </p:nvSpPr>
        <p:spPr>
          <a:xfrm>
            <a:off x="3025110" y="3273552"/>
            <a:ext cx="1618488" cy="128016"/>
          </a:xfrm>
          <a:prstGeom prst="roundRect">
            <a:avLst>
              <a:gd name="adj" fmla="val 50000"/>
            </a:avLst>
          </a:prstGeom>
          <a:solidFill>
            <a:srgbClr val="FFFFFF"/>
          </a:solidFill>
          <a:ln/>
        </p:spPr>
      </p:sp>
      <p:sp>
        <p:nvSpPr>
          <p:cNvPr id="16" name="@wipe:10|Bar fill"/>
          <p:cNvSpPr/>
          <p:nvPr/>
        </p:nvSpPr>
        <p:spPr>
          <a:xfrm>
            <a:off x="3025110" y="3273552"/>
            <a:ext cx="647395" cy="128016"/>
          </a:xfrm>
          <a:prstGeom prst="roundRect">
            <a:avLst>
              <a:gd name="adj" fmla="val 50000"/>
            </a:avLst>
          </a:prstGeom>
          <a:solidFill>
            <a:srgbClr val="8B1E3F"/>
          </a:solidFill>
          <a:ln/>
        </p:spPr>
      </p:sp>
      <p:sp>
        <p:nvSpPr>
          <p:cNvPr id="17" name="@fade:8|Label"/>
          <p:cNvSpPr txBox="1"/>
          <p:nvPr/>
        </p:nvSpPr>
        <p:spPr>
          <a:xfrm>
            <a:off x="3025110" y="3547872"/>
            <a:ext cx="1664208" cy="822960"/>
          </a:xfrm>
          <a:prstGeom prst="rect">
            <a:avLst/>
          </a:prstGeom>
          <a:noFill/>
          <a:ln/>
        </p:spPr>
        <p:txBody>
          <a:bodyPr wrap="square" lIns="0" tIns="0" rIns="0" bIns="0" rtlCol="0" anchor="t"/>
          <a:lstStyle/>
          <a:p>
            <a:pPr marL="0" indent="0">
              <a:buNone/>
            </a:pPr>
            <a:r>
              <a:rPr lang="en-US" sz="1400" dirty="0">
                <a:solidFill>
                  <a:schemeClr val="tx1"/>
                </a:solidFill>
              </a:rPr>
              <a:t>пользуются Telegram-чатами</a:t>
            </a:r>
            <a:endParaRPr lang="en-US" sz="1400" dirty="0"/>
          </a:p>
        </p:txBody>
      </p:sp>
      <p:sp>
        <p:nvSpPr>
          <p:cNvPr id="18" name="@rise:8|Stat card"/>
          <p:cNvSpPr/>
          <p:nvPr/>
        </p:nvSpPr>
        <p:spPr>
          <a:xfrm>
            <a:off x="5044379" y="2057400"/>
            <a:ext cx="2075688" cy="2423160"/>
          </a:xfrm>
          <a:prstGeom prst="roundRect">
            <a:avLst>
              <a:gd name="adj" fmla="val 12335"/>
            </a:avLst>
          </a:prstGeom>
          <a:solidFill>
            <a:srgbClr val="D2F3E6"/>
          </a:solidFill>
          <a:ln/>
        </p:spPr>
      </p:sp>
      <p:sp>
        <p:nvSpPr>
          <p:cNvPr id="19" name="@fade:10|Number"/>
          <p:cNvSpPr txBox="1"/>
          <p:nvPr/>
        </p:nvSpPr>
        <p:spPr>
          <a:xfrm>
            <a:off x="5272979" y="2240280"/>
            <a:ext cx="1618488" cy="685800"/>
          </a:xfrm>
          <a:prstGeom prst="rect">
            <a:avLst/>
          </a:prstGeom>
          <a:noFill/>
          <a:ln/>
        </p:spPr>
        <p:txBody>
          <a:bodyPr wrap="square" lIns="0" tIns="0" rIns="0" bIns="0" rtlCol="0" anchor="ctr"/>
          <a:lstStyle/>
          <a:p>
            <a:pPr marL="0" indent="0">
              <a:buNone/>
            </a:pPr>
            <a:r>
              <a:rPr lang="en-US" sz="4200" b="1" dirty="0">
                <a:solidFill>
                  <a:schemeClr val="tx2"/>
                </a:solidFill>
              </a:rPr>
              <a:t>7/20</a:t>
            </a:r>
            <a:endParaRPr lang="en-US" sz="4200" dirty="0"/>
          </a:p>
        </p:txBody>
      </p:sp>
      <p:sp>
        <p:nvSpPr>
          <p:cNvPr id="20" name="@fade:10|Percent"/>
          <p:cNvSpPr txBox="1"/>
          <p:nvPr/>
        </p:nvSpPr>
        <p:spPr>
          <a:xfrm>
            <a:off x="5272979" y="2926080"/>
            <a:ext cx="1097280" cy="274320"/>
          </a:xfrm>
          <a:prstGeom prst="rect">
            <a:avLst/>
          </a:prstGeom>
          <a:noFill/>
          <a:ln/>
        </p:spPr>
        <p:txBody>
          <a:bodyPr wrap="square" lIns="0" tIns="0" rIns="0" bIns="0" rtlCol="0" anchor="t"/>
          <a:lstStyle/>
          <a:p>
            <a:pPr marL="0" indent="0">
              <a:buNone/>
            </a:pPr>
            <a:r>
              <a:rPr lang="en-US" sz="1500" b="1" dirty="0">
                <a:solidFill>
                  <a:schemeClr val="tx1"/>
                </a:solidFill>
              </a:rPr>
              <a:t>35%</a:t>
            </a:r>
            <a:endParaRPr lang="en-US" sz="1500" dirty="0"/>
          </a:p>
        </p:txBody>
      </p:sp>
      <p:sp>
        <p:nvSpPr>
          <p:cNvPr id="21" name="@fade:10|Bar track"/>
          <p:cNvSpPr/>
          <p:nvPr/>
        </p:nvSpPr>
        <p:spPr>
          <a:xfrm>
            <a:off x="5272979" y="3273552"/>
            <a:ext cx="1618488" cy="128016"/>
          </a:xfrm>
          <a:prstGeom prst="roundRect">
            <a:avLst>
              <a:gd name="adj" fmla="val 50000"/>
            </a:avLst>
          </a:prstGeom>
          <a:solidFill>
            <a:srgbClr val="FFFFFF"/>
          </a:solidFill>
          <a:ln/>
        </p:spPr>
      </p:sp>
      <p:sp>
        <p:nvSpPr>
          <p:cNvPr id="22" name="@wipe:12|Bar fill"/>
          <p:cNvSpPr/>
          <p:nvPr/>
        </p:nvSpPr>
        <p:spPr>
          <a:xfrm>
            <a:off x="5272979" y="3273552"/>
            <a:ext cx="566471" cy="128016"/>
          </a:xfrm>
          <a:prstGeom prst="roundRect">
            <a:avLst>
              <a:gd name="adj" fmla="val 50000"/>
            </a:avLst>
          </a:prstGeom>
          <a:solidFill>
            <a:srgbClr val="8B1E3F"/>
          </a:solidFill>
          <a:ln/>
        </p:spPr>
      </p:sp>
      <p:sp>
        <p:nvSpPr>
          <p:cNvPr id="23" name="@fade:10|Label"/>
          <p:cNvSpPr txBox="1"/>
          <p:nvPr/>
        </p:nvSpPr>
        <p:spPr>
          <a:xfrm>
            <a:off x="5272979" y="3547872"/>
            <a:ext cx="1664208" cy="822960"/>
          </a:xfrm>
          <a:prstGeom prst="rect">
            <a:avLst/>
          </a:prstGeom>
          <a:noFill/>
          <a:ln/>
        </p:spPr>
        <p:txBody>
          <a:bodyPr wrap="square" lIns="0" tIns="0" rIns="0" bIns="0" rtlCol="0" anchor="t"/>
          <a:lstStyle/>
          <a:p>
            <a:pPr marL="0" indent="0">
              <a:buNone/>
            </a:pPr>
            <a:r>
              <a:rPr lang="en-US" sz="1400" dirty="0">
                <a:solidFill>
                  <a:schemeClr val="tx1"/>
                </a:solidFill>
              </a:rPr>
              <a:t>сталкивались со сложностями при выборе тренера</a:t>
            </a:r>
            <a:endParaRPr lang="en-US" sz="1400" dirty="0"/>
          </a:p>
        </p:txBody>
      </p:sp>
      <p:sp>
        <p:nvSpPr>
          <p:cNvPr id="24" name="@rise:10|Stat card"/>
          <p:cNvSpPr/>
          <p:nvPr/>
        </p:nvSpPr>
        <p:spPr>
          <a:xfrm>
            <a:off x="7292249" y="2057400"/>
            <a:ext cx="2075688" cy="2423160"/>
          </a:xfrm>
          <a:prstGeom prst="roundRect">
            <a:avLst>
              <a:gd name="adj" fmla="val 12335"/>
            </a:avLst>
          </a:prstGeom>
          <a:solidFill>
            <a:srgbClr val="D8ECFF"/>
          </a:solidFill>
          <a:ln/>
        </p:spPr>
      </p:sp>
      <p:sp>
        <p:nvSpPr>
          <p:cNvPr id="25" name="@fade:12|Number"/>
          <p:cNvSpPr txBox="1"/>
          <p:nvPr/>
        </p:nvSpPr>
        <p:spPr>
          <a:xfrm>
            <a:off x="7520849" y="2240280"/>
            <a:ext cx="1618488" cy="685800"/>
          </a:xfrm>
          <a:prstGeom prst="rect">
            <a:avLst/>
          </a:prstGeom>
          <a:noFill/>
          <a:ln/>
        </p:spPr>
        <p:txBody>
          <a:bodyPr wrap="square" lIns="0" tIns="0" rIns="0" bIns="0" rtlCol="0" anchor="ctr"/>
          <a:lstStyle/>
          <a:p>
            <a:pPr marL="0" indent="0">
              <a:buNone/>
            </a:pPr>
            <a:r>
              <a:rPr lang="en-US" sz="4200" b="1" dirty="0">
                <a:solidFill>
                  <a:schemeClr val="tx2"/>
                </a:solidFill>
              </a:rPr>
              <a:t>14/20</a:t>
            </a:r>
            <a:endParaRPr lang="en-US" sz="4200" dirty="0"/>
          </a:p>
        </p:txBody>
      </p:sp>
      <p:sp>
        <p:nvSpPr>
          <p:cNvPr id="26" name="@fade:12|Percent"/>
          <p:cNvSpPr txBox="1"/>
          <p:nvPr/>
        </p:nvSpPr>
        <p:spPr>
          <a:xfrm>
            <a:off x="7520849" y="2926080"/>
            <a:ext cx="1097280" cy="274320"/>
          </a:xfrm>
          <a:prstGeom prst="rect">
            <a:avLst/>
          </a:prstGeom>
          <a:noFill/>
          <a:ln/>
        </p:spPr>
        <p:txBody>
          <a:bodyPr wrap="square" lIns="0" tIns="0" rIns="0" bIns="0" rtlCol="0" anchor="t"/>
          <a:lstStyle/>
          <a:p>
            <a:pPr marL="0" indent="0">
              <a:buNone/>
            </a:pPr>
            <a:r>
              <a:rPr lang="en-US" sz="1500" b="1" dirty="0">
                <a:solidFill>
                  <a:schemeClr val="tx1"/>
                </a:solidFill>
              </a:rPr>
              <a:t>70%</a:t>
            </a:r>
            <a:endParaRPr lang="en-US" sz="1500" dirty="0"/>
          </a:p>
        </p:txBody>
      </p:sp>
      <p:sp>
        <p:nvSpPr>
          <p:cNvPr id="27" name="@fade:12|Bar track"/>
          <p:cNvSpPr/>
          <p:nvPr/>
        </p:nvSpPr>
        <p:spPr>
          <a:xfrm>
            <a:off x="7520849" y="3273552"/>
            <a:ext cx="1618488" cy="128016"/>
          </a:xfrm>
          <a:prstGeom prst="roundRect">
            <a:avLst>
              <a:gd name="adj" fmla="val 50000"/>
            </a:avLst>
          </a:prstGeom>
          <a:solidFill>
            <a:srgbClr val="FFFFFF"/>
          </a:solidFill>
          <a:ln/>
        </p:spPr>
      </p:sp>
      <p:sp>
        <p:nvSpPr>
          <p:cNvPr id="28" name="@wipe:14|Bar fill"/>
          <p:cNvSpPr/>
          <p:nvPr/>
        </p:nvSpPr>
        <p:spPr>
          <a:xfrm>
            <a:off x="7520849" y="3273552"/>
            <a:ext cx="1132942" cy="128016"/>
          </a:xfrm>
          <a:prstGeom prst="roundRect">
            <a:avLst>
              <a:gd name="adj" fmla="val 50000"/>
            </a:avLst>
          </a:prstGeom>
          <a:solidFill>
            <a:srgbClr val="8B1E3F"/>
          </a:solidFill>
          <a:ln/>
        </p:spPr>
      </p:sp>
      <p:sp>
        <p:nvSpPr>
          <p:cNvPr id="29" name="@fade:12|Label"/>
          <p:cNvSpPr txBox="1"/>
          <p:nvPr/>
        </p:nvSpPr>
        <p:spPr>
          <a:xfrm>
            <a:off x="7520849" y="3547872"/>
            <a:ext cx="1664208" cy="822960"/>
          </a:xfrm>
          <a:prstGeom prst="rect">
            <a:avLst/>
          </a:prstGeom>
          <a:noFill/>
          <a:ln/>
        </p:spPr>
        <p:txBody>
          <a:bodyPr wrap="square" lIns="0" tIns="0" rIns="0" bIns="0" rtlCol="0" anchor="t"/>
          <a:lstStyle/>
          <a:p>
            <a:pPr marL="0" indent="0">
              <a:buNone/>
            </a:pPr>
            <a:r>
              <a:rPr lang="en-US" sz="1400" dirty="0">
                <a:solidFill>
                  <a:schemeClr val="tx1"/>
                </a:solidFill>
              </a:rPr>
              <a:t>хотят попробовать разные спорт-игры</a:t>
            </a:r>
            <a:endParaRPr lang="en-US" sz="1400" dirty="0"/>
          </a:p>
        </p:txBody>
      </p:sp>
      <p:sp>
        <p:nvSpPr>
          <p:cNvPr id="30" name="@rise:12|Stat card"/>
          <p:cNvSpPr/>
          <p:nvPr/>
        </p:nvSpPr>
        <p:spPr>
          <a:xfrm>
            <a:off x="9540118" y="2057400"/>
            <a:ext cx="2075688" cy="2423160"/>
          </a:xfrm>
          <a:prstGeom prst="roundRect">
            <a:avLst>
              <a:gd name="adj" fmla="val 12335"/>
            </a:avLst>
          </a:prstGeom>
          <a:solidFill>
            <a:srgbClr val="8B1E3F"/>
          </a:solidFill>
          <a:ln/>
        </p:spPr>
      </p:sp>
      <p:sp>
        <p:nvSpPr>
          <p:cNvPr id="31" name="@fade:14|Number"/>
          <p:cNvSpPr txBox="1"/>
          <p:nvPr/>
        </p:nvSpPr>
        <p:spPr>
          <a:xfrm>
            <a:off x="9768718" y="2240280"/>
            <a:ext cx="1618488" cy="685800"/>
          </a:xfrm>
          <a:prstGeom prst="rect">
            <a:avLst/>
          </a:prstGeom>
          <a:noFill/>
          <a:ln/>
        </p:spPr>
        <p:txBody>
          <a:bodyPr wrap="square" lIns="0" tIns="0" rIns="0" bIns="0" rtlCol="0" anchor="ctr"/>
          <a:lstStyle/>
          <a:p>
            <a:pPr marL="0" indent="0">
              <a:buNone/>
            </a:pPr>
            <a:r>
              <a:rPr lang="en-US" sz="4200" b="1" dirty="0">
                <a:solidFill>
                  <a:schemeClr val="bg1"/>
                </a:solidFill>
              </a:rPr>
              <a:t>17–25</a:t>
            </a:r>
            <a:endParaRPr lang="en-US" sz="4200" dirty="0"/>
          </a:p>
        </p:txBody>
      </p:sp>
      <p:sp>
        <p:nvSpPr>
          <p:cNvPr id="32" name="@fade:14|Pill"/>
          <p:cNvSpPr/>
          <p:nvPr/>
        </p:nvSpPr>
        <p:spPr>
          <a:xfrm>
            <a:off x="9768718" y="3017520"/>
            <a:ext cx="685800" cy="310896"/>
          </a:xfrm>
          <a:prstGeom prst="roundRect">
            <a:avLst>
              <a:gd name="adj" fmla="val 52941"/>
            </a:avLst>
          </a:prstGeom>
          <a:solidFill>
            <a:srgbClr val="FFC94A"/>
          </a:solidFill>
          <a:ln/>
        </p:spPr>
      </p:sp>
      <p:sp>
        <p:nvSpPr>
          <p:cNvPr id="33" name="@fade:14|Pill text"/>
          <p:cNvSpPr txBox="1"/>
          <p:nvPr/>
        </p:nvSpPr>
        <p:spPr>
          <a:xfrm>
            <a:off x="9768718" y="3017520"/>
            <a:ext cx="685800" cy="310896"/>
          </a:xfrm>
          <a:prstGeom prst="rect">
            <a:avLst/>
          </a:prstGeom>
          <a:noFill/>
          <a:ln/>
        </p:spPr>
        <p:txBody>
          <a:bodyPr wrap="square" lIns="0" tIns="0" rIns="0" bIns="0" rtlCol="0" anchor="ctr"/>
          <a:lstStyle/>
          <a:p>
            <a:pPr marL="0" indent="0" algn="ctr">
              <a:buNone/>
            </a:pPr>
            <a:r>
              <a:rPr lang="en-US" sz="1200" b="1" kern="0" spc="200" dirty="0">
                <a:solidFill>
                  <a:schemeClr val="tx1"/>
                </a:solidFill>
              </a:rPr>
              <a:t>ЦА</a:t>
            </a:r>
            <a:endParaRPr lang="en-US" sz="1200" dirty="0"/>
          </a:p>
        </p:txBody>
      </p:sp>
      <p:sp>
        <p:nvSpPr>
          <p:cNvPr id="34" name="@fade:14|Label"/>
          <p:cNvSpPr txBox="1"/>
          <p:nvPr/>
        </p:nvSpPr>
        <p:spPr>
          <a:xfrm>
            <a:off x="9768718" y="3547872"/>
            <a:ext cx="1664208" cy="822960"/>
          </a:xfrm>
          <a:prstGeom prst="rect">
            <a:avLst/>
          </a:prstGeom>
          <a:noFill/>
          <a:ln/>
        </p:spPr>
        <p:txBody>
          <a:bodyPr wrap="square" lIns="0" tIns="0" rIns="0" bIns="0" rtlCol="0" anchor="t"/>
          <a:lstStyle/>
          <a:p>
            <a:pPr marL="0" indent="0">
              <a:buNone/>
            </a:pPr>
            <a:r>
              <a:rPr lang="en-US" sz="1400" dirty="0">
                <a:solidFill>
                  <a:schemeClr val="bg1"/>
                </a:solidFill>
              </a:rPr>
              <a:t>приоритетная возрастная группа проекта</a:t>
            </a:r>
            <a:endParaRPr lang="en-US" sz="1400" dirty="0"/>
          </a:p>
        </p:txBody>
      </p:sp>
      <p:sp>
        <p:nvSpPr>
          <p:cNvPr id="35" name="@rise:16|Conclusion card"/>
          <p:cNvSpPr/>
          <p:nvPr/>
        </p:nvSpPr>
        <p:spPr>
          <a:xfrm>
            <a:off x="548640" y="4663440"/>
            <a:ext cx="6766560" cy="1627632"/>
          </a:xfrm>
          <a:prstGeom prst="roundRect">
            <a:avLst>
              <a:gd name="adj" fmla="val 16854"/>
            </a:avLst>
          </a:prstGeom>
          <a:solidFill>
            <a:srgbClr val="FFEFBF"/>
          </a:solidFill>
          <a:ln/>
        </p:spPr>
      </p:sp>
      <p:sp>
        <p:nvSpPr>
          <p:cNvPr id="36" name="@fade:18|Tag"/>
          <p:cNvSpPr txBox="1"/>
          <p:nvPr/>
        </p:nvSpPr>
        <p:spPr>
          <a:xfrm>
            <a:off x="868680" y="4846320"/>
            <a:ext cx="2743200" cy="274320"/>
          </a:xfrm>
          <a:prstGeom prst="rect">
            <a:avLst/>
          </a:prstGeom>
          <a:noFill/>
          <a:ln/>
        </p:spPr>
        <p:txBody>
          <a:bodyPr wrap="square" lIns="0" tIns="0" rIns="0" bIns="0" rtlCol="0" anchor="t"/>
          <a:lstStyle/>
          <a:p>
            <a:pPr marL="0" indent="0">
              <a:buNone/>
            </a:pPr>
            <a:r>
              <a:rPr lang="en-US" sz="1300" b="1" kern="0" spc="300" dirty="0">
                <a:solidFill>
                  <a:schemeClr val="tx2"/>
                </a:solidFill>
              </a:rPr>
              <a:t>ВЫВОД</a:t>
            </a:r>
            <a:endParaRPr lang="en-US" sz="1300" dirty="0"/>
          </a:p>
        </p:txBody>
      </p:sp>
      <p:sp>
        <p:nvSpPr>
          <p:cNvPr id="37" name="@fade:18|Text"/>
          <p:cNvSpPr txBox="1"/>
          <p:nvPr/>
        </p:nvSpPr>
        <p:spPr>
          <a:xfrm>
            <a:off x="868680" y="5166360"/>
            <a:ext cx="6126480" cy="1005840"/>
          </a:xfrm>
          <a:prstGeom prst="rect">
            <a:avLst/>
          </a:prstGeom>
          <a:noFill/>
          <a:ln/>
        </p:spPr>
        <p:txBody>
          <a:bodyPr wrap="square" lIns="0" tIns="0" rIns="0" bIns="0" rtlCol="0" anchor="t"/>
          <a:lstStyle/>
          <a:p>
            <a:pPr marL="0" indent="0">
              <a:buNone/>
            </a:pPr>
            <a:r>
              <a:rPr lang="en-US" sz="1500" dirty="0">
                <a:solidFill>
                  <a:schemeClr val="tx1"/>
                </a:solidFill>
              </a:rPr>
              <a:t>Опрос показывает спрос на тренировки с тренерами и запрос на выбор спорта / тренера. Часть респондентов ищет варианты через чаты, а у некоторых есть трудности с выбором.</a:t>
            </a:r>
            <a:endParaRPr lang="en-US" sz="1500" dirty="0"/>
          </a:p>
        </p:txBody>
      </p:sp>
      <p:sp>
        <p:nvSpPr>
          <p:cNvPr id="38" name="@rise:18|Decision card"/>
          <p:cNvSpPr/>
          <p:nvPr/>
        </p:nvSpPr>
        <p:spPr>
          <a:xfrm>
            <a:off x="7498080" y="4663440"/>
            <a:ext cx="4142232" cy="1627632"/>
          </a:xfrm>
          <a:prstGeom prst="roundRect">
            <a:avLst>
              <a:gd name="adj" fmla="val 16854"/>
            </a:avLst>
          </a:prstGeom>
          <a:solidFill>
            <a:srgbClr val="2A0F1E"/>
          </a:solidFill>
          <a:ln/>
        </p:spPr>
      </p:sp>
      <p:sp>
        <p:nvSpPr>
          <p:cNvPr id="39" name="@fade:20|Tag"/>
          <p:cNvSpPr txBox="1"/>
          <p:nvPr/>
        </p:nvSpPr>
        <p:spPr>
          <a:xfrm>
            <a:off x="7818120" y="4846320"/>
            <a:ext cx="2743200" cy="274320"/>
          </a:xfrm>
          <a:prstGeom prst="rect">
            <a:avLst/>
          </a:prstGeom>
          <a:noFill/>
          <a:ln/>
        </p:spPr>
        <p:txBody>
          <a:bodyPr wrap="square" lIns="0" tIns="0" rIns="0" bIns="0" rtlCol="0" anchor="t"/>
          <a:lstStyle/>
          <a:p>
            <a:pPr marL="0" indent="0">
              <a:buNone/>
            </a:pPr>
            <a:r>
              <a:rPr lang="en-US" sz="1300" b="1" kern="0" spc="300" dirty="0">
                <a:solidFill>
                  <a:schemeClr val="accent2"/>
                </a:solidFill>
              </a:rPr>
              <a:t>РЕШЕНИЕ</a:t>
            </a:r>
            <a:endParaRPr lang="en-US" sz="1300" dirty="0"/>
          </a:p>
        </p:txBody>
      </p:sp>
      <p:sp>
        <p:nvSpPr>
          <p:cNvPr id="40" name="@fade:20|Text"/>
          <p:cNvSpPr txBox="1"/>
          <p:nvPr/>
        </p:nvSpPr>
        <p:spPr>
          <a:xfrm>
            <a:off x="7818120" y="5166360"/>
            <a:ext cx="3520440" cy="1005840"/>
          </a:xfrm>
          <a:prstGeom prst="rect">
            <a:avLst/>
          </a:prstGeom>
          <a:noFill/>
          <a:ln/>
        </p:spPr>
        <p:txBody>
          <a:bodyPr wrap="square" lIns="0" tIns="0" rIns="0" bIns="0" rtlCol="0" anchor="t"/>
          <a:lstStyle/>
          <a:p>
            <a:pPr marL="0" indent="0">
              <a:buNone/>
            </a:pPr>
            <a:r>
              <a:rPr lang="en-US" sz="1500" dirty="0">
                <a:solidFill>
                  <a:schemeClr val="bg1"/>
                </a:solidFill>
              </a:rPr>
              <a:t>На первом этапе фокусируемся на аудитории 17–25 лет. Выборка небольшая и не репрезентативна для всего рынка.</a:t>
            </a:r>
            <a:endParaRPr lang="en-US" sz="1500" dirty="0"/>
          </a:p>
        </p:txBody>
      </p:sp>
      <p:sp>
        <p:nvSpPr>
          <p:cNvPr id="41"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7</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72"/>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72"/>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72"/>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72"/>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200"/>
                                        <p:tgtEl>
                                          <p:spTgt spid="11"/>
                                        </p:tgtEl>
                                      </p:cBhvr>
                                    </p:animEffect>
                                  </p:childTnLst>
                                </p:cTn>
                              </p:par>
                              <p:par>
                                <p:cTn id="29" presetID="10" presetClass="entr" presetSubtype="0" fill="hold" nodeType="withEffect">
                                  <p:stCondLst>
                                    <p:cond delay="72"/>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00"/>
                                        <p:tgtEl>
                                          <p:spTgt spid="12"/>
                                        </p:tgtEl>
                                      </p:cBhvr>
                                    </p:animEffect>
                                  </p:childTnLst>
                                </p:cTn>
                              </p:par>
                              <p:par>
                                <p:cTn id="32" presetID="10" presetClass="entr" presetSubtype="0" fill="hold" nodeType="withEffect">
                                  <p:stCondLst>
                                    <p:cond delay="96"/>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200"/>
                                        <p:tgtEl>
                                          <p:spTgt spid="10"/>
                                        </p:tgtEl>
                                      </p:cBhvr>
                                    </p:animEffect>
                                  </p:childTnLst>
                                </p:cTn>
                              </p:par>
                              <p:par>
                                <p:cTn id="35" presetID="10" presetClass="entr" presetSubtype="0" fill="hold" nodeType="withEffect">
                                  <p:stCondLst>
                                    <p:cond delay="96"/>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96"/>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96"/>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96"/>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200"/>
                                        <p:tgtEl>
                                          <p:spTgt spid="17"/>
                                        </p:tgtEl>
                                      </p:cBhvr>
                                    </p:animEffect>
                                  </p:childTnLst>
                                </p:cTn>
                              </p:par>
                              <p:par>
                                <p:cTn id="47" presetID="10" presetClass="entr" presetSubtype="0" fill="hold" nodeType="withEffect">
                                  <p:stCondLst>
                                    <p:cond delay="96"/>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200"/>
                                        <p:tgtEl>
                                          <p:spTgt spid="18"/>
                                        </p:tgtEl>
                                      </p:cBhvr>
                                    </p:animEffect>
                                  </p:childTnLst>
                                </p:cTn>
                              </p:par>
                              <p:par>
                                <p:cTn id="50" presetID="10" presetClass="entr" presetSubtype="0" fill="hold" nodeType="withEffect">
                                  <p:stCondLst>
                                    <p:cond delay="12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00"/>
                                        <p:tgtEl>
                                          <p:spTgt spid="16"/>
                                        </p:tgtEl>
                                      </p:cBhvr>
                                    </p:animEffect>
                                  </p:childTnLst>
                                </p:cTn>
                              </p:par>
                              <p:par>
                                <p:cTn id="53" presetID="10" presetClass="entr" presetSubtype="0" fill="hold" nodeType="withEffect">
                                  <p:stCondLst>
                                    <p:cond delay="12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12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12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12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200"/>
                                        <p:tgtEl>
                                          <p:spTgt spid="23"/>
                                        </p:tgtEl>
                                      </p:cBhvr>
                                    </p:animEffect>
                                  </p:childTnLst>
                                </p:cTn>
                              </p:par>
                              <p:par>
                                <p:cTn id="65" presetID="10" presetClass="entr" presetSubtype="0" fill="hold" nodeType="withEffect">
                                  <p:stCondLst>
                                    <p:cond delay="12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00"/>
                                        <p:tgtEl>
                                          <p:spTgt spid="24"/>
                                        </p:tgtEl>
                                      </p:cBhvr>
                                    </p:animEffect>
                                  </p:childTnLst>
                                </p:cTn>
                              </p:par>
                              <p:par>
                                <p:cTn id="68" presetID="10" presetClass="entr" presetSubtype="0" fill="hold" nodeType="withEffect">
                                  <p:stCondLst>
                                    <p:cond delay="144"/>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200"/>
                                        <p:tgtEl>
                                          <p:spTgt spid="22"/>
                                        </p:tgtEl>
                                      </p:cBhvr>
                                    </p:animEffect>
                                  </p:childTnLst>
                                </p:cTn>
                              </p:par>
                              <p:par>
                                <p:cTn id="71" presetID="10" presetClass="entr" presetSubtype="0" fill="hold" nodeType="withEffect">
                                  <p:stCondLst>
                                    <p:cond delay="144"/>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144"/>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144"/>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144"/>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200"/>
                                        <p:tgtEl>
                                          <p:spTgt spid="29"/>
                                        </p:tgtEl>
                                      </p:cBhvr>
                                    </p:animEffect>
                                  </p:childTnLst>
                                </p:cTn>
                              </p:par>
                              <p:par>
                                <p:cTn id="83" presetID="10" presetClass="entr" presetSubtype="0" fill="hold" nodeType="withEffect">
                                  <p:stCondLst>
                                    <p:cond delay="144"/>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200"/>
                                        <p:tgtEl>
                                          <p:spTgt spid="30"/>
                                        </p:tgtEl>
                                      </p:cBhvr>
                                    </p:animEffect>
                                  </p:childTnLst>
                                </p:cTn>
                              </p:par>
                              <p:par>
                                <p:cTn id="86" presetID="10" presetClass="entr" presetSubtype="0" fill="hold" nodeType="withEffect">
                                  <p:stCondLst>
                                    <p:cond delay="168"/>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200"/>
                                        <p:tgtEl>
                                          <p:spTgt spid="28"/>
                                        </p:tgtEl>
                                      </p:cBhvr>
                                    </p:animEffect>
                                  </p:childTnLst>
                                </p:cTn>
                              </p:par>
                              <p:par>
                                <p:cTn id="89" presetID="10" presetClass="entr" presetSubtype="0" fill="hold" nodeType="withEffect">
                                  <p:stCondLst>
                                    <p:cond delay="168"/>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200"/>
                                        <p:tgtEl>
                                          <p:spTgt spid="31"/>
                                        </p:tgtEl>
                                      </p:cBhvr>
                                    </p:animEffect>
                                  </p:childTnLst>
                                </p:cTn>
                              </p:par>
                              <p:par>
                                <p:cTn id="92" presetID="10" presetClass="entr" presetSubtype="0" fill="hold" nodeType="withEffect">
                                  <p:stCondLst>
                                    <p:cond delay="168"/>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200"/>
                                        <p:tgtEl>
                                          <p:spTgt spid="32"/>
                                        </p:tgtEl>
                                      </p:cBhvr>
                                    </p:animEffect>
                                  </p:childTnLst>
                                </p:cTn>
                              </p:par>
                              <p:par>
                                <p:cTn id="95" presetID="10" presetClass="entr" presetSubtype="0" fill="hold" nodeType="withEffect">
                                  <p:stCondLst>
                                    <p:cond delay="168"/>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200"/>
                                        <p:tgtEl>
                                          <p:spTgt spid="33"/>
                                        </p:tgtEl>
                                      </p:cBhvr>
                                    </p:animEffect>
                                  </p:childTnLst>
                                </p:cTn>
                              </p:par>
                              <p:par>
                                <p:cTn id="98" presetID="10" presetClass="entr" presetSubtype="0" fill="hold" nodeType="withEffect">
                                  <p:stCondLst>
                                    <p:cond delay="168"/>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200"/>
                                        <p:tgtEl>
                                          <p:spTgt spid="34"/>
                                        </p:tgtEl>
                                      </p:cBhvr>
                                    </p:animEffect>
                                  </p:childTnLst>
                                </p:cTn>
                              </p:par>
                              <p:par>
                                <p:cTn id="101" presetID="10" presetClass="entr" presetSubtype="0" fill="hold" nodeType="withEffect">
                                  <p:stCondLst>
                                    <p:cond delay="192"/>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200"/>
                                        <p:tgtEl>
                                          <p:spTgt spid="35"/>
                                        </p:tgtEl>
                                      </p:cBhvr>
                                    </p:animEffect>
                                  </p:childTnLst>
                                </p:cTn>
                              </p:par>
                              <p:par>
                                <p:cTn id="104" presetID="10" presetClass="entr" presetSubtype="0" fill="hold" nodeType="withEffect">
                                  <p:stCondLst>
                                    <p:cond delay="216"/>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200"/>
                                        <p:tgtEl>
                                          <p:spTgt spid="36"/>
                                        </p:tgtEl>
                                      </p:cBhvr>
                                    </p:animEffect>
                                  </p:childTnLst>
                                </p:cTn>
                              </p:par>
                              <p:par>
                                <p:cTn id="107" presetID="10" presetClass="entr" presetSubtype="0" fill="hold" nodeType="withEffect">
                                  <p:stCondLst>
                                    <p:cond delay="216"/>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200"/>
                                        <p:tgtEl>
                                          <p:spTgt spid="37"/>
                                        </p:tgtEl>
                                      </p:cBhvr>
                                    </p:animEffect>
                                  </p:childTnLst>
                                </p:cTn>
                              </p:par>
                              <p:par>
                                <p:cTn id="110" presetID="10" presetClass="entr" presetSubtype="0" fill="hold" nodeType="withEffect">
                                  <p:stCondLst>
                                    <p:cond delay="216"/>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200"/>
                                        <p:tgtEl>
                                          <p:spTgt spid="38"/>
                                        </p:tgtEl>
                                      </p:cBhvr>
                                    </p:animEffect>
                                  </p:childTnLst>
                                </p:cTn>
                              </p:par>
                              <p:par>
                                <p:cTn id="113" presetID="10" presetClass="entr" presetSubtype="0" fill="hold" nodeType="withEffect">
                                  <p:stCondLst>
                                    <p:cond delay="24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200"/>
                                        <p:tgtEl>
                                          <p:spTgt spid="39"/>
                                        </p:tgtEl>
                                      </p:cBhvr>
                                    </p:animEffect>
                                  </p:childTnLst>
                                </p:cTn>
                              </p:par>
                              <p:par>
                                <p:cTn id="116" presetID="10" presetClass="entr" presetSubtype="0" fill="hold" nodeType="withEffect">
                                  <p:stCondLst>
                                    <p:cond delay="24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2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fade:0|Pill"/>
          <p:cNvSpPr/>
          <p:nvPr/>
        </p:nvSpPr>
        <p:spPr>
          <a:xfrm>
            <a:off x="548640" y="411480"/>
            <a:ext cx="2029968" cy="329184"/>
          </a:xfrm>
          <a:prstGeom prst="roundRect">
            <a:avLst>
              <a:gd name="adj" fmla="val 50000"/>
            </a:avLst>
          </a:prstGeom>
          <a:solidFill>
            <a:srgbClr val="6FD3B0"/>
          </a:solidFill>
          <a:ln/>
        </p:spPr>
      </p:sp>
      <p:sp>
        <p:nvSpPr>
          <p:cNvPr id="3" name="@fade:0|Pill text"/>
          <p:cNvSpPr txBox="1"/>
          <p:nvPr/>
        </p:nvSpPr>
        <p:spPr>
          <a:xfrm>
            <a:off x="548640" y="411480"/>
            <a:ext cx="2029968"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ЧТО УЖЕ СДЕЛАНО</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Работа с администраторами чатов</a:t>
            </a:r>
            <a:endParaRPr lang="en-US" sz="4000" dirty="0"/>
          </a:p>
        </p:txBody>
      </p:sp>
      <p:sp>
        <p:nvSpPr>
          <p:cNvPr id="5" name="@wipev:2|Track"/>
          <p:cNvSpPr/>
          <p:nvPr/>
        </p:nvSpPr>
        <p:spPr>
          <a:xfrm>
            <a:off x="1069848" y="2514600"/>
            <a:ext cx="64008" cy="2743200"/>
          </a:xfrm>
          <a:prstGeom prst="rect">
            <a:avLst/>
          </a:prstGeom>
          <a:solidFill>
            <a:srgbClr val="FFDCD6"/>
          </a:solidFill>
          <a:ln/>
        </p:spPr>
      </p:sp>
      <p:sp>
        <p:nvSpPr>
          <p:cNvPr id="6" name="@rise:3|Row card"/>
          <p:cNvSpPr/>
          <p:nvPr/>
        </p:nvSpPr>
        <p:spPr>
          <a:xfrm>
            <a:off x="1600200" y="1920240"/>
            <a:ext cx="6263640" cy="1188720"/>
          </a:xfrm>
          <a:prstGeom prst="roundRect">
            <a:avLst>
              <a:gd name="adj" fmla="val 21538"/>
            </a:avLst>
          </a:prstGeom>
          <a:solidFill>
            <a:srgbClr val="D2F3E6"/>
          </a:solidFill>
          <a:ln/>
        </p:spPr>
      </p:sp>
      <p:sp>
        <p:nvSpPr>
          <p:cNvPr id="7" name="@pop:3|Status icon bg"/>
          <p:cNvSpPr/>
          <p:nvPr/>
        </p:nvSpPr>
        <p:spPr>
          <a:xfrm>
            <a:off x="726948" y="2139696"/>
            <a:ext cx="749808" cy="749808"/>
          </a:xfrm>
          <a:prstGeom prst="ellipse">
            <a:avLst/>
          </a:prstGeom>
          <a:solidFill>
            <a:srgbClr val="1F8A64"/>
          </a:solidFill>
          <a:ln/>
        </p:spPr>
      </p:sp>
      <p:pic>
        <p:nvPicPr>
          <p:cNvPr id="8" name="@pop:3|Status icon" descr="Status icon"/>
          <p:cNvPicPr>
            <a:picLocks noChangeAspect="1"/>
          </p:cNvPicPr>
          <p:nvPr/>
        </p:nvPicPr>
        <p:blipFill>
          <a:blip r:embed="rId3"/>
          <a:stretch>
            <a:fillRect/>
          </a:stretch>
        </p:blipFill>
        <p:spPr>
          <a:xfrm>
            <a:off x="906902" y="2319650"/>
            <a:ext cx="389900" cy="389900"/>
          </a:xfrm>
          <a:prstGeom prst="rect">
            <a:avLst/>
          </a:prstGeom>
        </p:spPr>
      </p:pic>
      <p:sp>
        <p:nvSpPr>
          <p:cNvPr id="9" name="@fade:5|Row title"/>
          <p:cNvSpPr txBox="1"/>
          <p:nvPr/>
        </p:nvSpPr>
        <p:spPr>
          <a:xfrm>
            <a:off x="1920240" y="2103120"/>
            <a:ext cx="4160520" cy="411480"/>
          </a:xfrm>
          <a:prstGeom prst="rect">
            <a:avLst/>
          </a:prstGeom>
          <a:noFill/>
          <a:ln/>
        </p:spPr>
        <p:txBody>
          <a:bodyPr wrap="square" lIns="0" tIns="0" rIns="0" bIns="0" rtlCol="0" anchor="t"/>
          <a:lstStyle/>
          <a:p>
            <a:pPr marL="0" indent="0">
              <a:buNone/>
            </a:pPr>
            <a:r>
              <a:rPr lang="en-US" sz="2300" b="1" dirty="0">
                <a:solidFill>
                  <a:schemeClr val="tx1"/>
                </a:solidFill>
              </a:rPr>
              <a:t>Написали администраторам</a:t>
            </a:r>
            <a:endParaRPr lang="en-US" sz="2300" dirty="0"/>
          </a:p>
        </p:txBody>
      </p:sp>
      <p:sp>
        <p:nvSpPr>
          <p:cNvPr id="10" name="@fade:5|Row text"/>
          <p:cNvSpPr txBox="1"/>
          <p:nvPr/>
        </p:nvSpPr>
        <p:spPr>
          <a:xfrm>
            <a:off x="1920240" y="2560320"/>
            <a:ext cx="5623560" cy="411480"/>
          </a:xfrm>
          <a:prstGeom prst="rect">
            <a:avLst/>
          </a:prstGeom>
          <a:noFill/>
          <a:ln/>
        </p:spPr>
        <p:txBody>
          <a:bodyPr wrap="square" lIns="0" tIns="0" rIns="0" bIns="0" rtlCol="0" anchor="t"/>
          <a:lstStyle/>
          <a:p>
            <a:pPr marL="0" indent="0">
              <a:buNone/>
            </a:pPr>
            <a:r>
              <a:rPr lang="en-US" sz="1700" dirty="0">
                <a:solidFill>
                  <a:schemeClr val="tx1"/>
                </a:solidFill>
              </a:rPr>
              <a:t>Связались с администраторами спортивных чатов</a:t>
            </a:r>
            <a:endParaRPr lang="en-US" sz="1700" dirty="0"/>
          </a:p>
        </p:txBody>
      </p:sp>
      <p:sp>
        <p:nvSpPr>
          <p:cNvPr id="11" name="@fade:5|Pill"/>
          <p:cNvSpPr/>
          <p:nvPr/>
        </p:nvSpPr>
        <p:spPr>
          <a:xfrm>
            <a:off x="6355080" y="2121408"/>
            <a:ext cx="1280160" cy="310896"/>
          </a:xfrm>
          <a:prstGeom prst="roundRect">
            <a:avLst>
              <a:gd name="adj" fmla="val 52941"/>
            </a:avLst>
          </a:prstGeom>
          <a:solidFill>
            <a:srgbClr val="FFFFFF"/>
          </a:solidFill>
          <a:ln/>
        </p:spPr>
      </p:sp>
      <p:sp>
        <p:nvSpPr>
          <p:cNvPr id="12" name="@fade:5|Pill text"/>
          <p:cNvSpPr txBox="1"/>
          <p:nvPr/>
        </p:nvSpPr>
        <p:spPr>
          <a:xfrm>
            <a:off x="6355080" y="2121408"/>
            <a:ext cx="1280160" cy="310896"/>
          </a:xfrm>
          <a:prstGeom prst="rect">
            <a:avLst/>
          </a:prstGeom>
          <a:noFill/>
          <a:ln/>
        </p:spPr>
        <p:txBody>
          <a:bodyPr wrap="square" lIns="0" tIns="0" rIns="0" bIns="0" rtlCol="0" anchor="ctr"/>
          <a:lstStyle/>
          <a:p>
            <a:pPr marL="0" indent="0" algn="ctr">
              <a:buNone/>
            </a:pPr>
            <a:r>
              <a:rPr lang="en-US" sz="1200" b="1" kern="0" spc="200" dirty="0">
                <a:solidFill>
                  <a:srgbClr val="1F8A64"/>
                </a:solidFill>
              </a:rPr>
              <a:t>ГОТОВО</a:t>
            </a:r>
            <a:endParaRPr lang="en-US" sz="1200" dirty="0"/>
          </a:p>
        </p:txBody>
      </p:sp>
      <p:sp>
        <p:nvSpPr>
          <p:cNvPr id="13" name="@rise:6|Row card"/>
          <p:cNvSpPr/>
          <p:nvPr/>
        </p:nvSpPr>
        <p:spPr>
          <a:xfrm>
            <a:off x="1600200" y="3291840"/>
            <a:ext cx="6263640" cy="1188720"/>
          </a:xfrm>
          <a:prstGeom prst="roundRect">
            <a:avLst>
              <a:gd name="adj" fmla="val 21538"/>
            </a:avLst>
          </a:prstGeom>
          <a:solidFill>
            <a:srgbClr val="D8ECFF"/>
          </a:solidFill>
          <a:ln/>
        </p:spPr>
      </p:sp>
      <p:sp>
        <p:nvSpPr>
          <p:cNvPr id="14" name="@pop:6|Status icon bg"/>
          <p:cNvSpPr/>
          <p:nvPr/>
        </p:nvSpPr>
        <p:spPr>
          <a:xfrm>
            <a:off x="726948" y="3511296"/>
            <a:ext cx="749808" cy="749808"/>
          </a:xfrm>
          <a:prstGeom prst="ellipse">
            <a:avLst/>
          </a:prstGeom>
          <a:solidFill>
            <a:srgbClr val="1F8A64"/>
          </a:solidFill>
          <a:ln/>
        </p:spPr>
      </p:sp>
      <p:pic>
        <p:nvPicPr>
          <p:cNvPr id="15" name="@pop:6|Status icon" descr="Status icon"/>
          <p:cNvPicPr>
            <a:picLocks noChangeAspect="1"/>
          </p:cNvPicPr>
          <p:nvPr/>
        </p:nvPicPr>
        <p:blipFill>
          <a:blip r:embed="rId3"/>
          <a:stretch>
            <a:fillRect/>
          </a:stretch>
        </p:blipFill>
        <p:spPr>
          <a:xfrm>
            <a:off x="906902" y="3691250"/>
            <a:ext cx="389900" cy="389900"/>
          </a:xfrm>
          <a:prstGeom prst="rect">
            <a:avLst/>
          </a:prstGeom>
        </p:spPr>
      </p:pic>
      <p:sp>
        <p:nvSpPr>
          <p:cNvPr id="16" name="@fade:8|Row title"/>
          <p:cNvSpPr txBox="1"/>
          <p:nvPr/>
        </p:nvSpPr>
        <p:spPr>
          <a:xfrm>
            <a:off x="1920240" y="3474720"/>
            <a:ext cx="4160520" cy="411480"/>
          </a:xfrm>
          <a:prstGeom prst="rect">
            <a:avLst/>
          </a:prstGeom>
          <a:noFill/>
          <a:ln/>
        </p:spPr>
        <p:txBody>
          <a:bodyPr wrap="square" lIns="0" tIns="0" rIns="0" bIns="0" rtlCol="0" anchor="t"/>
          <a:lstStyle/>
          <a:p>
            <a:pPr marL="0" indent="0">
              <a:buNone/>
            </a:pPr>
            <a:r>
              <a:rPr lang="en-US" sz="2300" b="1" dirty="0">
                <a:solidFill>
                  <a:schemeClr val="tx1"/>
                </a:solidFill>
              </a:rPr>
              <a:t>Проанализировали ответы</a:t>
            </a:r>
            <a:endParaRPr lang="en-US" sz="2300" dirty="0"/>
          </a:p>
        </p:txBody>
      </p:sp>
      <p:sp>
        <p:nvSpPr>
          <p:cNvPr id="17" name="@fade:8|Row text"/>
          <p:cNvSpPr txBox="1"/>
          <p:nvPr/>
        </p:nvSpPr>
        <p:spPr>
          <a:xfrm>
            <a:off x="1920240" y="3931920"/>
            <a:ext cx="5623560" cy="411480"/>
          </a:xfrm>
          <a:prstGeom prst="rect">
            <a:avLst/>
          </a:prstGeom>
          <a:noFill/>
          <a:ln/>
        </p:spPr>
        <p:txBody>
          <a:bodyPr wrap="square" lIns="0" tIns="0" rIns="0" bIns="0" rtlCol="0" anchor="t"/>
          <a:lstStyle/>
          <a:p>
            <a:pPr marL="0" indent="0">
              <a:buNone/>
            </a:pPr>
            <a:r>
              <a:rPr lang="en-US" sz="1700" dirty="0">
                <a:solidFill>
                  <a:schemeClr val="tx1"/>
                </a:solidFill>
              </a:rPr>
              <a:t>Выяснили, что платформа им актуальна</a:t>
            </a:r>
            <a:endParaRPr lang="en-US" sz="1700" dirty="0"/>
          </a:p>
        </p:txBody>
      </p:sp>
      <p:sp>
        <p:nvSpPr>
          <p:cNvPr id="18" name="@fade:8|Pill"/>
          <p:cNvSpPr/>
          <p:nvPr/>
        </p:nvSpPr>
        <p:spPr>
          <a:xfrm>
            <a:off x="6355080" y="3493008"/>
            <a:ext cx="1280160" cy="310896"/>
          </a:xfrm>
          <a:prstGeom prst="roundRect">
            <a:avLst>
              <a:gd name="adj" fmla="val 52941"/>
            </a:avLst>
          </a:prstGeom>
          <a:solidFill>
            <a:srgbClr val="FFFFFF"/>
          </a:solidFill>
          <a:ln/>
        </p:spPr>
      </p:sp>
      <p:sp>
        <p:nvSpPr>
          <p:cNvPr id="19" name="@fade:8|Pill text"/>
          <p:cNvSpPr txBox="1"/>
          <p:nvPr/>
        </p:nvSpPr>
        <p:spPr>
          <a:xfrm>
            <a:off x="6355080" y="3493008"/>
            <a:ext cx="1280160" cy="310896"/>
          </a:xfrm>
          <a:prstGeom prst="rect">
            <a:avLst/>
          </a:prstGeom>
          <a:noFill/>
          <a:ln/>
        </p:spPr>
        <p:txBody>
          <a:bodyPr wrap="square" lIns="0" tIns="0" rIns="0" bIns="0" rtlCol="0" anchor="ctr"/>
          <a:lstStyle/>
          <a:p>
            <a:pPr marL="0" indent="0" algn="ctr">
              <a:buNone/>
            </a:pPr>
            <a:r>
              <a:rPr lang="en-US" sz="1200" b="1" kern="0" spc="200" dirty="0">
                <a:solidFill>
                  <a:srgbClr val="1F8A64"/>
                </a:solidFill>
              </a:rPr>
              <a:t>ГОТОВО</a:t>
            </a:r>
            <a:endParaRPr lang="en-US" sz="1200" dirty="0"/>
          </a:p>
        </p:txBody>
      </p:sp>
      <p:sp>
        <p:nvSpPr>
          <p:cNvPr id="20" name="@rise:9|Row card"/>
          <p:cNvSpPr/>
          <p:nvPr/>
        </p:nvSpPr>
        <p:spPr>
          <a:xfrm>
            <a:off x="1600200" y="4663440"/>
            <a:ext cx="6263640" cy="1188720"/>
          </a:xfrm>
          <a:prstGeom prst="roundRect">
            <a:avLst>
              <a:gd name="adj" fmla="val 21538"/>
            </a:avLst>
          </a:prstGeom>
          <a:solidFill>
            <a:srgbClr val="FFEFBF"/>
          </a:solidFill>
          <a:ln/>
        </p:spPr>
      </p:sp>
      <p:sp>
        <p:nvSpPr>
          <p:cNvPr id="21" name="@pop:9|Status icon bg"/>
          <p:cNvSpPr/>
          <p:nvPr/>
        </p:nvSpPr>
        <p:spPr>
          <a:xfrm>
            <a:off x="726948" y="4882896"/>
            <a:ext cx="749808" cy="749808"/>
          </a:xfrm>
          <a:prstGeom prst="ellipse">
            <a:avLst/>
          </a:prstGeom>
          <a:solidFill>
            <a:srgbClr val="FFC94A"/>
          </a:solidFill>
          <a:ln/>
        </p:spPr>
      </p:sp>
      <p:pic>
        <p:nvPicPr>
          <p:cNvPr id="22" name="@pop:9|Status icon" descr="Status icon"/>
          <p:cNvPicPr>
            <a:picLocks noChangeAspect="1"/>
          </p:cNvPicPr>
          <p:nvPr/>
        </p:nvPicPr>
        <p:blipFill>
          <a:blip r:embed="rId4"/>
          <a:stretch>
            <a:fillRect/>
          </a:stretch>
        </p:blipFill>
        <p:spPr>
          <a:xfrm>
            <a:off x="906902" y="5062850"/>
            <a:ext cx="389900" cy="389900"/>
          </a:xfrm>
          <a:prstGeom prst="rect">
            <a:avLst/>
          </a:prstGeom>
        </p:spPr>
      </p:pic>
      <p:sp>
        <p:nvSpPr>
          <p:cNvPr id="23" name="@fade:11|Row title"/>
          <p:cNvSpPr txBox="1"/>
          <p:nvPr/>
        </p:nvSpPr>
        <p:spPr>
          <a:xfrm>
            <a:off x="1920240" y="4846320"/>
            <a:ext cx="4160520" cy="411480"/>
          </a:xfrm>
          <a:prstGeom prst="rect">
            <a:avLst/>
          </a:prstGeom>
          <a:noFill/>
          <a:ln/>
        </p:spPr>
        <p:txBody>
          <a:bodyPr wrap="square" lIns="0" tIns="0" rIns="0" bIns="0" rtlCol="0" anchor="t"/>
          <a:lstStyle/>
          <a:p>
            <a:pPr marL="0" indent="0">
              <a:buNone/>
            </a:pPr>
            <a:r>
              <a:rPr lang="en-US" sz="2300" b="1" dirty="0">
                <a:solidFill>
                  <a:schemeClr val="tx1"/>
                </a:solidFill>
              </a:rPr>
              <a:t>Переносим в Mesto</a:t>
            </a:r>
            <a:endParaRPr lang="en-US" sz="2300" dirty="0"/>
          </a:p>
        </p:txBody>
      </p:sp>
      <p:sp>
        <p:nvSpPr>
          <p:cNvPr id="24" name="@fade:11|Row text"/>
          <p:cNvSpPr txBox="1"/>
          <p:nvPr/>
        </p:nvSpPr>
        <p:spPr>
          <a:xfrm>
            <a:off x="1920240" y="5303520"/>
            <a:ext cx="5623560" cy="411480"/>
          </a:xfrm>
          <a:prstGeom prst="rect">
            <a:avLst/>
          </a:prstGeom>
          <a:noFill/>
          <a:ln/>
        </p:spPr>
        <p:txBody>
          <a:bodyPr wrap="square" lIns="0" tIns="0" rIns="0" bIns="0" rtlCol="0" anchor="t"/>
          <a:lstStyle/>
          <a:p>
            <a:pPr marL="0" indent="0">
              <a:buNone/>
            </a:pPr>
            <a:r>
              <a:rPr lang="en-US" sz="1700" dirty="0">
                <a:solidFill>
                  <a:schemeClr val="tx1"/>
                </a:solidFill>
              </a:rPr>
              <a:t>Сейчас добавляем их анкеты и переносим новые чаты</a:t>
            </a:r>
            <a:endParaRPr lang="en-US" sz="1700" dirty="0"/>
          </a:p>
        </p:txBody>
      </p:sp>
      <p:sp>
        <p:nvSpPr>
          <p:cNvPr id="25" name="@fade:11|Pill"/>
          <p:cNvSpPr/>
          <p:nvPr/>
        </p:nvSpPr>
        <p:spPr>
          <a:xfrm>
            <a:off x="6355080" y="4864608"/>
            <a:ext cx="1280160" cy="310896"/>
          </a:xfrm>
          <a:prstGeom prst="roundRect">
            <a:avLst>
              <a:gd name="adj" fmla="val 52941"/>
            </a:avLst>
          </a:prstGeom>
          <a:solidFill>
            <a:srgbClr val="8B1E3F"/>
          </a:solidFill>
          <a:ln/>
        </p:spPr>
      </p:sp>
      <p:sp>
        <p:nvSpPr>
          <p:cNvPr id="26" name="@fade:11|Pill text"/>
          <p:cNvSpPr txBox="1"/>
          <p:nvPr/>
        </p:nvSpPr>
        <p:spPr>
          <a:xfrm>
            <a:off x="6355080" y="4864608"/>
            <a:ext cx="1280160" cy="310896"/>
          </a:xfrm>
          <a:prstGeom prst="rect">
            <a:avLst/>
          </a:prstGeom>
          <a:noFill/>
          <a:ln/>
        </p:spPr>
        <p:txBody>
          <a:bodyPr wrap="square" lIns="0" tIns="0" rIns="0" bIns="0" rtlCol="0" anchor="ctr"/>
          <a:lstStyle/>
          <a:p>
            <a:pPr marL="0" indent="0" algn="ctr">
              <a:buNone/>
            </a:pPr>
            <a:r>
              <a:rPr lang="en-US" sz="1200" b="1" kern="0" spc="200" dirty="0">
                <a:solidFill>
                  <a:schemeClr val="bg1"/>
                </a:solidFill>
              </a:rPr>
              <a:t>В РАБОТЕ</a:t>
            </a:r>
            <a:endParaRPr lang="en-US" sz="1200" dirty="0"/>
          </a:p>
        </p:txBody>
      </p:sp>
      <p:sp>
        <p:nvSpPr>
          <p:cNvPr id="27" name="@rise:14|Result card"/>
          <p:cNvSpPr/>
          <p:nvPr/>
        </p:nvSpPr>
        <p:spPr>
          <a:xfrm>
            <a:off x="8183880" y="1920240"/>
            <a:ext cx="3456432" cy="3931920"/>
          </a:xfrm>
          <a:prstGeom prst="roundRect">
            <a:avLst>
              <a:gd name="adj" fmla="val 7937"/>
            </a:avLst>
          </a:prstGeom>
          <a:solidFill>
            <a:srgbClr val="8B1E3F"/>
          </a:solidFill>
          <a:ln/>
        </p:spPr>
      </p:sp>
      <p:sp>
        <p:nvSpPr>
          <p:cNvPr id="28" name="@fade:16|Handshake bg"/>
          <p:cNvSpPr/>
          <p:nvPr/>
        </p:nvSpPr>
        <p:spPr>
          <a:xfrm>
            <a:off x="8458200" y="2194560"/>
            <a:ext cx="822960" cy="822960"/>
          </a:xfrm>
          <a:prstGeom prst="ellipse">
            <a:avLst/>
          </a:prstGeom>
          <a:solidFill>
            <a:srgbClr val="FFC94A"/>
          </a:solidFill>
          <a:ln/>
        </p:spPr>
      </p:sp>
      <p:pic>
        <p:nvPicPr>
          <p:cNvPr id="29" name="@fade:16|Handshake" descr="Handshake"/>
          <p:cNvPicPr>
            <a:picLocks noChangeAspect="1"/>
          </p:cNvPicPr>
          <p:nvPr/>
        </p:nvPicPr>
        <p:blipFill>
          <a:blip r:embed="rId5"/>
          <a:stretch>
            <a:fillRect/>
          </a:stretch>
        </p:blipFill>
        <p:spPr>
          <a:xfrm>
            <a:off x="8655710" y="2392070"/>
            <a:ext cx="427939" cy="427939"/>
          </a:xfrm>
          <a:prstGeom prst="rect">
            <a:avLst/>
          </a:prstGeom>
        </p:spPr>
      </p:pic>
      <p:sp>
        <p:nvSpPr>
          <p:cNvPr id="30" name="@fade:16|Tag"/>
          <p:cNvSpPr txBox="1"/>
          <p:nvPr/>
        </p:nvSpPr>
        <p:spPr>
          <a:xfrm>
            <a:off x="8549640" y="3246120"/>
            <a:ext cx="2743200" cy="274320"/>
          </a:xfrm>
          <a:prstGeom prst="rect">
            <a:avLst/>
          </a:prstGeom>
          <a:noFill/>
          <a:ln/>
        </p:spPr>
        <p:txBody>
          <a:bodyPr wrap="square" lIns="0" tIns="0" rIns="0" bIns="0" rtlCol="0" anchor="t"/>
          <a:lstStyle/>
          <a:p>
            <a:pPr marL="0" indent="0">
              <a:buNone/>
            </a:pPr>
            <a:r>
              <a:rPr lang="en-US" sz="1300" b="1" kern="0" spc="300" dirty="0">
                <a:solidFill>
                  <a:schemeClr val="accent2"/>
                </a:solidFill>
              </a:rPr>
              <a:t>ВЫВОД</a:t>
            </a:r>
            <a:endParaRPr lang="en-US" sz="1300" dirty="0"/>
          </a:p>
        </p:txBody>
      </p:sp>
      <p:sp>
        <p:nvSpPr>
          <p:cNvPr id="31" name="@fade:16|Result"/>
          <p:cNvSpPr txBox="1"/>
          <p:nvPr/>
        </p:nvSpPr>
        <p:spPr>
          <a:xfrm>
            <a:off x="8549640" y="3611880"/>
            <a:ext cx="2834640" cy="1005840"/>
          </a:xfrm>
          <a:prstGeom prst="rect">
            <a:avLst/>
          </a:prstGeom>
          <a:noFill/>
          <a:ln/>
        </p:spPr>
        <p:txBody>
          <a:bodyPr wrap="square" lIns="0" tIns="0" rIns="0" bIns="0" rtlCol="0" anchor="t"/>
          <a:lstStyle/>
          <a:p>
            <a:pPr marL="0" indent="0">
              <a:buNone/>
            </a:pPr>
            <a:r>
              <a:rPr lang="en-US" sz="3200" b="1" dirty="0">
                <a:solidFill>
                  <a:schemeClr val="bg1"/>
                </a:solidFill>
              </a:rPr>
              <a:t>Им это актуально</a:t>
            </a:r>
            <a:endParaRPr lang="en-US" sz="3200" dirty="0"/>
          </a:p>
        </p:txBody>
      </p:sp>
      <p:sp>
        <p:nvSpPr>
          <p:cNvPr id="32" name="@fade:16|Result text"/>
          <p:cNvSpPr txBox="1"/>
          <p:nvPr/>
        </p:nvSpPr>
        <p:spPr>
          <a:xfrm>
            <a:off x="8549640" y="4663440"/>
            <a:ext cx="2880360" cy="1097280"/>
          </a:xfrm>
          <a:prstGeom prst="rect">
            <a:avLst/>
          </a:prstGeom>
          <a:noFill/>
          <a:ln/>
        </p:spPr>
        <p:txBody>
          <a:bodyPr wrap="square" lIns="0" tIns="0" rIns="0" bIns="0" rtlCol="0" anchor="t"/>
          <a:lstStyle/>
          <a:p>
            <a:pPr marL="0" indent="0">
              <a:buNone/>
            </a:pPr>
            <a:r>
              <a:rPr lang="en-US" sz="1500" dirty="0">
                <a:solidFill>
                  <a:srgbClr val="E9D3DB"/>
                </a:solidFill>
              </a:rPr>
              <a:t>Администраторы чатов подключаются к Mesto как организаторы: их анкеты и чаты появляются в каталоге.</a:t>
            </a:r>
            <a:endParaRPr lang="en-US" sz="1500" dirty="0"/>
          </a:p>
        </p:txBody>
      </p:sp>
      <p:sp>
        <p:nvSpPr>
          <p:cNvPr id="33"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8</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36"/>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36"/>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36"/>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6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6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6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72"/>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72"/>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72"/>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96"/>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96"/>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nodeType="withEffect">
                                  <p:stCondLst>
                                    <p:cond delay="96"/>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96"/>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108"/>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108"/>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108"/>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132"/>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par>
                                <p:cTn id="68" presetID="10" presetClass="entr" presetSubtype="0" fill="hold" nodeType="withEffect">
                                  <p:stCondLst>
                                    <p:cond delay="132"/>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00"/>
                                        <p:tgtEl>
                                          <p:spTgt spid="24"/>
                                        </p:tgtEl>
                                      </p:cBhvr>
                                    </p:animEffect>
                                  </p:childTnLst>
                                </p:cTn>
                              </p:par>
                              <p:par>
                                <p:cTn id="71" presetID="10" presetClass="entr" presetSubtype="0" fill="hold" nodeType="withEffect">
                                  <p:stCondLst>
                                    <p:cond delay="132"/>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132"/>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168"/>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192"/>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200"/>
                                        <p:tgtEl>
                                          <p:spTgt spid="28"/>
                                        </p:tgtEl>
                                      </p:cBhvr>
                                    </p:animEffect>
                                  </p:childTnLst>
                                </p:cTn>
                              </p:par>
                              <p:par>
                                <p:cTn id="83" presetID="10" presetClass="entr" presetSubtype="0" fill="hold" nodeType="withEffect">
                                  <p:stCondLst>
                                    <p:cond delay="192"/>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200"/>
                                        <p:tgtEl>
                                          <p:spTgt spid="29"/>
                                        </p:tgtEl>
                                      </p:cBhvr>
                                    </p:animEffect>
                                  </p:childTnLst>
                                </p:cTn>
                              </p:par>
                              <p:par>
                                <p:cTn id="86" presetID="10" presetClass="entr" presetSubtype="0" fill="hold" nodeType="withEffect">
                                  <p:stCondLst>
                                    <p:cond delay="192"/>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200"/>
                                        <p:tgtEl>
                                          <p:spTgt spid="30"/>
                                        </p:tgtEl>
                                      </p:cBhvr>
                                    </p:animEffect>
                                  </p:childTnLst>
                                </p:cTn>
                              </p:par>
                              <p:par>
                                <p:cTn id="89" presetID="10" presetClass="entr" presetSubtype="0" fill="hold" nodeType="withEffect">
                                  <p:stCondLst>
                                    <p:cond delay="192"/>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200"/>
                                        <p:tgtEl>
                                          <p:spTgt spid="31"/>
                                        </p:tgtEl>
                                      </p:cBhvr>
                                    </p:animEffect>
                                  </p:childTnLst>
                                </p:cTn>
                              </p:par>
                              <p:par>
                                <p:cTn id="92" presetID="10" presetClass="entr" presetSubtype="0" fill="hold" nodeType="withEffect">
                                  <p:stCondLst>
                                    <p:cond delay="192"/>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2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fade:0|Pill"/>
          <p:cNvSpPr/>
          <p:nvPr/>
        </p:nvSpPr>
        <p:spPr>
          <a:xfrm>
            <a:off x="548640" y="411480"/>
            <a:ext cx="2677363" cy="329184"/>
          </a:xfrm>
          <a:prstGeom prst="roundRect">
            <a:avLst>
              <a:gd name="adj" fmla="val 50000"/>
            </a:avLst>
          </a:prstGeom>
          <a:solidFill>
            <a:srgbClr val="7CC4FF"/>
          </a:solidFill>
          <a:ln/>
        </p:spPr>
      </p:sp>
      <p:sp>
        <p:nvSpPr>
          <p:cNvPr id="3" name="@fade:0|Pill text"/>
          <p:cNvSpPr txBox="1"/>
          <p:nvPr/>
        </p:nvSpPr>
        <p:spPr>
          <a:xfrm>
            <a:off x="548640" y="411480"/>
            <a:ext cx="2677363"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СЦЕНАРИЙ ПОЛЬЗОВАТЕЛЯ</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Как человек выбирает занятие</a:t>
            </a:r>
            <a:endParaRPr lang="en-US" sz="4000" dirty="0"/>
          </a:p>
        </p:txBody>
      </p:sp>
      <p:sp>
        <p:nvSpPr>
          <p:cNvPr id="5" name="@rise:2|Step card"/>
          <p:cNvSpPr/>
          <p:nvPr/>
        </p:nvSpPr>
        <p:spPr>
          <a:xfrm>
            <a:off x="548640" y="1920240"/>
            <a:ext cx="3291840" cy="3154680"/>
          </a:xfrm>
          <a:prstGeom prst="roundRect">
            <a:avLst>
              <a:gd name="adj" fmla="val 8696"/>
            </a:avLst>
          </a:prstGeom>
          <a:solidFill>
            <a:srgbClr val="D2F3E6"/>
          </a:solidFill>
          <a:ln/>
        </p:spPr>
      </p:sp>
      <p:sp>
        <p:nvSpPr>
          <p:cNvPr id="6" name="@fade:4|Number bg"/>
          <p:cNvSpPr/>
          <p:nvPr/>
        </p:nvSpPr>
        <p:spPr>
          <a:xfrm>
            <a:off x="859536" y="2276856"/>
            <a:ext cx="566928" cy="566928"/>
          </a:xfrm>
          <a:prstGeom prst="ellipse">
            <a:avLst/>
          </a:prstGeom>
          <a:solidFill>
            <a:srgbClr val="8B1E3F"/>
          </a:solidFill>
          <a:ln/>
        </p:spPr>
      </p:sp>
      <p:sp>
        <p:nvSpPr>
          <p:cNvPr id="7" name="@fade:4|Number"/>
          <p:cNvSpPr txBox="1"/>
          <p:nvPr/>
        </p:nvSpPr>
        <p:spPr>
          <a:xfrm>
            <a:off x="859536" y="2276856"/>
            <a:ext cx="566928" cy="566928"/>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fade:4|Icon bg"/>
          <p:cNvSpPr/>
          <p:nvPr/>
        </p:nvSpPr>
        <p:spPr>
          <a:xfrm>
            <a:off x="2720340" y="2171700"/>
            <a:ext cx="777240" cy="777240"/>
          </a:xfrm>
          <a:prstGeom prst="ellipse">
            <a:avLst/>
          </a:prstGeom>
          <a:solidFill>
            <a:srgbClr val="FFFFFF"/>
          </a:solidFill>
          <a:ln/>
        </p:spPr>
      </p:sp>
      <p:pic>
        <p:nvPicPr>
          <p:cNvPr id="9" name="@fade:4|Icon" descr="Icon"/>
          <p:cNvPicPr>
            <a:picLocks noChangeAspect="1"/>
          </p:cNvPicPr>
          <p:nvPr/>
        </p:nvPicPr>
        <p:blipFill>
          <a:blip r:embed="rId3"/>
          <a:stretch>
            <a:fillRect/>
          </a:stretch>
        </p:blipFill>
        <p:spPr>
          <a:xfrm>
            <a:off x="2906878" y="2358238"/>
            <a:ext cx="404165" cy="404165"/>
          </a:xfrm>
          <a:prstGeom prst="rect">
            <a:avLst/>
          </a:prstGeom>
        </p:spPr>
      </p:pic>
      <p:sp>
        <p:nvSpPr>
          <p:cNvPr id="10" name="@fade:4|Title"/>
          <p:cNvSpPr txBox="1"/>
          <p:nvPr/>
        </p:nvSpPr>
        <p:spPr>
          <a:xfrm>
            <a:off x="868680" y="3154680"/>
            <a:ext cx="2651760" cy="457200"/>
          </a:xfrm>
          <a:prstGeom prst="rect">
            <a:avLst/>
          </a:prstGeom>
          <a:noFill/>
          <a:ln/>
        </p:spPr>
        <p:txBody>
          <a:bodyPr wrap="square" lIns="0" tIns="0" rIns="0" bIns="0" rtlCol="0" anchor="t"/>
          <a:lstStyle/>
          <a:p>
            <a:pPr marL="0" indent="0">
              <a:buNone/>
            </a:pPr>
            <a:r>
              <a:rPr lang="en-US" sz="2500" b="1" dirty="0">
                <a:solidFill>
                  <a:schemeClr val="tx1"/>
                </a:solidFill>
              </a:rPr>
              <a:t>Указать условия</a:t>
            </a:r>
            <a:endParaRPr lang="en-US" sz="2500" dirty="0"/>
          </a:p>
        </p:txBody>
      </p:sp>
      <p:sp>
        <p:nvSpPr>
          <p:cNvPr id="11" name="@fade:4|List"/>
          <p:cNvSpPr txBox="1"/>
          <p:nvPr/>
        </p:nvSpPr>
        <p:spPr>
          <a:xfrm>
            <a:off x="868680" y="3749040"/>
            <a:ext cx="2651760" cy="11887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Возраст и интересы</a:t>
            </a:r>
            <a:endParaRPr lang="en-US" sz="1800" dirty="0"/>
          </a:p>
          <a:p>
            <a:pPr marL="342900" indent="-342900">
              <a:spcAft>
                <a:spcPts val="600"/>
              </a:spcAft>
              <a:buSzPct val="100000"/>
              <a:buChar char="•"/>
            </a:pPr>
            <a:r>
              <a:rPr lang="en-US" sz="1800" dirty="0">
                <a:solidFill>
                  <a:schemeClr val="tx1"/>
                </a:solidFill>
              </a:rPr>
              <a:t>Бюджет</a:t>
            </a:r>
            <a:endParaRPr lang="en-US" sz="1800" dirty="0"/>
          </a:p>
          <a:p>
            <a:pPr marL="342900" indent="-342900">
              <a:spcAft>
                <a:spcPts val="600"/>
              </a:spcAft>
              <a:buSzPct val="100000"/>
              <a:buChar char="•"/>
            </a:pPr>
            <a:r>
              <a:rPr lang="en-US" sz="1800" dirty="0">
                <a:solidFill>
                  <a:schemeClr val="tx1"/>
                </a:solidFill>
              </a:rPr>
              <a:t>Дни и время</a:t>
            </a:r>
            <a:endParaRPr lang="en-US" sz="1800" dirty="0"/>
          </a:p>
        </p:txBody>
      </p:sp>
      <p:sp>
        <p:nvSpPr>
          <p:cNvPr id="12" name="@pop:6|Arrow bg"/>
          <p:cNvSpPr/>
          <p:nvPr/>
        </p:nvSpPr>
        <p:spPr>
          <a:xfrm>
            <a:off x="3893744" y="3223260"/>
            <a:ext cx="502920" cy="502920"/>
          </a:xfrm>
          <a:prstGeom prst="ellipse">
            <a:avLst/>
          </a:prstGeom>
          <a:solidFill>
            <a:srgbClr val="FF6B5E"/>
          </a:solidFill>
          <a:ln/>
        </p:spPr>
      </p:sp>
      <p:pic>
        <p:nvPicPr>
          <p:cNvPr id="13" name="@pop:6|Arrow" descr="Arrow"/>
          <p:cNvPicPr>
            <a:picLocks noChangeAspect="1"/>
          </p:cNvPicPr>
          <p:nvPr/>
        </p:nvPicPr>
        <p:blipFill>
          <a:blip r:embed="rId4"/>
          <a:stretch>
            <a:fillRect/>
          </a:stretch>
        </p:blipFill>
        <p:spPr>
          <a:xfrm>
            <a:off x="4014445" y="3343961"/>
            <a:ext cx="261518" cy="261518"/>
          </a:xfrm>
          <a:prstGeom prst="rect">
            <a:avLst/>
          </a:prstGeom>
        </p:spPr>
      </p:pic>
      <p:sp>
        <p:nvSpPr>
          <p:cNvPr id="14" name="@rise:6|Step card"/>
          <p:cNvSpPr/>
          <p:nvPr/>
        </p:nvSpPr>
        <p:spPr>
          <a:xfrm>
            <a:off x="4449928" y="1920240"/>
            <a:ext cx="3291840" cy="3154680"/>
          </a:xfrm>
          <a:prstGeom prst="roundRect">
            <a:avLst>
              <a:gd name="adj" fmla="val 8696"/>
            </a:avLst>
          </a:prstGeom>
          <a:solidFill>
            <a:srgbClr val="FFEFBF"/>
          </a:solidFill>
          <a:ln/>
        </p:spPr>
      </p:sp>
      <p:sp>
        <p:nvSpPr>
          <p:cNvPr id="15" name="@fade:8|Number bg"/>
          <p:cNvSpPr/>
          <p:nvPr/>
        </p:nvSpPr>
        <p:spPr>
          <a:xfrm>
            <a:off x="4760824" y="2276856"/>
            <a:ext cx="566928" cy="566928"/>
          </a:xfrm>
          <a:prstGeom prst="ellipse">
            <a:avLst/>
          </a:prstGeom>
          <a:solidFill>
            <a:srgbClr val="8B1E3F"/>
          </a:solidFill>
          <a:ln/>
        </p:spPr>
      </p:sp>
      <p:sp>
        <p:nvSpPr>
          <p:cNvPr id="16" name="@fade:8|Number"/>
          <p:cNvSpPr txBox="1"/>
          <p:nvPr/>
        </p:nvSpPr>
        <p:spPr>
          <a:xfrm>
            <a:off x="4760824" y="2276856"/>
            <a:ext cx="566928" cy="566928"/>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7" name="@fade:8|Icon bg"/>
          <p:cNvSpPr/>
          <p:nvPr/>
        </p:nvSpPr>
        <p:spPr>
          <a:xfrm>
            <a:off x="6621628" y="2171700"/>
            <a:ext cx="777240" cy="777240"/>
          </a:xfrm>
          <a:prstGeom prst="ellipse">
            <a:avLst/>
          </a:prstGeom>
          <a:solidFill>
            <a:srgbClr val="FFFFFF"/>
          </a:solidFill>
          <a:ln/>
        </p:spPr>
      </p:sp>
      <p:pic>
        <p:nvPicPr>
          <p:cNvPr id="18" name="@fade:8|Icon" descr="Icon"/>
          <p:cNvPicPr>
            <a:picLocks noChangeAspect="1"/>
          </p:cNvPicPr>
          <p:nvPr/>
        </p:nvPicPr>
        <p:blipFill>
          <a:blip r:embed="rId5"/>
          <a:stretch>
            <a:fillRect/>
          </a:stretch>
        </p:blipFill>
        <p:spPr>
          <a:xfrm>
            <a:off x="6808165" y="2358238"/>
            <a:ext cx="404165" cy="404165"/>
          </a:xfrm>
          <a:prstGeom prst="rect">
            <a:avLst/>
          </a:prstGeom>
        </p:spPr>
      </p:pic>
      <p:sp>
        <p:nvSpPr>
          <p:cNvPr id="19" name="@fade:8|Title"/>
          <p:cNvSpPr txBox="1"/>
          <p:nvPr/>
        </p:nvSpPr>
        <p:spPr>
          <a:xfrm>
            <a:off x="4769968" y="3154680"/>
            <a:ext cx="2651760" cy="457200"/>
          </a:xfrm>
          <a:prstGeom prst="rect">
            <a:avLst/>
          </a:prstGeom>
          <a:noFill/>
          <a:ln/>
        </p:spPr>
        <p:txBody>
          <a:bodyPr wrap="square" lIns="0" tIns="0" rIns="0" bIns="0" rtlCol="0" anchor="t"/>
          <a:lstStyle/>
          <a:p>
            <a:pPr marL="0" indent="0">
              <a:buNone/>
            </a:pPr>
            <a:r>
              <a:rPr lang="en-US" sz="2500" b="1" dirty="0">
                <a:solidFill>
                  <a:schemeClr val="tx1"/>
                </a:solidFill>
              </a:rPr>
              <a:t>Найти варианты</a:t>
            </a:r>
            <a:endParaRPr lang="en-US" sz="2500" dirty="0"/>
          </a:p>
        </p:txBody>
      </p:sp>
      <p:sp>
        <p:nvSpPr>
          <p:cNvPr id="20" name="@fade:8|List"/>
          <p:cNvSpPr txBox="1"/>
          <p:nvPr/>
        </p:nvSpPr>
        <p:spPr>
          <a:xfrm>
            <a:off x="4769968" y="3749040"/>
            <a:ext cx="2651760" cy="11887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Подходящие занятия</a:t>
            </a:r>
            <a:endParaRPr lang="en-US" sz="1800" dirty="0"/>
          </a:p>
          <a:p>
            <a:pPr marL="342900" indent="-342900">
              <a:spcAft>
                <a:spcPts val="600"/>
              </a:spcAft>
              <a:buSzPct val="100000"/>
              <a:buChar char="•"/>
            </a:pPr>
            <a:r>
              <a:rPr lang="en-US" sz="1800" dirty="0">
                <a:solidFill>
                  <a:schemeClr val="tx1"/>
                </a:solidFill>
              </a:rPr>
              <a:t>Цена и расписание</a:t>
            </a:r>
            <a:endParaRPr lang="en-US" sz="1800" dirty="0"/>
          </a:p>
          <a:p>
            <a:pPr marL="342900" indent="-342900">
              <a:spcAft>
                <a:spcPts val="600"/>
              </a:spcAft>
              <a:buSzPct val="100000"/>
              <a:buChar char="•"/>
            </a:pPr>
            <a:r>
              <a:rPr lang="en-US" sz="1800" dirty="0">
                <a:solidFill>
                  <a:schemeClr val="tx1"/>
                </a:solidFill>
              </a:rPr>
              <a:t>События на карте</a:t>
            </a:r>
            <a:endParaRPr lang="en-US" sz="1800" dirty="0"/>
          </a:p>
        </p:txBody>
      </p:sp>
      <p:sp>
        <p:nvSpPr>
          <p:cNvPr id="21" name="@pop:10|Arrow bg"/>
          <p:cNvSpPr/>
          <p:nvPr/>
        </p:nvSpPr>
        <p:spPr>
          <a:xfrm>
            <a:off x="7795031" y="3223260"/>
            <a:ext cx="502920" cy="502920"/>
          </a:xfrm>
          <a:prstGeom prst="ellipse">
            <a:avLst/>
          </a:prstGeom>
          <a:solidFill>
            <a:srgbClr val="FF6B5E"/>
          </a:solidFill>
          <a:ln/>
        </p:spPr>
      </p:sp>
      <p:pic>
        <p:nvPicPr>
          <p:cNvPr id="22" name="@pop:10|Arrow" descr="Arrow"/>
          <p:cNvPicPr>
            <a:picLocks noChangeAspect="1"/>
          </p:cNvPicPr>
          <p:nvPr/>
        </p:nvPicPr>
        <p:blipFill>
          <a:blip r:embed="rId4"/>
          <a:stretch>
            <a:fillRect/>
          </a:stretch>
        </p:blipFill>
        <p:spPr>
          <a:xfrm>
            <a:off x="7915732" y="3343961"/>
            <a:ext cx="261518" cy="261518"/>
          </a:xfrm>
          <a:prstGeom prst="rect">
            <a:avLst/>
          </a:prstGeom>
        </p:spPr>
      </p:pic>
      <p:sp>
        <p:nvSpPr>
          <p:cNvPr id="23" name="@rise:10|Step card"/>
          <p:cNvSpPr/>
          <p:nvPr/>
        </p:nvSpPr>
        <p:spPr>
          <a:xfrm>
            <a:off x="8351215" y="1920240"/>
            <a:ext cx="3291840" cy="3154680"/>
          </a:xfrm>
          <a:prstGeom prst="roundRect">
            <a:avLst>
              <a:gd name="adj" fmla="val 8696"/>
            </a:avLst>
          </a:prstGeom>
          <a:solidFill>
            <a:srgbClr val="FFDCD6"/>
          </a:solidFill>
          <a:ln/>
        </p:spPr>
      </p:sp>
      <p:sp>
        <p:nvSpPr>
          <p:cNvPr id="24" name="@fade:12|Number bg"/>
          <p:cNvSpPr/>
          <p:nvPr/>
        </p:nvSpPr>
        <p:spPr>
          <a:xfrm>
            <a:off x="8662111" y="2276856"/>
            <a:ext cx="566928" cy="566928"/>
          </a:xfrm>
          <a:prstGeom prst="ellipse">
            <a:avLst/>
          </a:prstGeom>
          <a:solidFill>
            <a:srgbClr val="8B1E3F"/>
          </a:solidFill>
          <a:ln/>
        </p:spPr>
      </p:sp>
      <p:sp>
        <p:nvSpPr>
          <p:cNvPr id="25" name="@fade:12|Number"/>
          <p:cNvSpPr txBox="1"/>
          <p:nvPr/>
        </p:nvSpPr>
        <p:spPr>
          <a:xfrm>
            <a:off x="8662111" y="2276856"/>
            <a:ext cx="566928" cy="566928"/>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26" name="@fade:12|Icon bg"/>
          <p:cNvSpPr/>
          <p:nvPr/>
        </p:nvSpPr>
        <p:spPr>
          <a:xfrm>
            <a:off x="10522915" y="2171700"/>
            <a:ext cx="777240" cy="777240"/>
          </a:xfrm>
          <a:prstGeom prst="ellipse">
            <a:avLst/>
          </a:prstGeom>
          <a:solidFill>
            <a:srgbClr val="FFFFFF"/>
          </a:solidFill>
          <a:ln/>
        </p:spPr>
      </p:sp>
      <p:pic>
        <p:nvPicPr>
          <p:cNvPr id="27" name="@fade:12|Icon" descr="Icon"/>
          <p:cNvPicPr>
            <a:picLocks noChangeAspect="1"/>
          </p:cNvPicPr>
          <p:nvPr/>
        </p:nvPicPr>
        <p:blipFill>
          <a:blip r:embed="rId6"/>
          <a:stretch>
            <a:fillRect/>
          </a:stretch>
        </p:blipFill>
        <p:spPr>
          <a:xfrm>
            <a:off x="10709453" y="2358238"/>
            <a:ext cx="404165" cy="404165"/>
          </a:xfrm>
          <a:prstGeom prst="rect">
            <a:avLst/>
          </a:prstGeom>
        </p:spPr>
      </p:pic>
      <p:sp>
        <p:nvSpPr>
          <p:cNvPr id="28" name="@fade:12|Title"/>
          <p:cNvSpPr txBox="1"/>
          <p:nvPr/>
        </p:nvSpPr>
        <p:spPr>
          <a:xfrm>
            <a:off x="8671255" y="3154680"/>
            <a:ext cx="2651760" cy="457200"/>
          </a:xfrm>
          <a:prstGeom prst="rect">
            <a:avLst/>
          </a:prstGeom>
          <a:noFill/>
          <a:ln/>
        </p:spPr>
        <p:txBody>
          <a:bodyPr wrap="square" lIns="0" tIns="0" rIns="0" bIns="0" rtlCol="0" anchor="t"/>
          <a:lstStyle/>
          <a:p>
            <a:pPr marL="0" indent="0">
              <a:buNone/>
            </a:pPr>
            <a:r>
              <a:rPr lang="en-US" sz="2500" b="1" dirty="0">
                <a:solidFill>
                  <a:schemeClr val="tx1"/>
                </a:solidFill>
              </a:rPr>
              <a:t>Записаться</a:t>
            </a:r>
            <a:endParaRPr lang="en-US" sz="2500" dirty="0"/>
          </a:p>
        </p:txBody>
      </p:sp>
      <p:sp>
        <p:nvSpPr>
          <p:cNvPr id="29" name="@fade:12|List"/>
          <p:cNvSpPr txBox="1"/>
          <p:nvPr/>
        </p:nvSpPr>
        <p:spPr>
          <a:xfrm>
            <a:off x="8671255" y="3749040"/>
            <a:ext cx="2651760" cy="11887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Сравнить варианты</a:t>
            </a:r>
            <a:endParaRPr lang="en-US" sz="1800" dirty="0"/>
          </a:p>
          <a:p>
            <a:pPr marL="342900" indent="-342900">
              <a:spcAft>
                <a:spcPts val="600"/>
              </a:spcAft>
              <a:buSzPct val="100000"/>
              <a:buChar char="•"/>
            </a:pPr>
            <a:r>
              <a:rPr lang="en-US" sz="1800" dirty="0">
                <a:solidFill>
                  <a:schemeClr val="tx1"/>
                </a:solidFill>
              </a:rPr>
              <a:t>Выбрать ближе к дому</a:t>
            </a:r>
            <a:endParaRPr lang="en-US" sz="1800" dirty="0"/>
          </a:p>
          <a:p>
            <a:pPr marL="342900" indent="-342900">
              <a:spcAft>
                <a:spcPts val="600"/>
              </a:spcAft>
              <a:buSzPct val="100000"/>
              <a:buChar char="•"/>
            </a:pPr>
            <a:r>
              <a:rPr lang="en-US" sz="1800" dirty="0">
                <a:solidFill>
                  <a:schemeClr val="tx1"/>
                </a:solidFill>
              </a:rPr>
              <a:t>Записаться</a:t>
            </a:r>
            <a:endParaRPr lang="en-US" sz="1800" dirty="0"/>
          </a:p>
        </p:txBody>
      </p:sp>
      <p:sp>
        <p:nvSpPr>
          <p:cNvPr id="30" name="@rise:15|Goal bar"/>
          <p:cNvSpPr/>
          <p:nvPr/>
        </p:nvSpPr>
        <p:spPr>
          <a:xfrm>
            <a:off x="548640" y="5303520"/>
            <a:ext cx="11094415" cy="987552"/>
          </a:xfrm>
          <a:prstGeom prst="roundRect">
            <a:avLst>
              <a:gd name="adj" fmla="val 37037"/>
            </a:avLst>
          </a:prstGeom>
          <a:solidFill>
            <a:srgbClr val="8B1E3F"/>
          </a:solidFill>
          <a:ln/>
        </p:spPr>
      </p:sp>
      <p:sp>
        <p:nvSpPr>
          <p:cNvPr id="31" name="@fade:17|Stopwatch bg"/>
          <p:cNvSpPr/>
          <p:nvPr/>
        </p:nvSpPr>
        <p:spPr>
          <a:xfrm>
            <a:off x="877824" y="5440680"/>
            <a:ext cx="713232" cy="713232"/>
          </a:xfrm>
          <a:prstGeom prst="ellipse">
            <a:avLst/>
          </a:prstGeom>
          <a:solidFill>
            <a:srgbClr val="FFC94A"/>
          </a:solidFill>
          <a:ln/>
        </p:spPr>
      </p:sp>
      <p:pic>
        <p:nvPicPr>
          <p:cNvPr id="32" name="@fade:17|Stopwatch" descr="Stopwatch"/>
          <p:cNvPicPr>
            <a:picLocks noChangeAspect="1"/>
          </p:cNvPicPr>
          <p:nvPr/>
        </p:nvPicPr>
        <p:blipFill>
          <a:blip r:embed="rId7"/>
          <a:stretch>
            <a:fillRect/>
          </a:stretch>
        </p:blipFill>
        <p:spPr>
          <a:xfrm>
            <a:off x="1049000" y="5611856"/>
            <a:ext cx="370881" cy="370881"/>
          </a:xfrm>
          <a:prstGeom prst="rect">
            <a:avLst/>
          </a:prstGeom>
        </p:spPr>
      </p:pic>
      <p:sp>
        <p:nvSpPr>
          <p:cNvPr id="33" name="@fade:17|Goal"/>
          <p:cNvSpPr txBox="1"/>
          <p:nvPr/>
        </p:nvSpPr>
        <p:spPr>
          <a:xfrm>
            <a:off x="1828800" y="5303520"/>
            <a:ext cx="5120640" cy="987552"/>
          </a:xfrm>
          <a:prstGeom prst="rect">
            <a:avLst/>
          </a:prstGeom>
          <a:noFill/>
          <a:ln/>
        </p:spPr>
        <p:txBody>
          <a:bodyPr wrap="square" lIns="0" tIns="0" rIns="0" bIns="0" rtlCol="0" anchor="ctr"/>
          <a:lstStyle/>
          <a:p>
            <a:pPr marL="0" indent="0">
              <a:buNone/>
            </a:pPr>
            <a:r>
              <a:rPr lang="en-US" sz="2800" b="1" dirty="0">
                <a:solidFill>
                  <a:schemeClr val="bg1"/>
                </a:solidFill>
              </a:rPr>
              <a:t>Цель: выбор за 4–5 минут</a:t>
            </a:r>
            <a:endParaRPr lang="en-US" sz="2800" dirty="0"/>
          </a:p>
        </p:txBody>
      </p:sp>
      <p:sp>
        <p:nvSpPr>
          <p:cNvPr id="34" name="@fade:17|Goal note"/>
          <p:cNvSpPr txBox="1"/>
          <p:nvPr/>
        </p:nvSpPr>
        <p:spPr>
          <a:xfrm>
            <a:off x="7315200" y="5303520"/>
            <a:ext cx="4069080" cy="987552"/>
          </a:xfrm>
          <a:prstGeom prst="rect">
            <a:avLst/>
          </a:prstGeom>
          <a:noFill/>
          <a:ln/>
        </p:spPr>
        <p:txBody>
          <a:bodyPr wrap="square" lIns="0" tIns="0" rIns="0" bIns="0" rtlCol="0" anchor="ctr"/>
          <a:lstStyle/>
          <a:p>
            <a:pPr marL="0" indent="0">
              <a:buNone/>
            </a:pPr>
            <a:r>
              <a:rPr lang="en-US" sz="1700" dirty="0">
                <a:solidFill>
                  <a:srgbClr val="E9D3DB"/>
                </a:solidFill>
              </a:rPr>
              <a:t>Подбор из базы данных. ИИ рассматриваем как дополнение.</a:t>
            </a:r>
            <a:endParaRPr lang="en-US" sz="1700" dirty="0"/>
          </a:p>
        </p:txBody>
      </p:sp>
      <p:sp>
        <p:nvSpPr>
          <p:cNvPr id="35"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9</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4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48"/>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4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48"/>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48"/>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72"/>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72"/>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72"/>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96"/>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96"/>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96"/>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nodeType="withEffect">
                                  <p:stCondLst>
                                    <p:cond delay="96"/>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96"/>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96"/>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12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12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12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par>
                                <p:cTn id="68" presetID="10" presetClass="entr" presetSubtype="0" fill="hold" nodeType="withEffect">
                                  <p:stCondLst>
                                    <p:cond delay="144"/>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00"/>
                                        <p:tgtEl>
                                          <p:spTgt spid="24"/>
                                        </p:tgtEl>
                                      </p:cBhvr>
                                    </p:animEffect>
                                  </p:childTnLst>
                                </p:cTn>
                              </p:par>
                              <p:par>
                                <p:cTn id="71" presetID="10" presetClass="entr" presetSubtype="0" fill="hold" nodeType="withEffect">
                                  <p:stCondLst>
                                    <p:cond delay="144"/>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144"/>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144"/>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144"/>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200"/>
                                        <p:tgtEl>
                                          <p:spTgt spid="28"/>
                                        </p:tgtEl>
                                      </p:cBhvr>
                                    </p:animEffect>
                                  </p:childTnLst>
                                </p:cTn>
                              </p:par>
                              <p:par>
                                <p:cTn id="83" presetID="10" presetClass="entr" presetSubtype="0" fill="hold" nodeType="withEffect">
                                  <p:stCondLst>
                                    <p:cond delay="144"/>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200"/>
                                        <p:tgtEl>
                                          <p:spTgt spid="29"/>
                                        </p:tgtEl>
                                      </p:cBhvr>
                                    </p:animEffect>
                                  </p:childTnLst>
                                </p:cTn>
                              </p:par>
                              <p:par>
                                <p:cTn id="86" presetID="10" presetClass="entr" presetSubtype="0" fill="hold" nodeType="withEffect">
                                  <p:stCondLst>
                                    <p:cond delay="18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200"/>
                                        <p:tgtEl>
                                          <p:spTgt spid="30"/>
                                        </p:tgtEl>
                                      </p:cBhvr>
                                    </p:animEffect>
                                  </p:childTnLst>
                                </p:cTn>
                              </p:par>
                              <p:par>
                                <p:cTn id="89" presetID="10" presetClass="entr" presetSubtype="0" fill="hold" nodeType="withEffect">
                                  <p:stCondLst>
                                    <p:cond delay="204"/>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200"/>
                                        <p:tgtEl>
                                          <p:spTgt spid="31"/>
                                        </p:tgtEl>
                                      </p:cBhvr>
                                    </p:animEffect>
                                  </p:childTnLst>
                                </p:cTn>
                              </p:par>
                              <p:par>
                                <p:cTn id="92" presetID="10" presetClass="entr" presetSubtype="0" fill="hold" nodeType="withEffect">
                                  <p:stCondLst>
                                    <p:cond delay="204"/>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200"/>
                                        <p:tgtEl>
                                          <p:spTgt spid="32"/>
                                        </p:tgtEl>
                                      </p:cBhvr>
                                    </p:animEffect>
                                  </p:childTnLst>
                                </p:cTn>
                              </p:par>
                              <p:par>
                                <p:cTn id="95" presetID="10" presetClass="entr" presetSubtype="0" fill="hold" nodeType="withEffect">
                                  <p:stCondLst>
                                    <p:cond delay="204"/>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200"/>
                                        <p:tgtEl>
                                          <p:spTgt spid="33"/>
                                        </p:tgtEl>
                                      </p:cBhvr>
                                    </p:animEffect>
                                  </p:childTnLst>
                                </p:cTn>
                              </p:par>
                              <p:par>
                                <p:cTn id="98" presetID="10" presetClass="entr" presetSubtype="0" fill="hold" nodeType="withEffect">
                                  <p:stCondLst>
                                    <p:cond delay="204"/>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2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fade:0|Pill"/>
          <p:cNvSpPr/>
          <p:nvPr/>
        </p:nvSpPr>
        <p:spPr>
          <a:xfrm>
            <a:off x="548640" y="411480"/>
            <a:ext cx="3324758" cy="329184"/>
          </a:xfrm>
          <a:prstGeom prst="roundRect">
            <a:avLst>
              <a:gd name="adj" fmla="val 50000"/>
            </a:avLst>
          </a:prstGeom>
          <a:solidFill>
            <a:srgbClr val="F7A8C0"/>
          </a:solidFill>
          <a:ln/>
        </p:spPr>
      </p:sp>
      <p:sp>
        <p:nvSpPr>
          <p:cNvPr id="3" name="@fade:0|Pill text"/>
          <p:cNvSpPr txBox="1"/>
          <p:nvPr/>
        </p:nvSpPr>
        <p:spPr>
          <a:xfrm>
            <a:off x="548640" y="411480"/>
            <a:ext cx="3324758"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ПРОФИЛИ БЕЗ ОБЩЕГО РЕЙТИНГА</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Спортивный профиль</a:t>
            </a:r>
            <a:endParaRPr lang="en-US" sz="4000" dirty="0"/>
          </a:p>
        </p:txBody>
      </p:sp>
      <p:sp>
        <p:nvSpPr>
          <p:cNvPr id="5" name="@rise:2|Profile card"/>
          <p:cNvSpPr/>
          <p:nvPr/>
        </p:nvSpPr>
        <p:spPr>
          <a:xfrm>
            <a:off x="548640" y="1920240"/>
            <a:ext cx="3566160" cy="3383280"/>
          </a:xfrm>
          <a:prstGeom prst="roundRect">
            <a:avLst>
              <a:gd name="adj" fmla="val 8108"/>
            </a:avLst>
          </a:prstGeom>
          <a:solidFill>
            <a:srgbClr val="E5DEFF"/>
          </a:solidFill>
          <a:ln/>
        </p:spPr>
      </p:sp>
      <p:sp>
        <p:nvSpPr>
          <p:cNvPr id="6" name="@fade:4|Icon bg"/>
          <p:cNvSpPr/>
          <p:nvPr/>
        </p:nvSpPr>
        <p:spPr>
          <a:xfrm>
            <a:off x="868680" y="2240280"/>
            <a:ext cx="914400" cy="914400"/>
          </a:xfrm>
          <a:prstGeom prst="ellipse">
            <a:avLst/>
          </a:prstGeom>
          <a:solidFill>
            <a:srgbClr val="8B1E3F"/>
          </a:solidFill>
          <a:ln/>
        </p:spPr>
      </p:sp>
      <p:pic>
        <p:nvPicPr>
          <p:cNvPr id="7" name="@fade:4|Icon" descr="Icon"/>
          <p:cNvPicPr>
            <a:picLocks noChangeAspect="1"/>
          </p:cNvPicPr>
          <p:nvPr/>
        </p:nvPicPr>
        <p:blipFill>
          <a:blip r:embed="rId3"/>
          <a:stretch>
            <a:fillRect/>
          </a:stretch>
        </p:blipFill>
        <p:spPr>
          <a:xfrm>
            <a:off x="1088136" y="2459736"/>
            <a:ext cx="475488" cy="475488"/>
          </a:xfrm>
          <a:prstGeom prst="rect">
            <a:avLst/>
          </a:prstGeom>
        </p:spPr>
      </p:pic>
      <p:sp>
        <p:nvSpPr>
          <p:cNvPr id="8" name="@fade:4|Title"/>
          <p:cNvSpPr txBox="1"/>
          <p:nvPr/>
        </p:nvSpPr>
        <p:spPr>
          <a:xfrm>
            <a:off x="914400" y="3383280"/>
            <a:ext cx="2834640" cy="457200"/>
          </a:xfrm>
          <a:prstGeom prst="rect">
            <a:avLst/>
          </a:prstGeom>
          <a:noFill/>
          <a:ln/>
        </p:spPr>
        <p:txBody>
          <a:bodyPr wrap="square" lIns="0" tIns="0" rIns="0" bIns="0" rtlCol="0" anchor="t"/>
          <a:lstStyle/>
          <a:p>
            <a:pPr marL="0" indent="0">
              <a:buNone/>
            </a:pPr>
            <a:r>
              <a:rPr lang="en-US" sz="2700" b="1" dirty="0">
                <a:solidFill>
                  <a:schemeClr val="tx1"/>
                </a:solidFill>
              </a:rPr>
              <a:t>Участник</a:t>
            </a:r>
            <a:endParaRPr lang="en-US" sz="2700" dirty="0"/>
          </a:p>
        </p:txBody>
      </p:sp>
      <p:sp>
        <p:nvSpPr>
          <p:cNvPr id="9" name="@pop:6|Chip"/>
          <p:cNvSpPr/>
          <p:nvPr/>
        </p:nvSpPr>
        <p:spPr>
          <a:xfrm>
            <a:off x="914400" y="3931920"/>
            <a:ext cx="2834640" cy="365760"/>
          </a:xfrm>
          <a:prstGeom prst="roundRect">
            <a:avLst>
              <a:gd name="adj" fmla="val 50000"/>
            </a:avLst>
          </a:prstGeom>
          <a:solidFill>
            <a:srgbClr val="FFFFFF"/>
          </a:solidFill>
          <a:ln/>
        </p:spPr>
      </p:sp>
      <p:sp>
        <p:nvSpPr>
          <p:cNvPr id="10" name="@pop:6|Chip text"/>
          <p:cNvSpPr txBox="1"/>
          <p:nvPr/>
        </p:nvSpPr>
        <p:spPr>
          <a:xfrm>
            <a:off x="1097280" y="3931920"/>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О себе</a:t>
            </a:r>
            <a:endParaRPr lang="en-US" sz="1600" dirty="0"/>
          </a:p>
        </p:txBody>
      </p:sp>
      <p:sp>
        <p:nvSpPr>
          <p:cNvPr id="11" name="@pop:7|Chip"/>
          <p:cNvSpPr/>
          <p:nvPr/>
        </p:nvSpPr>
        <p:spPr>
          <a:xfrm>
            <a:off x="914400" y="4370832"/>
            <a:ext cx="2834640" cy="365760"/>
          </a:xfrm>
          <a:prstGeom prst="roundRect">
            <a:avLst>
              <a:gd name="adj" fmla="val 50000"/>
            </a:avLst>
          </a:prstGeom>
          <a:solidFill>
            <a:srgbClr val="FFFFFF"/>
          </a:solidFill>
          <a:ln/>
        </p:spPr>
      </p:sp>
      <p:sp>
        <p:nvSpPr>
          <p:cNvPr id="12" name="@pop:7|Chip text"/>
          <p:cNvSpPr txBox="1"/>
          <p:nvPr/>
        </p:nvSpPr>
        <p:spPr>
          <a:xfrm>
            <a:off x="1097280" y="4370832"/>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Спортивные интересы</a:t>
            </a:r>
            <a:endParaRPr lang="en-US" sz="1600" dirty="0"/>
          </a:p>
        </p:txBody>
      </p:sp>
      <p:sp>
        <p:nvSpPr>
          <p:cNvPr id="13" name="@pop:8|Chip"/>
          <p:cNvSpPr/>
          <p:nvPr/>
        </p:nvSpPr>
        <p:spPr>
          <a:xfrm>
            <a:off x="914400" y="4809744"/>
            <a:ext cx="2834640" cy="365760"/>
          </a:xfrm>
          <a:prstGeom prst="roundRect">
            <a:avLst>
              <a:gd name="adj" fmla="val 50000"/>
            </a:avLst>
          </a:prstGeom>
          <a:solidFill>
            <a:srgbClr val="FFFFFF"/>
          </a:solidFill>
          <a:ln/>
        </p:spPr>
      </p:sp>
      <p:sp>
        <p:nvSpPr>
          <p:cNvPr id="14" name="@pop:8|Chip text"/>
          <p:cNvSpPr txBox="1"/>
          <p:nvPr/>
        </p:nvSpPr>
        <p:spPr>
          <a:xfrm>
            <a:off x="1097280" y="4809744"/>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Опыт</a:t>
            </a:r>
            <a:endParaRPr lang="en-US" sz="1600" dirty="0"/>
          </a:p>
        </p:txBody>
      </p:sp>
      <p:sp>
        <p:nvSpPr>
          <p:cNvPr id="15" name="@rise:5|Profile card"/>
          <p:cNvSpPr/>
          <p:nvPr/>
        </p:nvSpPr>
        <p:spPr>
          <a:xfrm>
            <a:off x="4312768" y="1920240"/>
            <a:ext cx="3566160" cy="3383280"/>
          </a:xfrm>
          <a:prstGeom prst="roundRect">
            <a:avLst>
              <a:gd name="adj" fmla="val 8108"/>
            </a:avLst>
          </a:prstGeom>
          <a:solidFill>
            <a:srgbClr val="FFEFBF"/>
          </a:solidFill>
          <a:ln/>
        </p:spPr>
      </p:sp>
      <p:sp>
        <p:nvSpPr>
          <p:cNvPr id="16" name="@fade:7|Icon bg"/>
          <p:cNvSpPr/>
          <p:nvPr/>
        </p:nvSpPr>
        <p:spPr>
          <a:xfrm>
            <a:off x="4632808" y="2240280"/>
            <a:ext cx="914400" cy="914400"/>
          </a:xfrm>
          <a:prstGeom prst="ellipse">
            <a:avLst/>
          </a:prstGeom>
          <a:solidFill>
            <a:srgbClr val="FF6B5E"/>
          </a:solidFill>
          <a:ln/>
        </p:spPr>
      </p:sp>
      <p:pic>
        <p:nvPicPr>
          <p:cNvPr id="17" name="@fade:7|Icon" descr="Icon"/>
          <p:cNvPicPr>
            <a:picLocks noChangeAspect="1"/>
          </p:cNvPicPr>
          <p:nvPr/>
        </p:nvPicPr>
        <p:blipFill>
          <a:blip r:embed="rId4"/>
          <a:stretch>
            <a:fillRect/>
          </a:stretch>
        </p:blipFill>
        <p:spPr>
          <a:xfrm>
            <a:off x="4852264" y="2459736"/>
            <a:ext cx="475488" cy="475488"/>
          </a:xfrm>
          <a:prstGeom prst="rect">
            <a:avLst/>
          </a:prstGeom>
        </p:spPr>
      </p:pic>
      <p:sp>
        <p:nvSpPr>
          <p:cNvPr id="18" name="@fade:7|Title"/>
          <p:cNvSpPr txBox="1"/>
          <p:nvPr/>
        </p:nvSpPr>
        <p:spPr>
          <a:xfrm>
            <a:off x="4678528" y="3383280"/>
            <a:ext cx="2834640" cy="457200"/>
          </a:xfrm>
          <a:prstGeom prst="rect">
            <a:avLst/>
          </a:prstGeom>
          <a:noFill/>
          <a:ln/>
        </p:spPr>
        <p:txBody>
          <a:bodyPr wrap="square" lIns="0" tIns="0" rIns="0" bIns="0" rtlCol="0" anchor="t"/>
          <a:lstStyle/>
          <a:p>
            <a:pPr marL="0" indent="0">
              <a:buNone/>
            </a:pPr>
            <a:r>
              <a:rPr lang="en-US" sz="2700" b="1" dirty="0">
                <a:solidFill>
                  <a:schemeClr val="tx1"/>
                </a:solidFill>
              </a:rPr>
              <a:t>Организатор</a:t>
            </a:r>
            <a:endParaRPr lang="en-US" sz="2700" dirty="0"/>
          </a:p>
        </p:txBody>
      </p:sp>
      <p:sp>
        <p:nvSpPr>
          <p:cNvPr id="19" name="@pop:9|Chip"/>
          <p:cNvSpPr/>
          <p:nvPr/>
        </p:nvSpPr>
        <p:spPr>
          <a:xfrm>
            <a:off x="4678528" y="3931920"/>
            <a:ext cx="2834640" cy="365760"/>
          </a:xfrm>
          <a:prstGeom prst="roundRect">
            <a:avLst>
              <a:gd name="adj" fmla="val 50000"/>
            </a:avLst>
          </a:prstGeom>
          <a:solidFill>
            <a:srgbClr val="FFFFFF"/>
          </a:solidFill>
          <a:ln/>
        </p:spPr>
      </p:sp>
      <p:sp>
        <p:nvSpPr>
          <p:cNvPr id="20" name="@pop:9|Chip text"/>
          <p:cNvSpPr txBox="1"/>
          <p:nvPr/>
        </p:nvSpPr>
        <p:spPr>
          <a:xfrm>
            <a:off x="4861408" y="3931920"/>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Описание</a:t>
            </a:r>
            <a:endParaRPr lang="en-US" sz="1600" dirty="0"/>
          </a:p>
        </p:txBody>
      </p:sp>
      <p:sp>
        <p:nvSpPr>
          <p:cNvPr id="21" name="@pop:10|Chip"/>
          <p:cNvSpPr/>
          <p:nvPr/>
        </p:nvSpPr>
        <p:spPr>
          <a:xfrm>
            <a:off x="4678528" y="4370832"/>
            <a:ext cx="2834640" cy="365760"/>
          </a:xfrm>
          <a:prstGeom prst="roundRect">
            <a:avLst>
              <a:gd name="adj" fmla="val 50000"/>
            </a:avLst>
          </a:prstGeom>
          <a:solidFill>
            <a:srgbClr val="FFFFFF"/>
          </a:solidFill>
          <a:ln/>
        </p:spPr>
      </p:sp>
      <p:sp>
        <p:nvSpPr>
          <p:cNvPr id="22" name="@pop:10|Chip text"/>
          <p:cNvSpPr txBox="1"/>
          <p:nvPr/>
        </p:nvSpPr>
        <p:spPr>
          <a:xfrm>
            <a:off x="4861408" y="4370832"/>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Тренировки</a:t>
            </a:r>
            <a:endParaRPr lang="en-US" sz="1600" dirty="0"/>
          </a:p>
        </p:txBody>
      </p:sp>
      <p:sp>
        <p:nvSpPr>
          <p:cNvPr id="23" name="@pop:11|Chip"/>
          <p:cNvSpPr/>
          <p:nvPr/>
        </p:nvSpPr>
        <p:spPr>
          <a:xfrm>
            <a:off x="4678528" y="4809744"/>
            <a:ext cx="2834640" cy="365760"/>
          </a:xfrm>
          <a:prstGeom prst="roundRect">
            <a:avLst>
              <a:gd name="adj" fmla="val 50000"/>
            </a:avLst>
          </a:prstGeom>
          <a:solidFill>
            <a:srgbClr val="FFFFFF"/>
          </a:solidFill>
          <a:ln/>
        </p:spPr>
      </p:sp>
      <p:sp>
        <p:nvSpPr>
          <p:cNvPr id="24" name="@pop:11|Chip text"/>
          <p:cNvSpPr txBox="1"/>
          <p:nvPr/>
        </p:nvSpPr>
        <p:spPr>
          <a:xfrm>
            <a:off x="4861408" y="4809744"/>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Мероприятия</a:t>
            </a:r>
            <a:endParaRPr lang="en-US" sz="1600" dirty="0"/>
          </a:p>
        </p:txBody>
      </p:sp>
      <p:sp>
        <p:nvSpPr>
          <p:cNvPr id="25" name="@rise:8|Profile card"/>
          <p:cNvSpPr/>
          <p:nvPr/>
        </p:nvSpPr>
        <p:spPr>
          <a:xfrm>
            <a:off x="8076895" y="1920240"/>
            <a:ext cx="3566160" cy="3383280"/>
          </a:xfrm>
          <a:prstGeom prst="roundRect">
            <a:avLst>
              <a:gd name="adj" fmla="val 8108"/>
            </a:avLst>
          </a:prstGeom>
          <a:solidFill>
            <a:srgbClr val="D2F3E6"/>
          </a:solidFill>
          <a:ln/>
        </p:spPr>
      </p:sp>
      <p:sp>
        <p:nvSpPr>
          <p:cNvPr id="26" name="@fade:10|Icon bg"/>
          <p:cNvSpPr/>
          <p:nvPr/>
        </p:nvSpPr>
        <p:spPr>
          <a:xfrm>
            <a:off x="8396935" y="2240280"/>
            <a:ext cx="914400" cy="914400"/>
          </a:xfrm>
          <a:prstGeom prst="ellipse">
            <a:avLst/>
          </a:prstGeom>
          <a:solidFill>
            <a:srgbClr val="8B1E3F"/>
          </a:solidFill>
          <a:ln/>
        </p:spPr>
      </p:sp>
      <p:pic>
        <p:nvPicPr>
          <p:cNvPr id="27" name="@fade:10|Icon" descr="Icon"/>
          <p:cNvPicPr>
            <a:picLocks noChangeAspect="1"/>
          </p:cNvPicPr>
          <p:nvPr/>
        </p:nvPicPr>
        <p:blipFill>
          <a:blip r:embed="rId5"/>
          <a:stretch>
            <a:fillRect/>
          </a:stretch>
        </p:blipFill>
        <p:spPr>
          <a:xfrm>
            <a:off x="8616391" y="2459736"/>
            <a:ext cx="475488" cy="475488"/>
          </a:xfrm>
          <a:prstGeom prst="rect">
            <a:avLst/>
          </a:prstGeom>
        </p:spPr>
      </p:pic>
      <p:sp>
        <p:nvSpPr>
          <p:cNvPr id="28" name="@fade:10|Title"/>
          <p:cNvSpPr txBox="1"/>
          <p:nvPr/>
        </p:nvSpPr>
        <p:spPr>
          <a:xfrm>
            <a:off x="8442655" y="3383280"/>
            <a:ext cx="2834640" cy="457200"/>
          </a:xfrm>
          <a:prstGeom prst="rect">
            <a:avLst/>
          </a:prstGeom>
          <a:noFill/>
          <a:ln/>
        </p:spPr>
        <p:txBody>
          <a:bodyPr wrap="square" lIns="0" tIns="0" rIns="0" bIns="0" rtlCol="0" anchor="t"/>
          <a:lstStyle/>
          <a:p>
            <a:pPr marL="0" indent="0">
              <a:buNone/>
            </a:pPr>
            <a:r>
              <a:rPr lang="en-US" sz="2700" b="1" dirty="0">
                <a:solidFill>
                  <a:schemeClr val="tx1"/>
                </a:solidFill>
              </a:rPr>
              <a:t>История участия</a:t>
            </a:r>
            <a:endParaRPr lang="en-US" sz="2700" dirty="0"/>
          </a:p>
        </p:txBody>
      </p:sp>
      <p:sp>
        <p:nvSpPr>
          <p:cNvPr id="29" name="@pop:12|Chip"/>
          <p:cNvSpPr/>
          <p:nvPr/>
        </p:nvSpPr>
        <p:spPr>
          <a:xfrm>
            <a:off x="8442655" y="3931920"/>
            <a:ext cx="2834640" cy="365760"/>
          </a:xfrm>
          <a:prstGeom prst="roundRect">
            <a:avLst>
              <a:gd name="adj" fmla="val 50000"/>
            </a:avLst>
          </a:prstGeom>
          <a:solidFill>
            <a:srgbClr val="FFFFFF"/>
          </a:solidFill>
          <a:ln/>
        </p:spPr>
      </p:sp>
      <p:sp>
        <p:nvSpPr>
          <p:cNvPr id="30" name="@pop:12|Chip text"/>
          <p:cNvSpPr txBox="1"/>
          <p:nvPr/>
        </p:nvSpPr>
        <p:spPr>
          <a:xfrm>
            <a:off x="8625535" y="3931920"/>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Забеги и марафоны</a:t>
            </a:r>
            <a:endParaRPr lang="en-US" sz="1600" dirty="0"/>
          </a:p>
        </p:txBody>
      </p:sp>
      <p:sp>
        <p:nvSpPr>
          <p:cNvPr id="31" name="@pop:13|Chip"/>
          <p:cNvSpPr/>
          <p:nvPr/>
        </p:nvSpPr>
        <p:spPr>
          <a:xfrm>
            <a:off x="8442655" y="4370832"/>
            <a:ext cx="2834640" cy="365760"/>
          </a:xfrm>
          <a:prstGeom prst="roundRect">
            <a:avLst>
              <a:gd name="adj" fmla="val 50000"/>
            </a:avLst>
          </a:prstGeom>
          <a:solidFill>
            <a:srgbClr val="FFFFFF"/>
          </a:solidFill>
          <a:ln/>
        </p:spPr>
      </p:sp>
      <p:sp>
        <p:nvSpPr>
          <p:cNvPr id="32" name="@pop:13|Chip text"/>
          <p:cNvSpPr txBox="1"/>
          <p:nvPr/>
        </p:nvSpPr>
        <p:spPr>
          <a:xfrm>
            <a:off x="8625535" y="4370832"/>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Турниры</a:t>
            </a:r>
            <a:endParaRPr lang="en-US" sz="1600" dirty="0"/>
          </a:p>
        </p:txBody>
      </p:sp>
      <p:sp>
        <p:nvSpPr>
          <p:cNvPr id="33" name="@pop:14|Chip"/>
          <p:cNvSpPr/>
          <p:nvPr/>
        </p:nvSpPr>
        <p:spPr>
          <a:xfrm>
            <a:off x="8442655" y="4809744"/>
            <a:ext cx="2834640" cy="365760"/>
          </a:xfrm>
          <a:prstGeom prst="roundRect">
            <a:avLst>
              <a:gd name="adj" fmla="val 50000"/>
            </a:avLst>
          </a:prstGeom>
          <a:solidFill>
            <a:srgbClr val="FFFFFF"/>
          </a:solidFill>
          <a:ln/>
        </p:spPr>
      </p:sp>
      <p:sp>
        <p:nvSpPr>
          <p:cNvPr id="34" name="@pop:14|Chip text"/>
          <p:cNvSpPr txBox="1"/>
          <p:nvPr/>
        </p:nvSpPr>
        <p:spPr>
          <a:xfrm>
            <a:off x="8625535" y="4809744"/>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Другие события</a:t>
            </a:r>
            <a:endParaRPr lang="en-US" sz="1600" dirty="0"/>
          </a:p>
        </p:txBody>
      </p:sp>
      <p:sp>
        <p:nvSpPr>
          <p:cNvPr id="35" name="@rise:17|Bar"/>
          <p:cNvSpPr/>
          <p:nvPr/>
        </p:nvSpPr>
        <p:spPr>
          <a:xfrm>
            <a:off x="548640" y="5486400"/>
            <a:ext cx="11094415" cy="804672"/>
          </a:xfrm>
          <a:prstGeom prst="roundRect">
            <a:avLst>
              <a:gd name="adj" fmla="val 45455"/>
            </a:avLst>
          </a:prstGeom>
          <a:solidFill>
            <a:srgbClr val="2A0F1E"/>
          </a:solidFill>
          <a:ln/>
        </p:spPr>
      </p:sp>
      <p:sp>
        <p:nvSpPr>
          <p:cNvPr id="36" name="@fade:19|Star bg"/>
          <p:cNvSpPr/>
          <p:nvPr/>
        </p:nvSpPr>
        <p:spPr>
          <a:xfrm>
            <a:off x="832104" y="5623560"/>
            <a:ext cx="530352" cy="530352"/>
          </a:xfrm>
          <a:prstGeom prst="ellipse">
            <a:avLst/>
          </a:prstGeom>
          <a:solidFill>
            <a:srgbClr val="FFC94A"/>
          </a:solidFill>
          <a:ln/>
        </p:spPr>
      </p:sp>
      <p:pic>
        <p:nvPicPr>
          <p:cNvPr id="37" name="@fade:19|Star" descr="Star"/>
          <p:cNvPicPr>
            <a:picLocks noChangeAspect="1"/>
          </p:cNvPicPr>
          <p:nvPr/>
        </p:nvPicPr>
        <p:blipFill>
          <a:blip r:embed="rId6"/>
          <a:stretch>
            <a:fillRect/>
          </a:stretch>
        </p:blipFill>
        <p:spPr>
          <a:xfrm>
            <a:off x="959388" y="5750844"/>
            <a:ext cx="275783" cy="275783"/>
          </a:xfrm>
          <a:prstGeom prst="rect">
            <a:avLst/>
          </a:prstGeom>
        </p:spPr>
      </p:pic>
      <p:sp>
        <p:nvSpPr>
          <p:cNvPr id="38" name="@fade:19|Bar text"/>
          <p:cNvSpPr txBox="1"/>
          <p:nvPr/>
        </p:nvSpPr>
        <p:spPr>
          <a:xfrm>
            <a:off x="1600200" y="5486400"/>
            <a:ext cx="9722815" cy="804672"/>
          </a:xfrm>
          <a:prstGeom prst="rect">
            <a:avLst/>
          </a:prstGeom>
          <a:noFill/>
          <a:ln/>
        </p:spPr>
        <p:txBody>
          <a:bodyPr wrap="square" lIns="0" tIns="0" rIns="0" bIns="0" rtlCol="0" anchor="ctr"/>
          <a:lstStyle/>
          <a:p>
            <a:pPr marL="0" indent="0">
              <a:buNone/>
            </a:pPr>
            <a:r>
              <a:rPr lang="en-US" sz="1700" dirty="0">
                <a:solidFill>
                  <a:schemeClr val="bg1"/>
                </a:solidFill>
              </a:rPr>
              <a:t>Общий рейтинг людей убрали: не всем нравится, когда их оценивают. Профиль показывает, чем человек увлекается и где участвовал.</a:t>
            </a:r>
            <a:endParaRPr lang="en-US" sz="1700" dirty="0"/>
          </a:p>
        </p:txBody>
      </p:sp>
      <p:sp>
        <p:nvSpPr>
          <p:cNvPr id="39"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10</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4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48"/>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200"/>
                                        <p:tgtEl>
                                          <p:spTgt spid="15"/>
                                        </p:tgtEl>
                                      </p:cBhvr>
                                    </p:animEffect>
                                  </p:childTnLst>
                                </p:cTn>
                              </p:par>
                              <p:par>
                                <p:cTn id="26" presetID="10" presetClass="entr" presetSubtype="0" fill="hold" nodeType="withEffect">
                                  <p:stCondLst>
                                    <p:cond delay="72"/>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200"/>
                                        <p:tgtEl>
                                          <p:spTgt spid="9"/>
                                        </p:tgtEl>
                                      </p:cBhvr>
                                    </p:animEffect>
                                  </p:childTnLst>
                                </p:cTn>
                              </p:par>
                              <p:par>
                                <p:cTn id="29" presetID="10" presetClass="entr" presetSubtype="0" fill="hold" nodeType="withEffect">
                                  <p:stCondLst>
                                    <p:cond delay="72"/>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00"/>
                                        <p:tgtEl>
                                          <p:spTgt spid="10"/>
                                        </p:tgtEl>
                                      </p:cBhvr>
                                    </p:animEffect>
                                  </p:childTnLst>
                                </p:cTn>
                              </p:par>
                              <p:par>
                                <p:cTn id="32" presetID="10" presetClass="entr" presetSubtype="0" fill="hold" nodeType="withEffect">
                                  <p:stCondLst>
                                    <p:cond delay="84"/>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200"/>
                                        <p:tgtEl>
                                          <p:spTgt spid="11"/>
                                        </p:tgtEl>
                                      </p:cBhvr>
                                    </p:animEffect>
                                  </p:childTnLst>
                                </p:cTn>
                              </p:par>
                              <p:par>
                                <p:cTn id="35" presetID="10" presetClass="entr" presetSubtype="0" fill="hold" nodeType="withEffect">
                                  <p:stCondLst>
                                    <p:cond delay="84"/>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00"/>
                                        <p:tgtEl>
                                          <p:spTgt spid="12"/>
                                        </p:tgtEl>
                                      </p:cBhvr>
                                    </p:animEffect>
                                  </p:childTnLst>
                                </p:cTn>
                              </p:par>
                              <p:par>
                                <p:cTn id="38" presetID="10" presetClass="entr" presetSubtype="0" fill="hold" nodeType="withEffect">
                                  <p:stCondLst>
                                    <p:cond delay="84"/>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200"/>
                                        <p:tgtEl>
                                          <p:spTgt spid="16"/>
                                        </p:tgtEl>
                                      </p:cBhvr>
                                    </p:animEffect>
                                  </p:childTnLst>
                                </p:cTn>
                              </p:par>
                              <p:par>
                                <p:cTn id="41" presetID="10" presetClass="entr" presetSubtype="0" fill="hold" nodeType="withEffect">
                                  <p:stCondLst>
                                    <p:cond delay="84"/>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200"/>
                                        <p:tgtEl>
                                          <p:spTgt spid="17"/>
                                        </p:tgtEl>
                                      </p:cBhvr>
                                    </p:animEffect>
                                  </p:childTnLst>
                                </p:cTn>
                              </p:par>
                              <p:par>
                                <p:cTn id="44" presetID="10" presetClass="entr" presetSubtype="0" fill="hold" nodeType="withEffect">
                                  <p:stCondLst>
                                    <p:cond delay="84"/>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200"/>
                                        <p:tgtEl>
                                          <p:spTgt spid="18"/>
                                        </p:tgtEl>
                                      </p:cBhvr>
                                    </p:animEffect>
                                  </p:childTnLst>
                                </p:cTn>
                              </p:par>
                              <p:par>
                                <p:cTn id="47" presetID="10" presetClass="entr" presetSubtype="0" fill="hold" nodeType="withEffect">
                                  <p:stCondLst>
                                    <p:cond delay="96"/>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200"/>
                                        <p:tgtEl>
                                          <p:spTgt spid="13"/>
                                        </p:tgtEl>
                                      </p:cBhvr>
                                    </p:animEffect>
                                  </p:childTnLst>
                                </p:cTn>
                              </p:par>
                              <p:par>
                                <p:cTn id="50" presetID="10" presetClass="entr" presetSubtype="0" fill="hold" nodeType="withEffect">
                                  <p:stCondLst>
                                    <p:cond delay="96"/>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200"/>
                                        <p:tgtEl>
                                          <p:spTgt spid="14"/>
                                        </p:tgtEl>
                                      </p:cBhvr>
                                    </p:animEffect>
                                  </p:childTnLst>
                                </p:cTn>
                              </p:par>
                              <p:par>
                                <p:cTn id="53" presetID="10" presetClass="entr" presetSubtype="0" fill="hold" nodeType="withEffect">
                                  <p:stCondLst>
                                    <p:cond delay="96"/>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200"/>
                                        <p:tgtEl>
                                          <p:spTgt spid="25"/>
                                        </p:tgtEl>
                                      </p:cBhvr>
                                    </p:animEffect>
                                  </p:childTnLst>
                                </p:cTn>
                              </p:par>
                              <p:par>
                                <p:cTn id="56" presetID="10" presetClass="entr" presetSubtype="0" fill="hold" nodeType="withEffect">
                                  <p:stCondLst>
                                    <p:cond delay="108"/>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200"/>
                                        <p:tgtEl>
                                          <p:spTgt spid="19"/>
                                        </p:tgtEl>
                                      </p:cBhvr>
                                    </p:animEffect>
                                  </p:childTnLst>
                                </p:cTn>
                              </p:par>
                              <p:par>
                                <p:cTn id="59" presetID="10" presetClass="entr" presetSubtype="0" fill="hold" nodeType="withEffect">
                                  <p:stCondLst>
                                    <p:cond delay="108"/>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200"/>
                                        <p:tgtEl>
                                          <p:spTgt spid="20"/>
                                        </p:tgtEl>
                                      </p:cBhvr>
                                    </p:animEffect>
                                  </p:childTnLst>
                                </p:cTn>
                              </p:par>
                              <p:par>
                                <p:cTn id="62" presetID="10" presetClass="entr" presetSubtype="0" fill="hold" nodeType="withEffect">
                                  <p:stCondLst>
                                    <p:cond delay="12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200"/>
                                        <p:tgtEl>
                                          <p:spTgt spid="21"/>
                                        </p:tgtEl>
                                      </p:cBhvr>
                                    </p:animEffect>
                                  </p:childTnLst>
                                </p:cTn>
                              </p:par>
                              <p:par>
                                <p:cTn id="65" presetID="10" presetClass="entr" presetSubtype="0" fill="hold" nodeType="withEffect">
                                  <p:stCondLst>
                                    <p:cond delay="12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200"/>
                                        <p:tgtEl>
                                          <p:spTgt spid="22"/>
                                        </p:tgtEl>
                                      </p:cBhvr>
                                    </p:animEffect>
                                  </p:childTnLst>
                                </p:cTn>
                              </p:par>
                              <p:par>
                                <p:cTn id="68" presetID="10" presetClass="entr" presetSubtype="0" fill="hold" nodeType="withEffect">
                                  <p:stCondLst>
                                    <p:cond delay="12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200"/>
                                        <p:tgtEl>
                                          <p:spTgt spid="26"/>
                                        </p:tgtEl>
                                      </p:cBhvr>
                                    </p:animEffect>
                                  </p:childTnLst>
                                </p:cTn>
                              </p:par>
                              <p:par>
                                <p:cTn id="71" presetID="10" presetClass="entr" presetSubtype="0" fill="hold" nodeType="withEffect">
                                  <p:stCondLst>
                                    <p:cond delay="12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200"/>
                                        <p:tgtEl>
                                          <p:spTgt spid="27"/>
                                        </p:tgtEl>
                                      </p:cBhvr>
                                    </p:animEffect>
                                  </p:childTnLst>
                                </p:cTn>
                              </p:par>
                              <p:par>
                                <p:cTn id="74" presetID="10" presetClass="entr" presetSubtype="0" fill="hold" nodeType="withEffect">
                                  <p:stCondLst>
                                    <p:cond delay="12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200"/>
                                        <p:tgtEl>
                                          <p:spTgt spid="28"/>
                                        </p:tgtEl>
                                      </p:cBhvr>
                                    </p:animEffect>
                                  </p:childTnLst>
                                </p:cTn>
                              </p:par>
                              <p:par>
                                <p:cTn id="77" presetID="10" presetClass="entr" presetSubtype="0" fill="hold" nodeType="withEffect">
                                  <p:stCondLst>
                                    <p:cond delay="132"/>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200"/>
                                        <p:tgtEl>
                                          <p:spTgt spid="23"/>
                                        </p:tgtEl>
                                      </p:cBhvr>
                                    </p:animEffect>
                                  </p:childTnLst>
                                </p:cTn>
                              </p:par>
                              <p:par>
                                <p:cTn id="80" presetID="10" presetClass="entr" presetSubtype="0" fill="hold" nodeType="withEffect">
                                  <p:stCondLst>
                                    <p:cond delay="132"/>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200"/>
                                        <p:tgtEl>
                                          <p:spTgt spid="24"/>
                                        </p:tgtEl>
                                      </p:cBhvr>
                                    </p:animEffect>
                                  </p:childTnLst>
                                </p:cTn>
                              </p:par>
                              <p:par>
                                <p:cTn id="83" presetID="10" presetClass="entr" presetSubtype="0" fill="hold" nodeType="withEffect">
                                  <p:stCondLst>
                                    <p:cond delay="144"/>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200"/>
                                        <p:tgtEl>
                                          <p:spTgt spid="29"/>
                                        </p:tgtEl>
                                      </p:cBhvr>
                                    </p:animEffect>
                                  </p:childTnLst>
                                </p:cTn>
                              </p:par>
                              <p:par>
                                <p:cTn id="86" presetID="10" presetClass="entr" presetSubtype="0" fill="hold" nodeType="withEffect">
                                  <p:stCondLst>
                                    <p:cond delay="144"/>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200"/>
                                        <p:tgtEl>
                                          <p:spTgt spid="30"/>
                                        </p:tgtEl>
                                      </p:cBhvr>
                                    </p:animEffect>
                                  </p:childTnLst>
                                </p:cTn>
                              </p:par>
                              <p:par>
                                <p:cTn id="89" presetID="10" presetClass="entr" presetSubtype="0" fill="hold" nodeType="withEffect">
                                  <p:stCondLst>
                                    <p:cond delay="156"/>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200"/>
                                        <p:tgtEl>
                                          <p:spTgt spid="31"/>
                                        </p:tgtEl>
                                      </p:cBhvr>
                                    </p:animEffect>
                                  </p:childTnLst>
                                </p:cTn>
                              </p:par>
                              <p:par>
                                <p:cTn id="92" presetID="10" presetClass="entr" presetSubtype="0" fill="hold" nodeType="withEffect">
                                  <p:stCondLst>
                                    <p:cond delay="156"/>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200"/>
                                        <p:tgtEl>
                                          <p:spTgt spid="32"/>
                                        </p:tgtEl>
                                      </p:cBhvr>
                                    </p:animEffect>
                                  </p:childTnLst>
                                </p:cTn>
                              </p:par>
                              <p:par>
                                <p:cTn id="95" presetID="10" presetClass="entr" presetSubtype="0" fill="hold" nodeType="withEffect">
                                  <p:stCondLst>
                                    <p:cond delay="168"/>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200"/>
                                        <p:tgtEl>
                                          <p:spTgt spid="33"/>
                                        </p:tgtEl>
                                      </p:cBhvr>
                                    </p:animEffect>
                                  </p:childTnLst>
                                </p:cTn>
                              </p:par>
                              <p:par>
                                <p:cTn id="98" presetID="10" presetClass="entr" presetSubtype="0" fill="hold" nodeType="withEffect">
                                  <p:stCondLst>
                                    <p:cond delay="168"/>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200"/>
                                        <p:tgtEl>
                                          <p:spTgt spid="34"/>
                                        </p:tgtEl>
                                      </p:cBhvr>
                                    </p:animEffect>
                                  </p:childTnLst>
                                </p:cTn>
                              </p:par>
                              <p:par>
                                <p:cTn id="101" presetID="10" presetClass="entr" presetSubtype="0" fill="hold" nodeType="withEffect">
                                  <p:stCondLst>
                                    <p:cond delay="204"/>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200"/>
                                        <p:tgtEl>
                                          <p:spTgt spid="35"/>
                                        </p:tgtEl>
                                      </p:cBhvr>
                                    </p:animEffect>
                                  </p:childTnLst>
                                </p:cTn>
                              </p:par>
                              <p:par>
                                <p:cTn id="104" presetID="10" presetClass="entr" presetSubtype="0" fill="hold" nodeType="withEffect">
                                  <p:stCondLst>
                                    <p:cond delay="228"/>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200"/>
                                        <p:tgtEl>
                                          <p:spTgt spid="36"/>
                                        </p:tgtEl>
                                      </p:cBhvr>
                                    </p:animEffect>
                                  </p:childTnLst>
                                </p:cTn>
                              </p:par>
                              <p:par>
                                <p:cTn id="107" presetID="10" presetClass="entr" presetSubtype="0" fill="hold" nodeType="withEffect">
                                  <p:stCondLst>
                                    <p:cond delay="228"/>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200"/>
                                        <p:tgtEl>
                                          <p:spTgt spid="37"/>
                                        </p:tgtEl>
                                      </p:cBhvr>
                                    </p:animEffect>
                                  </p:childTnLst>
                                </p:cTn>
                              </p:par>
                              <p:par>
                                <p:cTn id="110" presetID="10" presetClass="entr" presetSubtype="0" fill="hold" nodeType="withEffect">
                                  <p:stCondLst>
                                    <p:cond delay="228"/>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2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fade:0|Pill"/>
          <p:cNvSpPr/>
          <p:nvPr/>
        </p:nvSpPr>
        <p:spPr>
          <a:xfrm>
            <a:off x="548640" y="411480"/>
            <a:ext cx="2461565" cy="329184"/>
          </a:xfrm>
          <a:prstGeom prst="roundRect">
            <a:avLst>
              <a:gd name="adj" fmla="val 50000"/>
            </a:avLst>
          </a:prstGeom>
          <a:solidFill>
            <a:srgbClr val="FFC94A"/>
          </a:solidFill>
          <a:ln/>
        </p:spPr>
      </p:sp>
      <p:sp>
        <p:nvSpPr>
          <p:cNvPr id="3" name="@fade:0|Pill text"/>
          <p:cNvSpPr txBox="1"/>
          <p:nvPr/>
        </p:nvSpPr>
        <p:spPr>
          <a:xfrm>
            <a:off x="548640" y="411480"/>
            <a:ext cx="2461565"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ВАРИАНТ МОНЕТИЗАЦИИ</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Как можем зарабатывать</a:t>
            </a:r>
            <a:endParaRPr lang="en-US" sz="4000" dirty="0"/>
          </a:p>
        </p:txBody>
      </p:sp>
      <p:sp>
        <p:nvSpPr>
          <p:cNvPr id="5" name="@rise:2|Participants card"/>
          <p:cNvSpPr/>
          <p:nvPr/>
        </p:nvSpPr>
        <p:spPr>
          <a:xfrm>
            <a:off x="548640" y="1920240"/>
            <a:ext cx="4754880" cy="3200400"/>
          </a:xfrm>
          <a:prstGeom prst="roundRect">
            <a:avLst>
              <a:gd name="adj" fmla="val 8571"/>
            </a:avLst>
          </a:prstGeom>
          <a:solidFill>
            <a:srgbClr val="D2F3E6"/>
          </a:solidFill>
          <a:ln/>
        </p:spPr>
      </p:sp>
      <p:sp>
        <p:nvSpPr>
          <p:cNvPr id="6" name="@fade:4|Tag"/>
          <p:cNvSpPr txBox="1"/>
          <p:nvPr/>
        </p:nvSpPr>
        <p:spPr>
          <a:xfrm>
            <a:off x="914400" y="2194560"/>
            <a:ext cx="3200400" cy="274320"/>
          </a:xfrm>
          <a:prstGeom prst="rect">
            <a:avLst/>
          </a:prstGeom>
          <a:noFill/>
          <a:ln/>
        </p:spPr>
        <p:txBody>
          <a:bodyPr wrap="square" lIns="0" tIns="0" rIns="0" bIns="0" rtlCol="0" anchor="t"/>
          <a:lstStyle/>
          <a:p>
            <a:pPr marL="0" indent="0">
              <a:buNone/>
            </a:pPr>
            <a:r>
              <a:rPr lang="en-US" sz="1300" b="1" kern="0" spc="300" dirty="0">
                <a:solidFill>
                  <a:schemeClr val="tx2"/>
                </a:solidFill>
              </a:rPr>
              <a:t>ДЛЯ УЧАСТНИКОВ</a:t>
            </a:r>
            <a:endParaRPr lang="en-US" sz="1300" dirty="0"/>
          </a:p>
        </p:txBody>
      </p:sp>
      <p:sp>
        <p:nvSpPr>
          <p:cNvPr id="7" name="@fade:4|Gift bg"/>
          <p:cNvSpPr/>
          <p:nvPr/>
        </p:nvSpPr>
        <p:spPr>
          <a:xfrm>
            <a:off x="4046220" y="1988820"/>
            <a:ext cx="868680" cy="868680"/>
          </a:xfrm>
          <a:prstGeom prst="ellipse">
            <a:avLst/>
          </a:prstGeom>
          <a:solidFill>
            <a:srgbClr val="8B1E3F"/>
          </a:solidFill>
          <a:ln/>
        </p:spPr>
      </p:sp>
      <p:pic>
        <p:nvPicPr>
          <p:cNvPr id="8" name="@fade:4|Gift" descr="Gift"/>
          <p:cNvPicPr>
            <a:picLocks noChangeAspect="1"/>
          </p:cNvPicPr>
          <p:nvPr/>
        </p:nvPicPr>
        <p:blipFill>
          <a:blip r:embed="rId3"/>
          <a:stretch>
            <a:fillRect/>
          </a:stretch>
        </p:blipFill>
        <p:spPr>
          <a:xfrm>
            <a:off x="4254703" y="2197303"/>
            <a:ext cx="451714" cy="451714"/>
          </a:xfrm>
          <a:prstGeom prst="rect">
            <a:avLst/>
          </a:prstGeom>
        </p:spPr>
      </p:pic>
      <p:sp>
        <p:nvSpPr>
          <p:cNvPr id="9" name="@fade:4|Big"/>
          <p:cNvSpPr txBox="1"/>
          <p:nvPr/>
        </p:nvSpPr>
        <p:spPr>
          <a:xfrm>
            <a:off x="914400" y="2697480"/>
            <a:ext cx="3657600" cy="822960"/>
          </a:xfrm>
          <a:prstGeom prst="rect">
            <a:avLst/>
          </a:prstGeom>
          <a:noFill/>
          <a:ln/>
        </p:spPr>
        <p:txBody>
          <a:bodyPr wrap="square" lIns="0" tIns="0" rIns="0" bIns="0" rtlCol="0" anchor="t"/>
          <a:lstStyle/>
          <a:p>
            <a:pPr marL="0" indent="0">
              <a:buNone/>
            </a:pPr>
            <a:r>
              <a:rPr lang="en-US" sz="4400" b="1" dirty="0">
                <a:solidFill>
                  <a:schemeClr val="tx2"/>
                </a:solidFill>
              </a:rPr>
              <a:t>Бесплатно</a:t>
            </a:r>
            <a:endParaRPr lang="en-US" sz="4400" dirty="0"/>
          </a:p>
        </p:txBody>
      </p:sp>
      <p:sp>
        <p:nvSpPr>
          <p:cNvPr id="10" name="@fade:4|List"/>
          <p:cNvSpPr txBox="1"/>
          <p:nvPr/>
        </p:nvSpPr>
        <p:spPr>
          <a:xfrm>
            <a:off x="914400" y="3657600"/>
            <a:ext cx="4114800" cy="1280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Поиск и базовые возможности</a:t>
            </a:r>
            <a:endParaRPr lang="en-US" sz="1700" dirty="0"/>
          </a:p>
          <a:p>
            <a:pPr marL="342900" indent="-342900">
              <a:spcAft>
                <a:spcPts val="800"/>
              </a:spcAft>
              <a:buSzPct val="100000"/>
              <a:buChar char="•"/>
            </a:pPr>
            <a:r>
              <a:rPr lang="en-US" sz="1700" dirty="0">
                <a:solidFill>
                  <a:schemeClr val="tx1"/>
                </a:solidFill>
              </a:rPr>
              <a:t>Любитель тоже может разместить свою игру</a:t>
            </a:r>
            <a:endParaRPr lang="en-US" sz="1700" dirty="0"/>
          </a:p>
        </p:txBody>
      </p:sp>
      <p:sp>
        <p:nvSpPr>
          <p:cNvPr id="11" name="@rise:6|Organizers card"/>
          <p:cNvSpPr/>
          <p:nvPr/>
        </p:nvSpPr>
        <p:spPr>
          <a:xfrm>
            <a:off x="5486400" y="1920240"/>
            <a:ext cx="6153912" cy="3200400"/>
          </a:xfrm>
          <a:prstGeom prst="roundRect">
            <a:avLst>
              <a:gd name="adj" fmla="val 8571"/>
            </a:avLst>
          </a:prstGeom>
          <a:solidFill>
            <a:srgbClr val="E5DEFF"/>
          </a:solidFill>
          <a:ln/>
        </p:spPr>
      </p:sp>
      <p:sp>
        <p:nvSpPr>
          <p:cNvPr id="12" name="@fade:8|Tag"/>
          <p:cNvSpPr txBox="1"/>
          <p:nvPr/>
        </p:nvSpPr>
        <p:spPr>
          <a:xfrm>
            <a:off x="5852160" y="2194560"/>
            <a:ext cx="4114800" cy="274320"/>
          </a:xfrm>
          <a:prstGeom prst="rect">
            <a:avLst/>
          </a:prstGeom>
          <a:noFill/>
          <a:ln/>
        </p:spPr>
        <p:txBody>
          <a:bodyPr wrap="square" lIns="0" tIns="0" rIns="0" bIns="0" rtlCol="0" anchor="t"/>
          <a:lstStyle/>
          <a:p>
            <a:pPr marL="0" indent="0">
              <a:buNone/>
            </a:pPr>
            <a:r>
              <a:rPr lang="en-US" sz="1300" b="1" kern="0" spc="300" dirty="0">
                <a:solidFill>
                  <a:schemeClr val="tx2"/>
                </a:solidFill>
              </a:rPr>
              <a:t>ДЛЯ ОРГАНИЗАТОРОВ</a:t>
            </a:r>
            <a:endParaRPr lang="en-US" sz="1300" dirty="0"/>
          </a:p>
        </p:txBody>
      </p:sp>
      <p:sp>
        <p:nvSpPr>
          <p:cNvPr id="13" name="@fade:8|Note"/>
          <p:cNvSpPr txBox="1"/>
          <p:nvPr/>
        </p:nvSpPr>
        <p:spPr>
          <a:xfrm>
            <a:off x="5852160" y="2542032"/>
            <a:ext cx="5422392" cy="502920"/>
          </a:xfrm>
          <a:prstGeom prst="rect">
            <a:avLst/>
          </a:prstGeom>
          <a:noFill/>
          <a:ln/>
        </p:spPr>
        <p:txBody>
          <a:bodyPr wrap="square" lIns="0" tIns="0" rIns="0" bIns="0" rtlCol="0" anchor="t"/>
          <a:lstStyle/>
          <a:p>
            <a:pPr marL="0" indent="0">
              <a:buNone/>
            </a:pPr>
            <a:r>
              <a:rPr lang="en-US" sz="1400" dirty="0">
                <a:solidFill>
                  <a:srgbClr val="6B4A5A"/>
                </a:solidFill>
              </a:rPr>
              <a:t>клубы, спортивные школы и те, кто регулярно публикует много мероприятий</a:t>
            </a:r>
            <a:endParaRPr lang="en-US" sz="1400" dirty="0"/>
          </a:p>
        </p:txBody>
      </p:sp>
      <p:sp>
        <p:nvSpPr>
          <p:cNvPr id="14" name="@pop:10|Basic tier"/>
          <p:cNvSpPr/>
          <p:nvPr/>
        </p:nvSpPr>
        <p:spPr>
          <a:xfrm>
            <a:off x="5852160" y="3200400"/>
            <a:ext cx="2788920" cy="1691640"/>
          </a:xfrm>
          <a:prstGeom prst="roundRect">
            <a:avLst>
              <a:gd name="adj" fmla="val 12973"/>
            </a:avLst>
          </a:prstGeom>
          <a:solidFill>
            <a:srgbClr val="FFFFFF"/>
          </a:solidFill>
          <a:ln/>
        </p:spPr>
      </p:sp>
      <p:sp>
        <p:nvSpPr>
          <p:cNvPr id="15" name="@pop:10|Basic title"/>
          <p:cNvSpPr txBox="1"/>
          <p:nvPr/>
        </p:nvSpPr>
        <p:spPr>
          <a:xfrm>
            <a:off x="6035040" y="3364992"/>
            <a:ext cx="2423160" cy="365760"/>
          </a:xfrm>
          <a:prstGeom prst="rect">
            <a:avLst/>
          </a:prstGeom>
          <a:noFill/>
          <a:ln/>
        </p:spPr>
        <p:txBody>
          <a:bodyPr wrap="square" lIns="0" tIns="0" rIns="0" bIns="0" rtlCol="0" anchor="t"/>
          <a:lstStyle/>
          <a:p>
            <a:pPr marL="0" indent="0">
              <a:buNone/>
            </a:pPr>
            <a:r>
              <a:rPr lang="en-US" sz="1800" b="1" dirty="0">
                <a:solidFill>
                  <a:schemeClr val="tx1"/>
                </a:solidFill>
              </a:rPr>
              <a:t>Базовое размещение</a:t>
            </a:r>
            <a:endParaRPr lang="en-US" sz="1800" dirty="0"/>
          </a:p>
        </p:txBody>
      </p:sp>
      <p:sp>
        <p:nvSpPr>
          <p:cNvPr id="16" name="@pop:10|Pill"/>
          <p:cNvSpPr/>
          <p:nvPr/>
        </p:nvSpPr>
        <p:spPr>
          <a:xfrm>
            <a:off x="6035040" y="3840480"/>
            <a:ext cx="1371600" cy="310896"/>
          </a:xfrm>
          <a:prstGeom prst="roundRect">
            <a:avLst>
              <a:gd name="adj" fmla="val 52941"/>
            </a:avLst>
          </a:prstGeom>
          <a:solidFill>
            <a:srgbClr val="6FD3B0"/>
          </a:solidFill>
          <a:ln/>
        </p:spPr>
      </p:sp>
      <p:sp>
        <p:nvSpPr>
          <p:cNvPr id="17" name="@pop:10|Pill text"/>
          <p:cNvSpPr txBox="1"/>
          <p:nvPr/>
        </p:nvSpPr>
        <p:spPr>
          <a:xfrm>
            <a:off x="6035040" y="3840480"/>
            <a:ext cx="1371600" cy="310896"/>
          </a:xfrm>
          <a:prstGeom prst="rect">
            <a:avLst/>
          </a:prstGeom>
          <a:noFill/>
          <a:ln/>
        </p:spPr>
        <p:txBody>
          <a:bodyPr wrap="square" lIns="0" tIns="0" rIns="0" bIns="0" rtlCol="0" anchor="ctr"/>
          <a:lstStyle/>
          <a:p>
            <a:pPr marL="0" indent="0" algn="ctr">
              <a:buNone/>
            </a:pPr>
            <a:r>
              <a:rPr lang="en-US" sz="1200" b="1" kern="0" spc="200" dirty="0">
                <a:solidFill>
                  <a:schemeClr val="tx1"/>
                </a:solidFill>
              </a:rPr>
              <a:t>БЕСПЛАТНО</a:t>
            </a:r>
            <a:endParaRPr lang="en-US" sz="1200" dirty="0"/>
          </a:p>
        </p:txBody>
      </p:sp>
      <p:sp>
        <p:nvSpPr>
          <p:cNvPr id="18" name="@pop:10|Basic text"/>
          <p:cNvSpPr txBox="1"/>
          <p:nvPr/>
        </p:nvSpPr>
        <p:spPr>
          <a:xfrm>
            <a:off x="6035040" y="4251960"/>
            <a:ext cx="2423160" cy="548640"/>
          </a:xfrm>
          <a:prstGeom prst="rect">
            <a:avLst/>
          </a:prstGeom>
          <a:noFill/>
          <a:ln/>
        </p:spPr>
        <p:txBody>
          <a:bodyPr wrap="square" lIns="0" tIns="0" rIns="0" bIns="0" rtlCol="0" anchor="t"/>
          <a:lstStyle/>
          <a:p>
            <a:pPr marL="0" indent="0">
              <a:buNone/>
            </a:pPr>
            <a:r>
              <a:rPr lang="en-US" sz="1300" dirty="0">
                <a:solidFill>
                  <a:srgbClr val="6B4A5A"/>
                </a:solidFill>
              </a:rPr>
              <a:t>Публикуйте свои тренировки и события без оплаты</a:t>
            </a:r>
            <a:endParaRPr lang="en-US" sz="1300" dirty="0"/>
          </a:p>
        </p:txBody>
      </p:sp>
      <p:sp>
        <p:nvSpPr>
          <p:cNvPr id="19" name="@pop:13|Sub tier"/>
          <p:cNvSpPr/>
          <p:nvPr/>
        </p:nvSpPr>
        <p:spPr>
          <a:xfrm>
            <a:off x="8869680" y="3200400"/>
            <a:ext cx="2404872" cy="1691640"/>
          </a:xfrm>
          <a:prstGeom prst="roundRect">
            <a:avLst>
              <a:gd name="adj" fmla="val 12973"/>
            </a:avLst>
          </a:prstGeom>
          <a:solidFill>
            <a:srgbClr val="8B1E3F"/>
          </a:solidFill>
          <a:ln/>
        </p:spPr>
      </p:sp>
      <p:sp>
        <p:nvSpPr>
          <p:cNvPr id="20" name="@pop:13|Sub title"/>
          <p:cNvSpPr txBox="1"/>
          <p:nvPr/>
        </p:nvSpPr>
        <p:spPr>
          <a:xfrm>
            <a:off x="9052560" y="3364992"/>
            <a:ext cx="2286000" cy="365760"/>
          </a:xfrm>
          <a:prstGeom prst="rect">
            <a:avLst/>
          </a:prstGeom>
          <a:noFill/>
          <a:ln/>
        </p:spPr>
        <p:txBody>
          <a:bodyPr wrap="square" lIns="0" tIns="0" rIns="0" bIns="0" rtlCol="0" anchor="t"/>
          <a:lstStyle/>
          <a:p>
            <a:pPr marL="0" indent="0">
              <a:buNone/>
            </a:pPr>
            <a:r>
              <a:rPr lang="en-US" sz="1800" b="1" dirty="0">
                <a:solidFill>
                  <a:schemeClr val="bg1"/>
                </a:solidFill>
              </a:rPr>
              <a:t>Подписка</a:t>
            </a:r>
            <a:endParaRPr lang="en-US" sz="1800" dirty="0"/>
          </a:p>
        </p:txBody>
      </p:sp>
      <p:sp>
        <p:nvSpPr>
          <p:cNvPr id="21" name="@pop:13|Pill"/>
          <p:cNvSpPr/>
          <p:nvPr/>
        </p:nvSpPr>
        <p:spPr>
          <a:xfrm>
            <a:off x="9052560" y="3840480"/>
            <a:ext cx="2011680" cy="310896"/>
          </a:xfrm>
          <a:prstGeom prst="roundRect">
            <a:avLst>
              <a:gd name="adj" fmla="val 52941"/>
            </a:avLst>
          </a:prstGeom>
          <a:solidFill>
            <a:srgbClr val="FFC94A"/>
          </a:solidFill>
          <a:ln/>
        </p:spPr>
      </p:sp>
      <p:sp>
        <p:nvSpPr>
          <p:cNvPr id="22" name="@pop:13|Pill text"/>
          <p:cNvSpPr txBox="1"/>
          <p:nvPr/>
        </p:nvSpPr>
        <p:spPr>
          <a:xfrm>
            <a:off x="9052560" y="3840480"/>
            <a:ext cx="2011680" cy="310896"/>
          </a:xfrm>
          <a:prstGeom prst="rect">
            <a:avLst/>
          </a:prstGeom>
          <a:noFill/>
          <a:ln/>
        </p:spPr>
        <p:txBody>
          <a:bodyPr wrap="square" lIns="0" tIns="0" rIns="0" bIns="0" rtlCol="0" anchor="ctr"/>
          <a:lstStyle/>
          <a:p>
            <a:pPr marL="0" indent="0" algn="ctr">
              <a:buNone/>
            </a:pPr>
            <a:r>
              <a:rPr lang="en-US" sz="1100" b="1" kern="0" spc="200" dirty="0">
                <a:solidFill>
                  <a:schemeClr val="tx1"/>
                </a:solidFill>
              </a:rPr>
              <a:t>ЦЕНА НЕ ОПРЕДЕЛЕНА</a:t>
            </a:r>
            <a:endParaRPr lang="en-US" sz="1100" dirty="0"/>
          </a:p>
        </p:txBody>
      </p:sp>
      <p:sp>
        <p:nvSpPr>
          <p:cNvPr id="23" name="@pop:13|Sub text"/>
          <p:cNvSpPr txBox="1"/>
          <p:nvPr/>
        </p:nvSpPr>
        <p:spPr>
          <a:xfrm>
            <a:off x="9052560" y="4251960"/>
            <a:ext cx="2377440" cy="548640"/>
          </a:xfrm>
          <a:prstGeom prst="rect">
            <a:avLst/>
          </a:prstGeom>
          <a:noFill/>
          <a:ln/>
        </p:spPr>
        <p:txBody>
          <a:bodyPr wrap="square" lIns="0" tIns="0" rIns="0" bIns="0" rtlCol="0" anchor="t"/>
          <a:lstStyle/>
          <a:p>
            <a:pPr marL="0" indent="0">
              <a:buNone/>
            </a:pPr>
            <a:r>
              <a:rPr lang="en-US" sz="1300" dirty="0">
                <a:solidFill>
                  <a:srgbClr val="E9D3DB"/>
                </a:solidFill>
              </a:rPr>
              <a:t>Больше публикаций и продвижение событий</a:t>
            </a:r>
            <a:endParaRPr lang="en-US" sz="1300" dirty="0"/>
          </a:p>
        </p:txBody>
      </p:sp>
      <p:sp>
        <p:nvSpPr>
          <p:cNvPr id="29"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11</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4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48"/>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4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48"/>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72"/>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96"/>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96"/>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12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12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12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12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nodeType="withEffect">
                                  <p:stCondLst>
                                    <p:cond delay="12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156"/>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156"/>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156"/>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156"/>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156"/>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fade:0|Pill"/>
          <p:cNvSpPr/>
          <p:nvPr/>
        </p:nvSpPr>
        <p:spPr>
          <a:xfrm>
            <a:off x="548640" y="411480"/>
            <a:ext cx="2461565" cy="329184"/>
          </a:xfrm>
          <a:prstGeom prst="roundRect">
            <a:avLst>
              <a:gd name="adj" fmla="val 50000"/>
            </a:avLst>
          </a:prstGeom>
          <a:solidFill>
            <a:srgbClr val="B9A6FF"/>
          </a:solidFill>
          <a:ln/>
        </p:spPr>
      </p:sp>
      <p:sp>
        <p:nvSpPr>
          <p:cNvPr id="3" name="@fade:0|Pill text"/>
          <p:cNvSpPr txBox="1"/>
          <p:nvPr/>
        </p:nvSpPr>
        <p:spPr>
          <a:xfrm>
            <a:off x="548640" y="411480"/>
            <a:ext cx="2461565"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КОНКУРЕНТНЫЙ АНАЛИЗ</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Сравнение по ключевым функциям</a:t>
            </a:r>
            <a:endParaRPr lang="en-US" sz="4000" dirty="0"/>
          </a:p>
        </p:txBody>
      </p:sp>
      <p:sp>
        <p:nvSpPr>
          <p:cNvPr id="5" name="@fade:2|Subtitle"/>
          <p:cNvSpPr txBox="1"/>
          <p:nvPr/>
        </p:nvSpPr>
        <p:spPr>
          <a:xfrm>
            <a:off x="548640" y="1609344"/>
            <a:ext cx="10058400" cy="274320"/>
          </a:xfrm>
          <a:prstGeom prst="rect">
            <a:avLst/>
          </a:prstGeom>
          <a:noFill/>
          <a:ln/>
        </p:spPr>
        <p:txBody>
          <a:bodyPr wrap="square" lIns="0" tIns="0" rIns="0" bIns="0" rtlCol="0" anchor="t"/>
          <a:lstStyle/>
          <a:p>
            <a:pPr marL="0" indent="0">
              <a:buNone/>
            </a:pPr>
            <a:r>
              <a:rPr lang="en-US" sz="1400" dirty="0">
                <a:solidFill>
                  <a:srgbClr val="6B4A5A"/>
                </a:solidFill>
              </a:rPr>
              <a:t>По публичным описаниям сервисов; оценка показывает основной сценарий, а не полный функционал продукта</a:t>
            </a:r>
            <a:endParaRPr lang="en-US" sz="1400" dirty="0"/>
          </a:p>
        </p:txBody>
      </p:sp>
      <p:sp>
        <p:nvSpPr>
          <p:cNvPr id="6" name="@fade:3|Header"/>
          <p:cNvSpPr/>
          <p:nvPr/>
        </p:nvSpPr>
        <p:spPr>
          <a:xfrm>
            <a:off x="2203704" y="2011680"/>
            <a:ext cx="1527048" cy="713232"/>
          </a:xfrm>
          <a:prstGeom prst="roundRect">
            <a:avLst>
              <a:gd name="adj" fmla="val 20513"/>
            </a:avLst>
          </a:prstGeom>
          <a:solidFill>
            <a:srgbClr val="8B1E3F"/>
          </a:solidFill>
          <a:ln/>
        </p:spPr>
      </p:sp>
      <p:sp>
        <p:nvSpPr>
          <p:cNvPr id="7" name="@fade:3|Header name"/>
          <p:cNvSpPr txBox="1"/>
          <p:nvPr/>
        </p:nvSpPr>
        <p:spPr>
          <a:xfrm>
            <a:off x="2203704" y="2084832"/>
            <a:ext cx="1527048" cy="274320"/>
          </a:xfrm>
          <a:prstGeom prst="rect">
            <a:avLst/>
          </a:prstGeom>
          <a:noFill/>
          <a:ln/>
        </p:spPr>
        <p:txBody>
          <a:bodyPr wrap="square" lIns="0" tIns="0" rIns="0" bIns="0" rtlCol="0" anchor="ctr"/>
          <a:lstStyle/>
          <a:p>
            <a:pPr marL="0" indent="0" algn="ctr">
              <a:buNone/>
            </a:pPr>
            <a:r>
              <a:rPr lang="en-US" sz="1300" b="1" dirty="0">
                <a:solidFill>
                  <a:srgbClr val="FFFFFF"/>
                </a:solidFill>
              </a:rPr>
              <a:t>MESTO</a:t>
            </a:r>
            <a:endParaRPr lang="en-US" sz="1300" dirty="0"/>
          </a:p>
        </p:txBody>
      </p:sp>
      <p:sp>
        <p:nvSpPr>
          <p:cNvPr id="8" name="@fade:3|Type tag"/>
          <p:cNvSpPr/>
          <p:nvPr/>
        </p:nvSpPr>
        <p:spPr>
          <a:xfrm>
            <a:off x="2432304" y="2404872"/>
            <a:ext cx="1069848" cy="228600"/>
          </a:xfrm>
          <a:prstGeom prst="roundRect">
            <a:avLst>
              <a:gd name="adj" fmla="val 48000"/>
            </a:avLst>
          </a:prstGeom>
          <a:solidFill>
            <a:srgbClr val="FFC94A"/>
          </a:solidFill>
          <a:ln/>
        </p:spPr>
      </p:sp>
      <p:sp>
        <p:nvSpPr>
          <p:cNvPr id="9" name="@fade:3|Type tag text"/>
          <p:cNvSpPr txBox="1"/>
          <p:nvPr/>
        </p:nvSpPr>
        <p:spPr>
          <a:xfrm>
            <a:off x="2432304" y="2404872"/>
            <a:ext cx="1069848" cy="228600"/>
          </a:xfrm>
          <a:prstGeom prst="rect">
            <a:avLst/>
          </a:prstGeom>
          <a:noFill/>
          <a:ln/>
        </p:spPr>
        <p:txBody>
          <a:bodyPr wrap="square" lIns="0" tIns="0" rIns="0" bIns="0" rtlCol="0" anchor="ctr"/>
          <a:lstStyle/>
          <a:p>
            <a:pPr marL="0" indent="0" algn="ctr">
              <a:buNone/>
            </a:pPr>
            <a:r>
              <a:rPr lang="en-US" sz="1100" b="1" dirty="0">
                <a:solidFill>
                  <a:schemeClr val="tx1"/>
                </a:solidFill>
              </a:rPr>
              <a:t>Наш проект</a:t>
            </a:r>
            <a:endParaRPr lang="en-US" sz="1100" dirty="0"/>
          </a:p>
        </p:txBody>
      </p:sp>
      <p:sp>
        <p:nvSpPr>
          <p:cNvPr id="10" name="@fade:4|Header"/>
          <p:cNvSpPr/>
          <p:nvPr/>
        </p:nvSpPr>
        <p:spPr>
          <a:xfrm>
            <a:off x="3776472" y="2011680"/>
            <a:ext cx="1527048" cy="713232"/>
          </a:xfrm>
          <a:prstGeom prst="roundRect">
            <a:avLst>
              <a:gd name="adj" fmla="val 20513"/>
            </a:avLst>
          </a:prstGeom>
          <a:solidFill>
            <a:srgbClr val="FFFFFF"/>
          </a:solidFill>
          <a:ln/>
        </p:spPr>
      </p:sp>
      <p:sp>
        <p:nvSpPr>
          <p:cNvPr id="11" name="@fade:4|Header name"/>
          <p:cNvSpPr txBox="1"/>
          <p:nvPr/>
        </p:nvSpPr>
        <p:spPr>
          <a:xfrm>
            <a:off x="3776472" y="2084832"/>
            <a:ext cx="1527048" cy="274320"/>
          </a:xfrm>
          <a:prstGeom prst="rect">
            <a:avLst/>
          </a:prstGeom>
          <a:noFill/>
          <a:ln/>
        </p:spPr>
        <p:txBody>
          <a:bodyPr wrap="square" lIns="0" tIns="0" rIns="0" bIns="0" rtlCol="0" anchor="ctr"/>
          <a:lstStyle/>
          <a:p>
            <a:pPr marL="0" indent="0" algn="ctr">
              <a:buNone/>
            </a:pPr>
            <a:r>
              <a:rPr lang="en-US" sz="1300" b="1" dirty="0">
                <a:solidFill>
                  <a:srgbClr val="2A0F1E"/>
                </a:solidFill>
              </a:rPr>
              <a:t>ВМЕСТИК</a:t>
            </a:r>
            <a:endParaRPr lang="en-US" sz="1300" dirty="0"/>
          </a:p>
        </p:txBody>
      </p:sp>
      <p:sp>
        <p:nvSpPr>
          <p:cNvPr id="12" name="@fade:4|Type tag"/>
          <p:cNvSpPr/>
          <p:nvPr/>
        </p:nvSpPr>
        <p:spPr>
          <a:xfrm>
            <a:off x="4005072" y="2404872"/>
            <a:ext cx="1069848" cy="228600"/>
          </a:xfrm>
          <a:prstGeom prst="roundRect">
            <a:avLst>
              <a:gd name="adj" fmla="val 48000"/>
            </a:avLst>
          </a:prstGeom>
          <a:solidFill>
            <a:srgbClr val="FFDCD6"/>
          </a:solidFill>
          <a:ln/>
        </p:spPr>
      </p:sp>
      <p:sp>
        <p:nvSpPr>
          <p:cNvPr id="13" name="@fade:4|Type tag text"/>
          <p:cNvSpPr txBox="1"/>
          <p:nvPr/>
        </p:nvSpPr>
        <p:spPr>
          <a:xfrm>
            <a:off x="4005072" y="2404872"/>
            <a:ext cx="1069848" cy="228600"/>
          </a:xfrm>
          <a:prstGeom prst="rect">
            <a:avLst/>
          </a:prstGeom>
          <a:noFill/>
          <a:ln/>
        </p:spPr>
        <p:txBody>
          <a:bodyPr wrap="square" lIns="0" tIns="0" rIns="0" bIns="0" rtlCol="0" anchor="ctr"/>
          <a:lstStyle/>
          <a:p>
            <a:pPr marL="0" indent="0" algn="ctr">
              <a:buNone/>
            </a:pPr>
            <a:r>
              <a:rPr lang="en-US" sz="1100" b="1" dirty="0">
                <a:solidFill>
                  <a:schemeClr val="tx1"/>
                </a:solidFill>
              </a:rPr>
              <a:t>Прямой</a:t>
            </a:r>
            <a:endParaRPr lang="en-US" sz="1100" dirty="0"/>
          </a:p>
        </p:txBody>
      </p:sp>
      <p:sp>
        <p:nvSpPr>
          <p:cNvPr id="14" name="@fade:5|Header"/>
          <p:cNvSpPr/>
          <p:nvPr/>
        </p:nvSpPr>
        <p:spPr>
          <a:xfrm>
            <a:off x="5349240" y="2011680"/>
            <a:ext cx="1527048" cy="713232"/>
          </a:xfrm>
          <a:prstGeom prst="roundRect">
            <a:avLst>
              <a:gd name="adj" fmla="val 20513"/>
            </a:avLst>
          </a:prstGeom>
          <a:solidFill>
            <a:srgbClr val="FFFFFF"/>
          </a:solidFill>
          <a:ln/>
        </p:spPr>
      </p:sp>
      <p:sp>
        <p:nvSpPr>
          <p:cNvPr id="15" name="@fade:5|Header name"/>
          <p:cNvSpPr txBox="1"/>
          <p:nvPr/>
        </p:nvSpPr>
        <p:spPr>
          <a:xfrm>
            <a:off x="5349240" y="2084832"/>
            <a:ext cx="1527048" cy="274320"/>
          </a:xfrm>
          <a:prstGeom prst="rect">
            <a:avLst/>
          </a:prstGeom>
          <a:noFill/>
          <a:ln/>
        </p:spPr>
        <p:txBody>
          <a:bodyPr wrap="square" lIns="0" tIns="0" rIns="0" bIns="0" rtlCol="0" anchor="ctr"/>
          <a:lstStyle/>
          <a:p>
            <a:pPr marL="0" indent="0" algn="ctr">
              <a:buNone/>
            </a:pPr>
            <a:r>
              <a:rPr lang="en-US" sz="1300" b="1" dirty="0">
                <a:solidFill>
                  <a:srgbClr val="2A0F1E"/>
                </a:solidFill>
              </a:rPr>
              <a:t>REDSALE</a:t>
            </a:r>
            <a:endParaRPr lang="en-US" sz="1300" dirty="0"/>
          </a:p>
        </p:txBody>
      </p:sp>
      <p:sp>
        <p:nvSpPr>
          <p:cNvPr id="16" name="@fade:5|Type tag"/>
          <p:cNvSpPr/>
          <p:nvPr/>
        </p:nvSpPr>
        <p:spPr>
          <a:xfrm>
            <a:off x="5577840" y="2404872"/>
            <a:ext cx="1069848" cy="228600"/>
          </a:xfrm>
          <a:prstGeom prst="roundRect">
            <a:avLst>
              <a:gd name="adj" fmla="val 48000"/>
            </a:avLst>
          </a:prstGeom>
          <a:solidFill>
            <a:srgbClr val="FFDCD6"/>
          </a:solidFill>
          <a:ln/>
        </p:spPr>
      </p:sp>
      <p:sp>
        <p:nvSpPr>
          <p:cNvPr id="17" name="@fade:5|Type tag text"/>
          <p:cNvSpPr txBox="1"/>
          <p:nvPr/>
        </p:nvSpPr>
        <p:spPr>
          <a:xfrm>
            <a:off x="5577840" y="2404872"/>
            <a:ext cx="1069848" cy="228600"/>
          </a:xfrm>
          <a:prstGeom prst="rect">
            <a:avLst/>
          </a:prstGeom>
          <a:noFill/>
          <a:ln/>
        </p:spPr>
        <p:txBody>
          <a:bodyPr wrap="square" lIns="0" tIns="0" rIns="0" bIns="0" rtlCol="0" anchor="ctr"/>
          <a:lstStyle/>
          <a:p>
            <a:pPr marL="0" indent="0" algn="ctr">
              <a:buNone/>
            </a:pPr>
            <a:r>
              <a:rPr lang="en-US" sz="1100" b="1" dirty="0">
                <a:solidFill>
                  <a:schemeClr val="tx1"/>
                </a:solidFill>
              </a:rPr>
              <a:t>Прямой</a:t>
            </a:r>
            <a:endParaRPr lang="en-US" sz="1100" dirty="0"/>
          </a:p>
        </p:txBody>
      </p:sp>
      <p:sp>
        <p:nvSpPr>
          <p:cNvPr id="18" name="@fade:6|Header"/>
          <p:cNvSpPr/>
          <p:nvPr/>
        </p:nvSpPr>
        <p:spPr>
          <a:xfrm>
            <a:off x="6922008" y="2011680"/>
            <a:ext cx="1527048" cy="713232"/>
          </a:xfrm>
          <a:prstGeom prst="roundRect">
            <a:avLst>
              <a:gd name="adj" fmla="val 20513"/>
            </a:avLst>
          </a:prstGeom>
          <a:solidFill>
            <a:srgbClr val="FFFFFF"/>
          </a:solidFill>
          <a:ln/>
        </p:spPr>
      </p:sp>
      <p:sp>
        <p:nvSpPr>
          <p:cNvPr id="19" name="@fade:6|Header name"/>
          <p:cNvSpPr txBox="1"/>
          <p:nvPr/>
        </p:nvSpPr>
        <p:spPr>
          <a:xfrm>
            <a:off x="6922008" y="2084832"/>
            <a:ext cx="1527048" cy="274320"/>
          </a:xfrm>
          <a:prstGeom prst="rect">
            <a:avLst/>
          </a:prstGeom>
          <a:noFill/>
          <a:ln/>
        </p:spPr>
        <p:txBody>
          <a:bodyPr wrap="square" lIns="0" tIns="0" rIns="0" bIns="0" rtlCol="0" anchor="ctr"/>
          <a:lstStyle/>
          <a:p>
            <a:pPr marL="0" indent="0" algn="ctr">
              <a:buNone/>
            </a:pPr>
            <a:r>
              <a:rPr lang="en-US" sz="1300" b="1" dirty="0">
                <a:solidFill>
                  <a:srgbClr val="2A0F1E"/>
                </a:solidFill>
              </a:rPr>
              <a:t>ALLSPORTS.BY</a:t>
            </a:r>
            <a:endParaRPr lang="en-US" sz="1300" dirty="0"/>
          </a:p>
        </p:txBody>
      </p:sp>
      <p:sp>
        <p:nvSpPr>
          <p:cNvPr id="20" name="@fade:6|Type tag"/>
          <p:cNvSpPr/>
          <p:nvPr/>
        </p:nvSpPr>
        <p:spPr>
          <a:xfrm>
            <a:off x="7150608" y="2404872"/>
            <a:ext cx="1069848" cy="228600"/>
          </a:xfrm>
          <a:prstGeom prst="roundRect">
            <a:avLst>
              <a:gd name="adj" fmla="val 48000"/>
            </a:avLst>
          </a:prstGeom>
          <a:solidFill>
            <a:srgbClr val="FFEFBF"/>
          </a:solidFill>
          <a:ln/>
        </p:spPr>
      </p:sp>
      <p:sp>
        <p:nvSpPr>
          <p:cNvPr id="21" name="@fade:6|Type tag text"/>
          <p:cNvSpPr txBox="1"/>
          <p:nvPr/>
        </p:nvSpPr>
        <p:spPr>
          <a:xfrm>
            <a:off x="7150608" y="2404872"/>
            <a:ext cx="1069848" cy="228600"/>
          </a:xfrm>
          <a:prstGeom prst="rect">
            <a:avLst/>
          </a:prstGeom>
          <a:noFill/>
          <a:ln/>
        </p:spPr>
        <p:txBody>
          <a:bodyPr wrap="square" lIns="0" tIns="0" rIns="0" bIns="0" rtlCol="0" anchor="ctr"/>
          <a:lstStyle/>
          <a:p>
            <a:pPr marL="0" indent="0" algn="ctr">
              <a:buNone/>
            </a:pPr>
            <a:r>
              <a:rPr lang="en-US" sz="1100" b="1" dirty="0">
                <a:solidFill>
                  <a:schemeClr val="tx1"/>
                </a:solidFill>
              </a:rPr>
              <a:t>Косвенный</a:t>
            </a:r>
            <a:endParaRPr lang="en-US" sz="1100" dirty="0"/>
          </a:p>
        </p:txBody>
      </p:sp>
      <p:sp>
        <p:nvSpPr>
          <p:cNvPr id="22" name="@fade:7|Header"/>
          <p:cNvSpPr/>
          <p:nvPr/>
        </p:nvSpPr>
        <p:spPr>
          <a:xfrm>
            <a:off x="8494776" y="2011680"/>
            <a:ext cx="1527048" cy="713232"/>
          </a:xfrm>
          <a:prstGeom prst="roundRect">
            <a:avLst>
              <a:gd name="adj" fmla="val 20513"/>
            </a:avLst>
          </a:prstGeom>
          <a:solidFill>
            <a:srgbClr val="FFFFFF"/>
          </a:solidFill>
          <a:ln/>
        </p:spPr>
      </p:sp>
      <p:sp>
        <p:nvSpPr>
          <p:cNvPr id="23" name="@fade:7|Header name"/>
          <p:cNvSpPr txBox="1"/>
          <p:nvPr/>
        </p:nvSpPr>
        <p:spPr>
          <a:xfrm>
            <a:off x="8494776" y="2084832"/>
            <a:ext cx="1527048" cy="274320"/>
          </a:xfrm>
          <a:prstGeom prst="rect">
            <a:avLst/>
          </a:prstGeom>
          <a:noFill/>
          <a:ln/>
        </p:spPr>
        <p:txBody>
          <a:bodyPr wrap="square" lIns="0" tIns="0" rIns="0" bIns="0" rtlCol="0" anchor="ctr"/>
          <a:lstStyle/>
          <a:p>
            <a:pPr marL="0" indent="0" algn="ctr">
              <a:buNone/>
            </a:pPr>
            <a:r>
              <a:rPr lang="en-US" sz="1300" b="1" dirty="0">
                <a:solidFill>
                  <a:srgbClr val="2A0F1E"/>
                </a:solidFill>
              </a:rPr>
              <a:t>SPORT PRIORITY</a:t>
            </a:r>
            <a:endParaRPr lang="en-US" sz="1300" dirty="0"/>
          </a:p>
        </p:txBody>
      </p:sp>
      <p:sp>
        <p:nvSpPr>
          <p:cNvPr id="24" name="@fade:7|Type tag"/>
          <p:cNvSpPr/>
          <p:nvPr/>
        </p:nvSpPr>
        <p:spPr>
          <a:xfrm>
            <a:off x="8723376" y="2404872"/>
            <a:ext cx="1069848" cy="228600"/>
          </a:xfrm>
          <a:prstGeom prst="roundRect">
            <a:avLst>
              <a:gd name="adj" fmla="val 48000"/>
            </a:avLst>
          </a:prstGeom>
          <a:solidFill>
            <a:srgbClr val="FFEFBF"/>
          </a:solidFill>
          <a:ln/>
        </p:spPr>
      </p:sp>
      <p:sp>
        <p:nvSpPr>
          <p:cNvPr id="25" name="@fade:7|Type tag text"/>
          <p:cNvSpPr txBox="1"/>
          <p:nvPr/>
        </p:nvSpPr>
        <p:spPr>
          <a:xfrm>
            <a:off x="8723376" y="2404872"/>
            <a:ext cx="1069848" cy="228600"/>
          </a:xfrm>
          <a:prstGeom prst="rect">
            <a:avLst/>
          </a:prstGeom>
          <a:noFill/>
          <a:ln/>
        </p:spPr>
        <p:txBody>
          <a:bodyPr wrap="square" lIns="0" tIns="0" rIns="0" bIns="0" rtlCol="0" anchor="ctr"/>
          <a:lstStyle/>
          <a:p>
            <a:pPr marL="0" indent="0" algn="ctr">
              <a:buNone/>
            </a:pPr>
            <a:r>
              <a:rPr lang="en-US" sz="1100" b="1" dirty="0">
                <a:solidFill>
                  <a:schemeClr val="tx1"/>
                </a:solidFill>
              </a:rPr>
              <a:t>Косвенный</a:t>
            </a:r>
            <a:endParaRPr lang="en-US" sz="1100" dirty="0"/>
          </a:p>
        </p:txBody>
      </p:sp>
      <p:sp>
        <p:nvSpPr>
          <p:cNvPr id="26" name="@fade:8|Header"/>
          <p:cNvSpPr/>
          <p:nvPr/>
        </p:nvSpPr>
        <p:spPr>
          <a:xfrm>
            <a:off x="10067544" y="2011680"/>
            <a:ext cx="1527048" cy="713232"/>
          </a:xfrm>
          <a:prstGeom prst="roundRect">
            <a:avLst>
              <a:gd name="adj" fmla="val 20513"/>
            </a:avLst>
          </a:prstGeom>
          <a:solidFill>
            <a:srgbClr val="FFFFFF"/>
          </a:solidFill>
          <a:ln/>
        </p:spPr>
      </p:sp>
      <p:sp>
        <p:nvSpPr>
          <p:cNvPr id="27" name="@fade:8|Header name"/>
          <p:cNvSpPr txBox="1"/>
          <p:nvPr/>
        </p:nvSpPr>
        <p:spPr>
          <a:xfrm>
            <a:off x="10067544" y="2084832"/>
            <a:ext cx="1527048" cy="274320"/>
          </a:xfrm>
          <a:prstGeom prst="rect">
            <a:avLst/>
          </a:prstGeom>
          <a:noFill/>
          <a:ln/>
        </p:spPr>
        <p:txBody>
          <a:bodyPr wrap="square" lIns="0" tIns="0" rIns="0" bIns="0" rtlCol="0" anchor="ctr"/>
          <a:lstStyle/>
          <a:p>
            <a:pPr marL="0" indent="0" algn="ctr">
              <a:buNone/>
            </a:pPr>
            <a:r>
              <a:rPr lang="en-US" sz="1300" b="1" dirty="0">
                <a:solidFill>
                  <a:srgbClr val="2A0F1E"/>
                </a:solidFill>
              </a:rPr>
              <a:t>TG / СОЦСЕТИ</a:t>
            </a:r>
            <a:endParaRPr lang="en-US" sz="1300" dirty="0"/>
          </a:p>
        </p:txBody>
      </p:sp>
      <p:sp>
        <p:nvSpPr>
          <p:cNvPr id="28" name="@fade:8|Type tag"/>
          <p:cNvSpPr/>
          <p:nvPr/>
        </p:nvSpPr>
        <p:spPr>
          <a:xfrm>
            <a:off x="10296144" y="2404872"/>
            <a:ext cx="1069848" cy="228600"/>
          </a:xfrm>
          <a:prstGeom prst="roundRect">
            <a:avLst>
              <a:gd name="adj" fmla="val 48000"/>
            </a:avLst>
          </a:prstGeom>
          <a:solidFill>
            <a:srgbClr val="E5DEFF"/>
          </a:solidFill>
          <a:ln/>
        </p:spPr>
      </p:sp>
      <p:sp>
        <p:nvSpPr>
          <p:cNvPr id="29" name="@fade:8|Type tag text"/>
          <p:cNvSpPr txBox="1"/>
          <p:nvPr/>
        </p:nvSpPr>
        <p:spPr>
          <a:xfrm>
            <a:off x="10296144" y="2404872"/>
            <a:ext cx="1069848" cy="228600"/>
          </a:xfrm>
          <a:prstGeom prst="rect">
            <a:avLst/>
          </a:prstGeom>
          <a:noFill/>
          <a:ln/>
        </p:spPr>
        <p:txBody>
          <a:bodyPr wrap="square" lIns="0" tIns="0" rIns="0" bIns="0" rtlCol="0" anchor="ctr"/>
          <a:lstStyle/>
          <a:p>
            <a:pPr marL="0" indent="0" algn="ctr">
              <a:buNone/>
            </a:pPr>
            <a:r>
              <a:rPr lang="en-US" sz="1100" b="1" dirty="0">
                <a:solidFill>
                  <a:schemeClr val="tx1"/>
                </a:solidFill>
              </a:rPr>
              <a:t>Субститут</a:t>
            </a:r>
            <a:endParaRPr lang="en-US" sz="1100" dirty="0"/>
          </a:p>
        </p:txBody>
      </p:sp>
      <p:sp>
        <p:nvSpPr>
          <p:cNvPr id="30" name="@fade:3|Function header"/>
          <p:cNvSpPr txBox="1"/>
          <p:nvPr/>
        </p:nvSpPr>
        <p:spPr>
          <a:xfrm>
            <a:off x="548640" y="2011680"/>
            <a:ext cx="1600200" cy="713232"/>
          </a:xfrm>
          <a:prstGeom prst="rect">
            <a:avLst/>
          </a:prstGeom>
          <a:noFill/>
          <a:ln/>
        </p:spPr>
        <p:txBody>
          <a:bodyPr wrap="square" lIns="0" tIns="0" rIns="0" bIns="0" rtlCol="0" anchor="ctr"/>
          <a:lstStyle/>
          <a:p>
            <a:pPr marL="0" indent="0">
              <a:buNone/>
            </a:pPr>
            <a:r>
              <a:rPr lang="en-US" sz="1300" b="1" kern="0" spc="200" dirty="0">
                <a:solidFill>
                  <a:srgbClr val="6B4A5A"/>
                </a:solidFill>
              </a:rPr>
              <a:t>ФУНКЦИЯ</a:t>
            </a:r>
            <a:endParaRPr lang="en-US" sz="1300" dirty="0"/>
          </a:p>
        </p:txBody>
      </p:sp>
      <p:sp>
        <p:nvSpPr>
          <p:cNvPr id="31" name="@rise:10|Row label card"/>
          <p:cNvSpPr/>
          <p:nvPr/>
        </p:nvSpPr>
        <p:spPr>
          <a:xfrm>
            <a:off x="548640" y="2807208"/>
            <a:ext cx="1600200" cy="786384"/>
          </a:xfrm>
          <a:prstGeom prst="roundRect">
            <a:avLst>
              <a:gd name="adj" fmla="val 18605"/>
            </a:avLst>
          </a:prstGeom>
          <a:solidFill>
            <a:srgbClr val="FBDDE6"/>
          </a:solidFill>
          <a:ln/>
        </p:spPr>
      </p:sp>
      <p:sp>
        <p:nvSpPr>
          <p:cNvPr id="32" name="@fade:12|Row label"/>
          <p:cNvSpPr txBox="1"/>
          <p:nvPr/>
        </p:nvSpPr>
        <p:spPr>
          <a:xfrm>
            <a:off x="658368" y="2807208"/>
            <a:ext cx="1399032" cy="786384"/>
          </a:xfrm>
          <a:prstGeom prst="rect">
            <a:avLst/>
          </a:prstGeom>
          <a:noFill/>
          <a:ln/>
        </p:spPr>
        <p:txBody>
          <a:bodyPr wrap="square" lIns="0" tIns="0" rIns="0" bIns="0" rtlCol="0" anchor="ctr"/>
          <a:lstStyle/>
          <a:p>
            <a:pPr marL="0" indent="0">
              <a:buNone/>
            </a:pPr>
            <a:r>
              <a:rPr lang="en-US" sz="1400" b="1" dirty="0">
                <a:solidFill>
                  <a:schemeClr val="tx1"/>
                </a:solidFill>
              </a:rPr>
              <a:t>Единый поиск предложений</a:t>
            </a:r>
            <a:endParaRPr lang="en-US" sz="1400" dirty="0"/>
          </a:p>
        </p:txBody>
      </p:sp>
      <p:sp>
        <p:nvSpPr>
          <p:cNvPr id="33" name="@rise:10|Cell"/>
          <p:cNvSpPr/>
          <p:nvPr/>
        </p:nvSpPr>
        <p:spPr>
          <a:xfrm>
            <a:off x="2203704" y="2807208"/>
            <a:ext cx="1527048" cy="786384"/>
          </a:xfrm>
          <a:prstGeom prst="roundRect">
            <a:avLst>
              <a:gd name="adj" fmla="val 18605"/>
            </a:avLst>
          </a:prstGeom>
          <a:solidFill>
            <a:srgbClr val="FFEFBF"/>
          </a:solidFill>
          <a:ln/>
        </p:spPr>
      </p:sp>
      <p:pic>
        <p:nvPicPr>
          <p:cNvPr id="34" name="@fade:12|Mark" descr="Есть"/>
          <p:cNvPicPr>
            <a:picLocks noChangeAspect="1"/>
          </p:cNvPicPr>
          <p:nvPr/>
        </p:nvPicPr>
        <p:blipFill>
          <a:blip r:embed="rId3"/>
          <a:stretch>
            <a:fillRect/>
          </a:stretch>
        </p:blipFill>
        <p:spPr>
          <a:xfrm>
            <a:off x="2313432" y="2889504"/>
            <a:ext cx="201168" cy="201168"/>
          </a:xfrm>
          <a:prstGeom prst="rect">
            <a:avLst/>
          </a:prstGeom>
        </p:spPr>
      </p:pic>
      <p:sp>
        <p:nvSpPr>
          <p:cNvPr id="35" name="@fade:12|Cell text"/>
          <p:cNvSpPr txBox="1"/>
          <p:nvPr/>
        </p:nvSpPr>
        <p:spPr>
          <a:xfrm>
            <a:off x="2313432" y="3136392"/>
            <a:ext cx="1344168" cy="420624"/>
          </a:xfrm>
          <a:prstGeom prst="rect">
            <a:avLst/>
          </a:prstGeom>
          <a:noFill/>
          <a:ln/>
        </p:spPr>
        <p:txBody>
          <a:bodyPr wrap="square" lIns="0" tIns="0" rIns="0" bIns="0" rtlCol="0" anchor="t"/>
          <a:lstStyle/>
          <a:p>
            <a:pPr marL="0" indent="0">
              <a:buNone/>
            </a:pPr>
            <a:r>
              <a:rPr lang="en-US" sz="1200" dirty="0">
                <a:solidFill>
                  <a:schemeClr val="tx1"/>
                </a:solidFill>
              </a:rPr>
              <a:t>Карта и запись</a:t>
            </a:r>
            <a:endParaRPr lang="en-US" sz="1200" dirty="0"/>
          </a:p>
        </p:txBody>
      </p:sp>
      <p:sp>
        <p:nvSpPr>
          <p:cNvPr id="36" name="@rise:10|Cell"/>
          <p:cNvSpPr/>
          <p:nvPr/>
        </p:nvSpPr>
        <p:spPr>
          <a:xfrm>
            <a:off x="3776472" y="2807208"/>
            <a:ext cx="1527048" cy="786384"/>
          </a:xfrm>
          <a:prstGeom prst="roundRect">
            <a:avLst>
              <a:gd name="adj" fmla="val 18605"/>
            </a:avLst>
          </a:prstGeom>
          <a:solidFill>
            <a:srgbClr val="FFFFFF"/>
          </a:solidFill>
          <a:ln/>
        </p:spPr>
      </p:sp>
      <p:pic>
        <p:nvPicPr>
          <p:cNvPr id="37" name="@fade:12|Mark" descr="Есть"/>
          <p:cNvPicPr>
            <a:picLocks noChangeAspect="1"/>
          </p:cNvPicPr>
          <p:nvPr/>
        </p:nvPicPr>
        <p:blipFill>
          <a:blip r:embed="rId3"/>
          <a:stretch>
            <a:fillRect/>
          </a:stretch>
        </p:blipFill>
        <p:spPr>
          <a:xfrm>
            <a:off x="3886200" y="2889504"/>
            <a:ext cx="201168" cy="201168"/>
          </a:xfrm>
          <a:prstGeom prst="rect">
            <a:avLst/>
          </a:prstGeom>
        </p:spPr>
      </p:pic>
      <p:sp>
        <p:nvSpPr>
          <p:cNvPr id="38" name="@fade:12|Cell text"/>
          <p:cNvSpPr txBox="1"/>
          <p:nvPr/>
        </p:nvSpPr>
        <p:spPr>
          <a:xfrm>
            <a:off x="3886200" y="3136392"/>
            <a:ext cx="1344168" cy="420624"/>
          </a:xfrm>
          <a:prstGeom prst="rect">
            <a:avLst/>
          </a:prstGeom>
          <a:noFill/>
          <a:ln/>
        </p:spPr>
        <p:txBody>
          <a:bodyPr wrap="square" lIns="0" tIns="0" rIns="0" bIns="0" rtlCol="0" anchor="t"/>
          <a:lstStyle/>
          <a:p>
            <a:pPr marL="0" indent="0">
              <a:buNone/>
            </a:pPr>
            <a:r>
              <a:rPr lang="en-US" sz="1200" dirty="0">
                <a:solidFill>
                  <a:schemeClr val="tx1"/>
                </a:solidFill>
              </a:rPr>
              <a:t>Спорт и отдых</a:t>
            </a:r>
            <a:endParaRPr lang="en-US" sz="1200" dirty="0"/>
          </a:p>
        </p:txBody>
      </p:sp>
      <p:sp>
        <p:nvSpPr>
          <p:cNvPr id="39" name="@rise:10|Cell"/>
          <p:cNvSpPr/>
          <p:nvPr/>
        </p:nvSpPr>
        <p:spPr>
          <a:xfrm>
            <a:off x="5349240" y="2807208"/>
            <a:ext cx="1527048" cy="786384"/>
          </a:xfrm>
          <a:prstGeom prst="roundRect">
            <a:avLst>
              <a:gd name="adj" fmla="val 18605"/>
            </a:avLst>
          </a:prstGeom>
          <a:solidFill>
            <a:srgbClr val="FFFFFF"/>
          </a:solidFill>
          <a:ln/>
        </p:spPr>
      </p:sp>
      <p:pic>
        <p:nvPicPr>
          <p:cNvPr id="40" name="@fade:12|Mark" descr="Частично"/>
          <p:cNvPicPr>
            <a:picLocks noChangeAspect="1"/>
          </p:cNvPicPr>
          <p:nvPr/>
        </p:nvPicPr>
        <p:blipFill>
          <a:blip r:embed="rId4"/>
          <a:stretch>
            <a:fillRect/>
          </a:stretch>
        </p:blipFill>
        <p:spPr>
          <a:xfrm>
            <a:off x="5458968" y="2889504"/>
            <a:ext cx="201168" cy="201168"/>
          </a:xfrm>
          <a:prstGeom prst="rect">
            <a:avLst/>
          </a:prstGeom>
        </p:spPr>
      </p:pic>
      <p:sp>
        <p:nvSpPr>
          <p:cNvPr id="41" name="@fade:12|Cell text"/>
          <p:cNvSpPr txBox="1"/>
          <p:nvPr/>
        </p:nvSpPr>
        <p:spPr>
          <a:xfrm>
            <a:off x="5458968" y="3136392"/>
            <a:ext cx="1344168" cy="420624"/>
          </a:xfrm>
          <a:prstGeom prst="rect">
            <a:avLst/>
          </a:prstGeom>
          <a:noFill/>
          <a:ln/>
        </p:spPr>
        <p:txBody>
          <a:bodyPr wrap="square" lIns="0" tIns="0" rIns="0" bIns="0" rtlCol="0" anchor="t"/>
          <a:lstStyle/>
          <a:p>
            <a:pPr marL="0" indent="0">
              <a:buNone/>
            </a:pPr>
            <a:r>
              <a:rPr lang="en-US" sz="1200" dirty="0">
                <a:solidFill>
                  <a:schemeClr val="tx1"/>
                </a:solidFill>
              </a:rPr>
              <a:t>Каталог тренеров</a:t>
            </a:r>
            <a:endParaRPr lang="en-US" sz="1200" dirty="0"/>
          </a:p>
        </p:txBody>
      </p:sp>
      <p:sp>
        <p:nvSpPr>
          <p:cNvPr id="42" name="@rise:10|Cell"/>
          <p:cNvSpPr/>
          <p:nvPr/>
        </p:nvSpPr>
        <p:spPr>
          <a:xfrm>
            <a:off x="6922008" y="2807208"/>
            <a:ext cx="1527048" cy="786384"/>
          </a:xfrm>
          <a:prstGeom prst="roundRect">
            <a:avLst>
              <a:gd name="adj" fmla="val 18605"/>
            </a:avLst>
          </a:prstGeom>
          <a:solidFill>
            <a:srgbClr val="FFFFFF"/>
          </a:solidFill>
          <a:ln/>
        </p:spPr>
      </p:sp>
      <p:pic>
        <p:nvPicPr>
          <p:cNvPr id="43" name="@fade:12|Mark" descr="Частично"/>
          <p:cNvPicPr>
            <a:picLocks noChangeAspect="1"/>
          </p:cNvPicPr>
          <p:nvPr/>
        </p:nvPicPr>
        <p:blipFill>
          <a:blip r:embed="rId4"/>
          <a:stretch>
            <a:fillRect/>
          </a:stretch>
        </p:blipFill>
        <p:spPr>
          <a:xfrm>
            <a:off x="7031736" y="2889504"/>
            <a:ext cx="201168" cy="201168"/>
          </a:xfrm>
          <a:prstGeom prst="rect">
            <a:avLst/>
          </a:prstGeom>
        </p:spPr>
      </p:pic>
      <p:sp>
        <p:nvSpPr>
          <p:cNvPr id="44" name="@fade:12|Cell text"/>
          <p:cNvSpPr txBox="1"/>
          <p:nvPr/>
        </p:nvSpPr>
        <p:spPr>
          <a:xfrm>
            <a:off x="7031736" y="3136392"/>
            <a:ext cx="1344168" cy="420624"/>
          </a:xfrm>
          <a:prstGeom prst="rect">
            <a:avLst/>
          </a:prstGeom>
          <a:noFill/>
          <a:ln/>
        </p:spPr>
        <p:txBody>
          <a:bodyPr wrap="square" lIns="0" tIns="0" rIns="0" bIns="0" rtlCol="0" anchor="t"/>
          <a:lstStyle/>
          <a:p>
            <a:pPr marL="0" indent="0">
              <a:buNone/>
            </a:pPr>
            <a:r>
              <a:rPr lang="en-US" sz="1200" dirty="0">
                <a:solidFill>
                  <a:schemeClr val="tx1"/>
                </a:solidFill>
              </a:rPr>
              <a:t>Объекты и услуги</a:t>
            </a:r>
            <a:endParaRPr lang="en-US" sz="1200" dirty="0"/>
          </a:p>
        </p:txBody>
      </p:sp>
      <p:sp>
        <p:nvSpPr>
          <p:cNvPr id="45" name="@rise:10|Cell"/>
          <p:cNvSpPr/>
          <p:nvPr/>
        </p:nvSpPr>
        <p:spPr>
          <a:xfrm>
            <a:off x="8494776" y="2807208"/>
            <a:ext cx="1527048" cy="786384"/>
          </a:xfrm>
          <a:prstGeom prst="roundRect">
            <a:avLst>
              <a:gd name="adj" fmla="val 18605"/>
            </a:avLst>
          </a:prstGeom>
          <a:solidFill>
            <a:srgbClr val="FFFFFF"/>
          </a:solidFill>
          <a:ln/>
        </p:spPr>
      </p:sp>
      <p:pic>
        <p:nvPicPr>
          <p:cNvPr id="46" name="@fade:12|Mark" descr="Частично"/>
          <p:cNvPicPr>
            <a:picLocks noChangeAspect="1"/>
          </p:cNvPicPr>
          <p:nvPr/>
        </p:nvPicPr>
        <p:blipFill>
          <a:blip r:embed="rId4"/>
          <a:stretch>
            <a:fillRect/>
          </a:stretch>
        </p:blipFill>
        <p:spPr>
          <a:xfrm>
            <a:off x="8604504" y="2889504"/>
            <a:ext cx="201168" cy="201168"/>
          </a:xfrm>
          <a:prstGeom prst="rect">
            <a:avLst/>
          </a:prstGeom>
        </p:spPr>
      </p:pic>
      <p:sp>
        <p:nvSpPr>
          <p:cNvPr id="47" name="@fade:12|Cell text"/>
          <p:cNvSpPr txBox="1"/>
          <p:nvPr/>
        </p:nvSpPr>
        <p:spPr>
          <a:xfrm>
            <a:off x="8604504" y="3136392"/>
            <a:ext cx="1344168" cy="420624"/>
          </a:xfrm>
          <a:prstGeom prst="rect">
            <a:avLst/>
          </a:prstGeom>
          <a:noFill/>
          <a:ln/>
        </p:spPr>
        <p:txBody>
          <a:bodyPr wrap="square" lIns="0" tIns="0" rIns="0" bIns="0" rtlCol="0" anchor="t"/>
          <a:lstStyle/>
          <a:p>
            <a:pPr marL="0" indent="0">
              <a:buNone/>
            </a:pPr>
            <a:r>
              <a:rPr lang="en-US" sz="1200" dirty="0">
                <a:solidFill>
                  <a:schemeClr val="tx1"/>
                </a:solidFill>
              </a:rPr>
              <a:t>Расписания студий</a:t>
            </a:r>
            <a:endParaRPr lang="en-US" sz="1200" dirty="0"/>
          </a:p>
        </p:txBody>
      </p:sp>
      <p:sp>
        <p:nvSpPr>
          <p:cNvPr id="48" name="@rise:10|Cell"/>
          <p:cNvSpPr/>
          <p:nvPr/>
        </p:nvSpPr>
        <p:spPr>
          <a:xfrm>
            <a:off x="10067544" y="2807208"/>
            <a:ext cx="1527048" cy="786384"/>
          </a:xfrm>
          <a:prstGeom prst="roundRect">
            <a:avLst>
              <a:gd name="adj" fmla="val 18605"/>
            </a:avLst>
          </a:prstGeom>
          <a:solidFill>
            <a:srgbClr val="FFFFFF"/>
          </a:solidFill>
          <a:ln/>
        </p:spPr>
      </p:sp>
      <p:pic>
        <p:nvPicPr>
          <p:cNvPr id="49" name="@fade:12|Mark" descr="Частично"/>
          <p:cNvPicPr>
            <a:picLocks noChangeAspect="1"/>
          </p:cNvPicPr>
          <p:nvPr/>
        </p:nvPicPr>
        <p:blipFill>
          <a:blip r:embed="rId4"/>
          <a:stretch>
            <a:fillRect/>
          </a:stretch>
        </p:blipFill>
        <p:spPr>
          <a:xfrm>
            <a:off x="10177272" y="2889504"/>
            <a:ext cx="201168" cy="201168"/>
          </a:xfrm>
          <a:prstGeom prst="rect">
            <a:avLst/>
          </a:prstGeom>
        </p:spPr>
      </p:pic>
      <p:sp>
        <p:nvSpPr>
          <p:cNvPr id="50" name="@fade:12|Cell text"/>
          <p:cNvSpPr txBox="1"/>
          <p:nvPr/>
        </p:nvSpPr>
        <p:spPr>
          <a:xfrm>
            <a:off x="10177272" y="3136392"/>
            <a:ext cx="1344168" cy="420624"/>
          </a:xfrm>
          <a:prstGeom prst="rect">
            <a:avLst/>
          </a:prstGeom>
          <a:noFill/>
          <a:ln/>
        </p:spPr>
        <p:txBody>
          <a:bodyPr wrap="square" lIns="0" tIns="0" rIns="0" bIns="0" rtlCol="0" anchor="t"/>
          <a:lstStyle/>
          <a:p>
            <a:pPr marL="0" indent="0">
              <a:buNone/>
            </a:pPr>
            <a:r>
              <a:rPr lang="en-US" sz="1200" dirty="0">
                <a:solidFill>
                  <a:schemeClr val="tx1"/>
                </a:solidFill>
              </a:rPr>
              <a:t>Разрозненные посты</a:t>
            </a:r>
            <a:endParaRPr lang="en-US" sz="1200" dirty="0"/>
          </a:p>
        </p:txBody>
      </p:sp>
      <p:sp>
        <p:nvSpPr>
          <p:cNvPr id="51" name="@rise:13|Row label card"/>
          <p:cNvSpPr/>
          <p:nvPr/>
        </p:nvSpPr>
        <p:spPr>
          <a:xfrm>
            <a:off x="548640" y="3648456"/>
            <a:ext cx="1600200" cy="786384"/>
          </a:xfrm>
          <a:prstGeom prst="roundRect">
            <a:avLst>
              <a:gd name="adj" fmla="val 18605"/>
            </a:avLst>
          </a:prstGeom>
          <a:solidFill>
            <a:srgbClr val="FBDDE6"/>
          </a:solidFill>
          <a:ln/>
        </p:spPr>
      </p:sp>
      <p:sp>
        <p:nvSpPr>
          <p:cNvPr id="52" name="@fade:15|Row label"/>
          <p:cNvSpPr txBox="1"/>
          <p:nvPr/>
        </p:nvSpPr>
        <p:spPr>
          <a:xfrm>
            <a:off x="658368" y="3648456"/>
            <a:ext cx="1399032" cy="786384"/>
          </a:xfrm>
          <a:prstGeom prst="rect">
            <a:avLst/>
          </a:prstGeom>
          <a:noFill/>
          <a:ln/>
        </p:spPr>
        <p:txBody>
          <a:bodyPr wrap="square" lIns="0" tIns="0" rIns="0" bIns="0" rtlCol="0" anchor="ctr"/>
          <a:lstStyle/>
          <a:p>
            <a:pPr marL="0" indent="0">
              <a:buNone/>
            </a:pPr>
            <a:r>
              <a:rPr lang="en-US" sz="1400" b="1" dirty="0">
                <a:solidFill>
                  <a:schemeClr val="tx1"/>
                </a:solidFill>
              </a:rPr>
              <a:t>Сравнение тренеров и условий</a:t>
            </a:r>
            <a:endParaRPr lang="en-US" sz="1400" dirty="0"/>
          </a:p>
        </p:txBody>
      </p:sp>
      <p:sp>
        <p:nvSpPr>
          <p:cNvPr id="53" name="@rise:13|Cell"/>
          <p:cNvSpPr/>
          <p:nvPr/>
        </p:nvSpPr>
        <p:spPr>
          <a:xfrm>
            <a:off x="2203704" y="3648456"/>
            <a:ext cx="1527048" cy="786384"/>
          </a:xfrm>
          <a:prstGeom prst="roundRect">
            <a:avLst>
              <a:gd name="adj" fmla="val 18605"/>
            </a:avLst>
          </a:prstGeom>
          <a:solidFill>
            <a:srgbClr val="FFEFBF"/>
          </a:solidFill>
          <a:ln/>
        </p:spPr>
      </p:sp>
      <p:pic>
        <p:nvPicPr>
          <p:cNvPr id="54" name="@fade:15|Mark" descr="Частично"/>
          <p:cNvPicPr>
            <a:picLocks noChangeAspect="1"/>
          </p:cNvPicPr>
          <p:nvPr/>
        </p:nvPicPr>
        <p:blipFill>
          <a:blip r:embed="rId4"/>
          <a:stretch>
            <a:fillRect/>
          </a:stretch>
        </p:blipFill>
        <p:spPr>
          <a:xfrm>
            <a:off x="2313432" y="3730752"/>
            <a:ext cx="201168" cy="201168"/>
          </a:xfrm>
          <a:prstGeom prst="rect">
            <a:avLst/>
          </a:prstGeom>
        </p:spPr>
      </p:pic>
      <p:sp>
        <p:nvSpPr>
          <p:cNvPr id="55" name="@fade:15|Cell text"/>
          <p:cNvSpPr txBox="1"/>
          <p:nvPr/>
        </p:nvSpPr>
        <p:spPr>
          <a:xfrm>
            <a:off x="2313432" y="3977640"/>
            <a:ext cx="1344168" cy="420624"/>
          </a:xfrm>
          <a:prstGeom prst="rect">
            <a:avLst/>
          </a:prstGeom>
          <a:noFill/>
          <a:ln/>
        </p:spPr>
        <p:txBody>
          <a:bodyPr wrap="square" lIns="0" tIns="0" rIns="0" bIns="0" rtlCol="0" anchor="t"/>
          <a:lstStyle/>
          <a:p>
            <a:pPr marL="0" indent="0">
              <a:buNone/>
            </a:pPr>
            <a:r>
              <a:rPr lang="en-US" sz="1200" dirty="0">
                <a:solidFill>
                  <a:schemeClr val="tx1"/>
                </a:solidFill>
              </a:rPr>
              <a:t>Каталог и фильтры развиваются</a:t>
            </a:r>
            <a:endParaRPr lang="en-US" sz="1200" dirty="0"/>
          </a:p>
        </p:txBody>
      </p:sp>
      <p:sp>
        <p:nvSpPr>
          <p:cNvPr id="56" name="@rise:13|Cell"/>
          <p:cNvSpPr/>
          <p:nvPr/>
        </p:nvSpPr>
        <p:spPr>
          <a:xfrm>
            <a:off x="3776472" y="3648456"/>
            <a:ext cx="1527048" cy="786384"/>
          </a:xfrm>
          <a:prstGeom prst="roundRect">
            <a:avLst>
              <a:gd name="adj" fmla="val 18605"/>
            </a:avLst>
          </a:prstGeom>
          <a:solidFill>
            <a:srgbClr val="FFFFFF"/>
          </a:solidFill>
          <a:ln/>
        </p:spPr>
      </p:sp>
      <p:pic>
        <p:nvPicPr>
          <p:cNvPr id="57" name="@fade:15|Mark" descr="Частично"/>
          <p:cNvPicPr>
            <a:picLocks noChangeAspect="1"/>
          </p:cNvPicPr>
          <p:nvPr/>
        </p:nvPicPr>
        <p:blipFill>
          <a:blip r:embed="rId4"/>
          <a:stretch>
            <a:fillRect/>
          </a:stretch>
        </p:blipFill>
        <p:spPr>
          <a:xfrm>
            <a:off x="3886200" y="3730752"/>
            <a:ext cx="201168" cy="201168"/>
          </a:xfrm>
          <a:prstGeom prst="rect">
            <a:avLst/>
          </a:prstGeom>
        </p:spPr>
      </p:pic>
      <p:sp>
        <p:nvSpPr>
          <p:cNvPr id="58" name="@fade:15|Cell text"/>
          <p:cNvSpPr txBox="1"/>
          <p:nvPr/>
        </p:nvSpPr>
        <p:spPr>
          <a:xfrm>
            <a:off x="3886200" y="3977640"/>
            <a:ext cx="1344168" cy="420624"/>
          </a:xfrm>
          <a:prstGeom prst="rect">
            <a:avLst/>
          </a:prstGeom>
          <a:noFill/>
          <a:ln/>
        </p:spPr>
        <p:txBody>
          <a:bodyPr wrap="square" lIns="0" tIns="0" rIns="0" bIns="0" rtlCol="0" anchor="t"/>
          <a:lstStyle/>
          <a:p>
            <a:pPr marL="0" indent="0">
              <a:buNone/>
            </a:pPr>
            <a:r>
              <a:rPr lang="en-US" sz="1200" dirty="0">
                <a:solidFill>
                  <a:schemeClr val="tx1"/>
                </a:solidFill>
              </a:rPr>
              <a:t>Главное — объекты</a:t>
            </a:r>
            <a:endParaRPr lang="en-US" sz="1200" dirty="0"/>
          </a:p>
        </p:txBody>
      </p:sp>
      <p:sp>
        <p:nvSpPr>
          <p:cNvPr id="59" name="@rise:13|Cell"/>
          <p:cNvSpPr/>
          <p:nvPr/>
        </p:nvSpPr>
        <p:spPr>
          <a:xfrm>
            <a:off x="5349240" y="3648456"/>
            <a:ext cx="1527048" cy="786384"/>
          </a:xfrm>
          <a:prstGeom prst="roundRect">
            <a:avLst>
              <a:gd name="adj" fmla="val 18605"/>
            </a:avLst>
          </a:prstGeom>
          <a:solidFill>
            <a:srgbClr val="FFFFFF"/>
          </a:solidFill>
          <a:ln/>
        </p:spPr>
      </p:sp>
      <p:pic>
        <p:nvPicPr>
          <p:cNvPr id="60" name="@fade:15|Mark" descr="Есть"/>
          <p:cNvPicPr>
            <a:picLocks noChangeAspect="1"/>
          </p:cNvPicPr>
          <p:nvPr/>
        </p:nvPicPr>
        <p:blipFill>
          <a:blip r:embed="rId3"/>
          <a:stretch>
            <a:fillRect/>
          </a:stretch>
        </p:blipFill>
        <p:spPr>
          <a:xfrm>
            <a:off x="5458968" y="3730752"/>
            <a:ext cx="201168" cy="201168"/>
          </a:xfrm>
          <a:prstGeom prst="rect">
            <a:avLst/>
          </a:prstGeom>
        </p:spPr>
      </p:pic>
      <p:sp>
        <p:nvSpPr>
          <p:cNvPr id="61" name="@fade:15|Cell text"/>
          <p:cNvSpPr txBox="1"/>
          <p:nvPr/>
        </p:nvSpPr>
        <p:spPr>
          <a:xfrm>
            <a:off x="5458968" y="3977640"/>
            <a:ext cx="1344168" cy="420624"/>
          </a:xfrm>
          <a:prstGeom prst="rect">
            <a:avLst/>
          </a:prstGeom>
          <a:noFill/>
          <a:ln/>
        </p:spPr>
        <p:txBody>
          <a:bodyPr wrap="square" lIns="0" tIns="0" rIns="0" bIns="0" rtlCol="0" anchor="t"/>
          <a:lstStyle/>
          <a:p>
            <a:pPr marL="0" indent="0">
              <a:buNone/>
            </a:pPr>
            <a:r>
              <a:rPr lang="en-US" sz="1200" dirty="0">
                <a:solidFill>
                  <a:schemeClr val="tx1"/>
                </a:solidFill>
              </a:rPr>
              <a:t>Анкеты, цены, отзывы</a:t>
            </a:r>
            <a:endParaRPr lang="en-US" sz="1200" dirty="0"/>
          </a:p>
        </p:txBody>
      </p:sp>
      <p:sp>
        <p:nvSpPr>
          <p:cNvPr id="62" name="@rise:13|Cell"/>
          <p:cNvSpPr/>
          <p:nvPr/>
        </p:nvSpPr>
        <p:spPr>
          <a:xfrm>
            <a:off x="6922008" y="3648456"/>
            <a:ext cx="1527048" cy="786384"/>
          </a:xfrm>
          <a:prstGeom prst="roundRect">
            <a:avLst>
              <a:gd name="adj" fmla="val 18605"/>
            </a:avLst>
          </a:prstGeom>
          <a:solidFill>
            <a:srgbClr val="FFFFFF"/>
          </a:solidFill>
          <a:ln/>
        </p:spPr>
      </p:sp>
      <p:pic>
        <p:nvPicPr>
          <p:cNvPr id="63" name="@fade:15|Mark" descr="Нет"/>
          <p:cNvPicPr>
            <a:picLocks noChangeAspect="1"/>
          </p:cNvPicPr>
          <p:nvPr/>
        </p:nvPicPr>
        <p:blipFill>
          <a:blip r:embed="rId5"/>
          <a:stretch>
            <a:fillRect/>
          </a:stretch>
        </p:blipFill>
        <p:spPr>
          <a:xfrm>
            <a:off x="7031736" y="3730752"/>
            <a:ext cx="201168" cy="201168"/>
          </a:xfrm>
          <a:prstGeom prst="rect">
            <a:avLst/>
          </a:prstGeom>
        </p:spPr>
      </p:pic>
      <p:sp>
        <p:nvSpPr>
          <p:cNvPr id="64" name="@fade:15|Cell text"/>
          <p:cNvSpPr txBox="1"/>
          <p:nvPr/>
        </p:nvSpPr>
        <p:spPr>
          <a:xfrm>
            <a:off x="7031736" y="3977640"/>
            <a:ext cx="1344168" cy="420624"/>
          </a:xfrm>
          <a:prstGeom prst="rect">
            <a:avLst/>
          </a:prstGeom>
          <a:noFill/>
          <a:ln/>
        </p:spPr>
        <p:txBody>
          <a:bodyPr wrap="square" lIns="0" tIns="0" rIns="0" bIns="0" rtlCol="0" anchor="t"/>
          <a:lstStyle/>
          <a:p>
            <a:pPr marL="0" indent="0">
              <a:buNone/>
            </a:pPr>
            <a:r>
              <a:rPr lang="en-US" sz="1200" dirty="0">
                <a:solidFill>
                  <a:schemeClr val="tx1"/>
                </a:solidFill>
              </a:rPr>
              <a:t>Не основной сценарий</a:t>
            </a:r>
            <a:endParaRPr lang="en-US" sz="1200" dirty="0"/>
          </a:p>
        </p:txBody>
      </p:sp>
      <p:sp>
        <p:nvSpPr>
          <p:cNvPr id="65" name="@rise:13|Cell"/>
          <p:cNvSpPr/>
          <p:nvPr/>
        </p:nvSpPr>
        <p:spPr>
          <a:xfrm>
            <a:off x="8494776" y="3648456"/>
            <a:ext cx="1527048" cy="786384"/>
          </a:xfrm>
          <a:prstGeom prst="roundRect">
            <a:avLst>
              <a:gd name="adj" fmla="val 18605"/>
            </a:avLst>
          </a:prstGeom>
          <a:solidFill>
            <a:srgbClr val="FFFFFF"/>
          </a:solidFill>
          <a:ln/>
        </p:spPr>
      </p:sp>
      <p:pic>
        <p:nvPicPr>
          <p:cNvPr id="66" name="@fade:15|Mark" descr="Частично"/>
          <p:cNvPicPr>
            <a:picLocks noChangeAspect="1"/>
          </p:cNvPicPr>
          <p:nvPr/>
        </p:nvPicPr>
        <p:blipFill>
          <a:blip r:embed="rId4"/>
          <a:stretch>
            <a:fillRect/>
          </a:stretch>
        </p:blipFill>
        <p:spPr>
          <a:xfrm>
            <a:off x="8604504" y="3730752"/>
            <a:ext cx="201168" cy="201168"/>
          </a:xfrm>
          <a:prstGeom prst="rect">
            <a:avLst/>
          </a:prstGeom>
        </p:spPr>
      </p:pic>
      <p:sp>
        <p:nvSpPr>
          <p:cNvPr id="67" name="@fade:15|Cell text"/>
          <p:cNvSpPr txBox="1"/>
          <p:nvPr/>
        </p:nvSpPr>
        <p:spPr>
          <a:xfrm>
            <a:off x="8604504" y="3977640"/>
            <a:ext cx="1344168" cy="420624"/>
          </a:xfrm>
          <a:prstGeom prst="rect">
            <a:avLst/>
          </a:prstGeom>
          <a:noFill/>
          <a:ln/>
        </p:spPr>
        <p:txBody>
          <a:bodyPr wrap="square" lIns="0" tIns="0" rIns="0" bIns="0" rtlCol="0" anchor="t"/>
          <a:lstStyle/>
          <a:p>
            <a:pPr marL="0" indent="0">
              <a:buNone/>
            </a:pPr>
            <a:r>
              <a:rPr lang="en-US" sz="1200" dirty="0">
                <a:solidFill>
                  <a:schemeClr val="tx1"/>
                </a:solidFill>
              </a:rPr>
              <a:t>В рамках клуба</a:t>
            </a:r>
            <a:endParaRPr lang="en-US" sz="1200" dirty="0"/>
          </a:p>
        </p:txBody>
      </p:sp>
      <p:sp>
        <p:nvSpPr>
          <p:cNvPr id="68" name="@rise:13|Cell"/>
          <p:cNvSpPr/>
          <p:nvPr/>
        </p:nvSpPr>
        <p:spPr>
          <a:xfrm>
            <a:off x="10067544" y="3648456"/>
            <a:ext cx="1527048" cy="786384"/>
          </a:xfrm>
          <a:prstGeom prst="roundRect">
            <a:avLst>
              <a:gd name="adj" fmla="val 18605"/>
            </a:avLst>
          </a:prstGeom>
          <a:solidFill>
            <a:srgbClr val="FFFFFF"/>
          </a:solidFill>
          <a:ln/>
        </p:spPr>
      </p:sp>
      <p:pic>
        <p:nvPicPr>
          <p:cNvPr id="69" name="@fade:15|Mark" descr="Частично"/>
          <p:cNvPicPr>
            <a:picLocks noChangeAspect="1"/>
          </p:cNvPicPr>
          <p:nvPr/>
        </p:nvPicPr>
        <p:blipFill>
          <a:blip r:embed="rId4"/>
          <a:stretch>
            <a:fillRect/>
          </a:stretch>
        </p:blipFill>
        <p:spPr>
          <a:xfrm>
            <a:off x="10177272" y="3730752"/>
            <a:ext cx="201168" cy="201168"/>
          </a:xfrm>
          <a:prstGeom prst="rect">
            <a:avLst/>
          </a:prstGeom>
        </p:spPr>
      </p:pic>
      <p:sp>
        <p:nvSpPr>
          <p:cNvPr id="70" name="@fade:15|Cell text"/>
          <p:cNvSpPr txBox="1"/>
          <p:nvPr/>
        </p:nvSpPr>
        <p:spPr>
          <a:xfrm>
            <a:off x="10177272" y="3977640"/>
            <a:ext cx="1344168" cy="420624"/>
          </a:xfrm>
          <a:prstGeom prst="rect">
            <a:avLst/>
          </a:prstGeom>
          <a:noFill/>
          <a:ln/>
        </p:spPr>
        <p:txBody>
          <a:bodyPr wrap="square" lIns="0" tIns="0" rIns="0" bIns="0" rtlCol="0" anchor="t"/>
          <a:lstStyle/>
          <a:p>
            <a:pPr marL="0" indent="0">
              <a:buNone/>
            </a:pPr>
            <a:r>
              <a:rPr lang="en-US" sz="1200" dirty="0">
                <a:solidFill>
                  <a:schemeClr val="tx1"/>
                </a:solidFill>
              </a:rPr>
              <a:t>Советы вручную</a:t>
            </a:r>
            <a:endParaRPr lang="en-US" sz="1200" dirty="0"/>
          </a:p>
        </p:txBody>
      </p:sp>
      <p:sp>
        <p:nvSpPr>
          <p:cNvPr id="71" name="@rise:16|Row label card"/>
          <p:cNvSpPr/>
          <p:nvPr/>
        </p:nvSpPr>
        <p:spPr>
          <a:xfrm>
            <a:off x="548640" y="4489704"/>
            <a:ext cx="1600200" cy="786384"/>
          </a:xfrm>
          <a:prstGeom prst="roundRect">
            <a:avLst>
              <a:gd name="adj" fmla="val 18605"/>
            </a:avLst>
          </a:prstGeom>
          <a:solidFill>
            <a:srgbClr val="FBDDE6"/>
          </a:solidFill>
          <a:ln/>
        </p:spPr>
      </p:sp>
      <p:sp>
        <p:nvSpPr>
          <p:cNvPr id="72" name="@fade:18|Row label"/>
          <p:cNvSpPr txBox="1"/>
          <p:nvPr/>
        </p:nvSpPr>
        <p:spPr>
          <a:xfrm>
            <a:off x="658368" y="4489704"/>
            <a:ext cx="1399032" cy="786384"/>
          </a:xfrm>
          <a:prstGeom prst="rect">
            <a:avLst/>
          </a:prstGeom>
          <a:noFill/>
          <a:ln/>
        </p:spPr>
        <p:txBody>
          <a:bodyPr wrap="square" lIns="0" tIns="0" rIns="0" bIns="0" rtlCol="0" anchor="ctr"/>
          <a:lstStyle/>
          <a:p>
            <a:pPr marL="0" indent="0">
              <a:buNone/>
            </a:pPr>
            <a:r>
              <a:rPr lang="en-US" sz="1400" b="1" dirty="0">
                <a:solidFill>
                  <a:schemeClr val="tx1"/>
                </a:solidFill>
              </a:rPr>
              <a:t>Запись / бронирование</a:t>
            </a:r>
            <a:endParaRPr lang="en-US" sz="1400" dirty="0"/>
          </a:p>
        </p:txBody>
      </p:sp>
      <p:sp>
        <p:nvSpPr>
          <p:cNvPr id="73" name="@rise:16|Cell"/>
          <p:cNvSpPr/>
          <p:nvPr/>
        </p:nvSpPr>
        <p:spPr>
          <a:xfrm>
            <a:off x="2203704" y="4489704"/>
            <a:ext cx="1527048" cy="786384"/>
          </a:xfrm>
          <a:prstGeom prst="roundRect">
            <a:avLst>
              <a:gd name="adj" fmla="val 18605"/>
            </a:avLst>
          </a:prstGeom>
          <a:solidFill>
            <a:srgbClr val="FFEFBF"/>
          </a:solidFill>
          <a:ln/>
        </p:spPr>
      </p:sp>
      <p:pic>
        <p:nvPicPr>
          <p:cNvPr id="74" name="@fade:18|Mark" descr="Частично"/>
          <p:cNvPicPr>
            <a:picLocks noChangeAspect="1"/>
          </p:cNvPicPr>
          <p:nvPr/>
        </p:nvPicPr>
        <p:blipFill>
          <a:blip r:embed="rId4"/>
          <a:stretch>
            <a:fillRect/>
          </a:stretch>
        </p:blipFill>
        <p:spPr>
          <a:xfrm>
            <a:off x="2313432" y="4572000"/>
            <a:ext cx="201168" cy="201168"/>
          </a:xfrm>
          <a:prstGeom prst="rect">
            <a:avLst/>
          </a:prstGeom>
        </p:spPr>
      </p:pic>
      <p:sp>
        <p:nvSpPr>
          <p:cNvPr id="75" name="@fade:18|Cell text"/>
          <p:cNvSpPr txBox="1"/>
          <p:nvPr/>
        </p:nvSpPr>
        <p:spPr>
          <a:xfrm>
            <a:off x="2313432" y="4818888"/>
            <a:ext cx="1344168" cy="420624"/>
          </a:xfrm>
          <a:prstGeom prst="rect">
            <a:avLst/>
          </a:prstGeom>
          <a:noFill/>
          <a:ln/>
        </p:spPr>
        <p:txBody>
          <a:bodyPr wrap="square" lIns="0" tIns="0" rIns="0" bIns="0" rtlCol="0" anchor="t"/>
          <a:lstStyle/>
          <a:p>
            <a:pPr marL="0" indent="0">
              <a:buNone/>
            </a:pPr>
            <a:r>
              <a:rPr lang="en-US" sz="1200" dirty="0">
                <a:solidFill>
                  <a:schemeClr val="tx1"/>
                </a:solidFill>
              </a:rPr>
              <a:t>События сейчас; тренировки — далее</a:t>
            </a:r>
            <a:endParaRPr lang="en-US" sz="1200" dirty="0"/>
          </a:p>
        </p:txBody>
      </p:sp>
      <p:sp>
        <p:nvSpPr>
          <p:cNvPr id="76" name="@rise:16|Cell"/>
          <p:cNvSpPr/>
          <p:nvPr/>
        </p:nvSpPr>
        <p:spPr>
          <a:xfrm>
            <a:off x="3776472" y="4489704"/>
            <a:ext cx="1527048" cy="786384"/>
          </a:xfrm>
          <a:prstGeom prst="roundRect">
            <a:avLst>
              <a:gd name="adj" fmla="val 18605"/>
            </a:avLst>
          </a:prstGeom>
          <a:solidFill>
            <a:srgbClr val="FFFFFF"/>
          </a:solidFill>
          <a:ln/>
        </p:spPr>
      </p:sp>
      <p:pic>
        <p:nvPicPr>
          <p:cNvPr id="77" name="@fade:18|Mark" descr="Есть"/>
          <p:cNvPicPr>
            <a:picLocks noChangeAspect="1"/>
          </p:cNvPicPr>
          <p:nvPr/>
        </p:nvPicPr>
        <p:blipFill>
          <a:blip r:embed="rId3"/>
          <a:stretch>
            <a:fillRect/>
          </a:stretch>
        </p:blipFill>
        <p:spPr>
          <a:xfrm>
            <a:off x="3886200" y="4572000"/>
            <a:ext cx="201168" cy="201168"/>
          </a:xfrm>
          <a:prstGeom prst="rect">
            <a:avLst/>
          </a:prstGeom>
        </p:spPr>
      </p:pic>
      <p:sp>
        <p:nvSpPr>
          <p:cNvPr id="78" name="@fade:18|Cell text"/>
          <p:cNvSpPr txBox="1"/>
          <p:nvPr/>
        </p:nvSpPr>
        <p:spPr>
          <a:xfrm>
            <a:off x="3886200" y="4818888"/>
            <a:ext cx="1344168" cy="420624"/>
          </a:xfrm>
          <a:prstGeom prst="rect">
            <a:avLst/>
          </a:prstGeom>
          <a:noFill/>
          <a:ln/>
        </p:spPr>
        <p:txBody>
          <a:bodyPr wrap="square" lIns="0" tIns="0" rIns="0" bIns="0" rtlCol="0" anchor="t"/>
          <a:lstStyle/>
          <a:p>
            <a:pPr marL="0" indent="0">
              <a:buNone/>
            </a:pPr>
            <a:r>
              <a:rPr lang="en-US" sz="1200" dirty="0">
                <a:solidFill>
                  <a:schemeClr val="tx1"/>
                </a:solidFill>
              </a:rPr>
              <a:t>Бронь и онлайн-оплата</a:t>
            </a:r>
            <a:endParaRPr lang="en-US" sz="1200" dirty="0"/>
          </a:p>
        </p:txBody>
      </p:sp>
      <p:sp>
        <p:nvSpPr>
          <p:cNvPr id="79" name="@rise:16|Cell"/>
          <p:cNvSpPr/>
          <p:nvPr/>
        </p:nvSpPr>
        <p:spPr>
          <a:xfrm>
            <a:off x="5349240" y="4489704"/>
            <a:ext cx="1527048" cy="786384"/>
          </a:xfrm>
          <a:prstGeom prst="roundRect">
            <a:avLst>
              <a:gd name="adj" fmla="val 18605"/>
            </a:avLst>
          </a:prstGeom>
          <a:solidFill>
            <a:srgbClr val="FFFFFF"/>
          </a:solidFill>
          <a:ln/>
        </p:spPr>
      </p:sp>
      <p:pic>
        <p:nvPicPr>
          <p:cNvPr id="80" name="@fade:18|Mark" descr="Частично"/>
          <p:cNvPicPr>
            <a:picLocks noChangeAspect="1"/>
          </p:cNvPicPr>
          <p:nvPr/>
        </p:nvPicPr>
        <p:blipFill>
          <a:blip r:embed="rId4"/>
          <a:stretch>
            <a:fillRect/>
          </a:stretch>
        </p:blipFill>
        <p:spPr>
          <a:xfrm>
            <a:off x="5458968" y="4572000"/>
            <a:ext cx="201168" cy="201168"/>
          </a:xfrm>
          <a:prstGeom prst="rect">
            <a:avLst/>
          </a:prstGeom>
        </p:spPr>
      </p:pic>
      <p:sp>
        <p:nvSpPr>
          <p:cNvPr id="81" name="@fade:18|Cell text"/>
          <p:cNvSpPr txBox="1"/>
          <p:nvPr/>
        </p:nvSpPr>
        <p:spPr>
          <a:xfrm>
            <a:off x="5458968" y="4818888"/>
            <a:ext cx="1344168" cy="420624"/>
          </a:xfrm>
          <a:prstGeom prst="rect">
            <a:avLst/>
          </a:prstGeom>
          <a:noFill/>
          <a:ln/>
        </p:spPr>
        <p:txBody>
          <a:bodyPr wrap="square" lIns="0" tIns="0" rIns="0" bIns="0" rtlCol="0" anchor="t"/>
          <a:lstStyle/>
          <a:p>
            <a:pPr marL="0" indent="0">
              <a:buNone/>
            </a:pPr>
            <a:r>
              <a:rPr lang="en-US" sz="1200" dirty="0">
                <a:solidFill>
                  <a:schemeClr val="tx1"/>
                </a:solidFill>
              </a:rPr>
              <a:t>Контакт и согласование</a:t>
            </a:r>
            <a:endParaRPr lang="en-US" sz="1200" dirty="0"/>
          </a:p>
        </p:txBody>
      </p:sp>
      <p:sp>
        <p:nvSpPr>
          <p:cNvPr id="82" name="@rise:16|Cell"/>
          <p:cNvSpPr/>
          <p:nvPr/>
        </p:nvSpPr>
        <p:spPr>
          <a:xfrm>
            <a:off x="6922008" y="4489704"/>
            <a:ext cx="1527048" cy="786384"/>
          </a:xfrm>
          <a:prstGeom prst="roundRect">
            <a:avLst>
              <a:gd name="adj" fmla="val 18605"/>
            </a:avLst>
          </a:prstGeom>
          <a:solidFill>
            <a:srgbClr val="FFFFFF"/>
          </a:solidFill>
          <a:ln/>
        </p:spPr>
      </p:sp>
      <p:pic>
        <p:nvPicPr>
          <p:cNvPr id="83" name="@fade:18|Mark" descr="Частично"/>
          <p:cNvPicPr>
            <a:picLocks noChangeAspect="1"/>
          </p:cNvPicPr>
          <p:nvPr/>
        </p:nvPicPr>
        <p:blipFill>
          <a:blip r:embed="rId4"/>
          <a:stretch>
            <a:fillRect/>
          </a:stretch>
        </p:blipFill>
        <p:spPr>
          <a:xfrm>
            <a:off x="7031736" y="4572000"/>
            <a:ext cx="201168" cy="201168"/>
          </a:xfrm>
          <a:prstGeom prst="rect">
            <a:avLst/>
          </a:prstGeom>
        </p:spPr>
      </p:pic>
      <p:sp>
        <p:nvSpPr>
          <p:cNvPr id="84" name="@fade:18|Cell text"/>
          <p:cNvSpPr txBox="1"/>
          <p:nvPr/>
        </p:nvSpPr>
        <p:spPr>
          <a:xfrm>
            <a:off x="7031736" y="4818888"/>
            <a:ext cx="1344168" cy="420624"/>
          </a:xfrm>
          <a:prstGeom prst="rect">
            <a:avLst/>
          </a:prstGeom>
          <a:noFill/>
          <a:ln/>
        </p:spPr>
        <p:txBody>
          <a:bodyPr wrap="square" lIns="0" tIns="0" rIns="0" bIns="0" rtlCol="0" anchor="t"/>
          <a:lstStyle/>
          <a:p>
            <a:pPr marL="0" indent="0">
              <a:buNone/>
            </a:pPr>
            <a:r>
              <a:rPr lang="en-US" sz="1200" dirty="0">
                <a:solidFill>
                  <a:schemeClr val="tx1"/>
                </a:solidFill>
              </a:rPr>
              <a:t>Заявлен звонок для брони</a:t>
            </a:r>
            <a:endParaRPr lang="en-US" sz="1200" dirty="0"/>
          </a:p>
        </p:txBody>
      </p:sp>
      <p:sp>
        <p:nvSpPr>
          <p:cNvPr id="85" name="@rise:16|Cell"/>
          <p:cNvSpPr/>
          <p:nvPr/>
        </p:nvSpPr>
        <p:spPr>
          <a:xfrm>
            <a:off x="8494776" y="4489704"/>
            <a:ext cx="1527048" cy="786384"/>
          </a:xfrm>
          <a:prstGeom prst="roundRect">
            <a:avLst>
              <a:gd name="adj" fmla="val 18605"/>
            </a:avLst>
          </a:prstGeom>
          <a:solidFill>
            <a:srgbClr val="FFFFFF"/>
          </a:solidFill>
          <a:ln/>
        </p:spPr>
      </p:sp>
      <p:pic>
        <p:nvPicPr>
          <p:cNvPr id="86" name="@fade:18|Mark" descr="Есть"/>
          <p:cNvPicPr>
            <a:picLocks noChangeAspect="1"/>
          </p:cNvPicPr>
          <p:nvPr/>
        </p:nvPicPr>
        <p:blipFill>
          <a:blip r:embed="rId3"/>
          <a:stretch>
            <a:fillRect/>
          </a:stretch>
        </p:blipFill>
        <p:spPr>
          <a:xfrm>
            <a:off x="8604504" y="4572000"/>
            <a:ext cx="201168" cy="201168"/>
          </a:xfrm>
          <a:prstGeom prst="rect">
            <a:avLst/>
          </a:prstGeom>
        </p:spPr>
      </p:pic>
      <p:sp>
        <p:nvSpPr>
          <p:cNvPr id="87" name="@fade:18|Cell text"/>
          <p:cNvSpPr txBox="1"/>
          <p:nvPr/>
        </p:nvSpPr>
        <p:spPr>
          <a:xfrm>
            <a:off x="8604504" y="4818888"/>
            <a:ext cx="1344168" cy="420624"/>
          </a:xfrm>
          <a:prstGeom prst="rect">
            <a:avLst/>
          </a:prstGeom>
          <a:noFill/>
          <a:ln/>
        </p:spPr>
        <p:txBody>
          <a:bodyPr wrap="square" lIns="0" tIns="0" rIns="0" bIns="0" rtlCol="0" anchor="t"/>
          <a:lstStyle/>
          <a:p>
            <a:pPr marL="0" indent="0">
              <a:buNone/>
            </a:pPr>
            <a:r>
              <a:rPr lang="en-US" sz="1200" dirty="0">
                <a:solidFill>
                  <a:schemeClr val="tx1"/>
                </a:solidFill>
              </a:rPr>
              <a:t>Онлайн-запись в студии</a:t>
            </a:r>
            <a:endParaRPr lang="en-US" sz="1200" dirty="0"/>
          </a:p>
        </p:txBody>
      </p:sp>
      <p:sp>
        <p:nvSpPr>
          <p:cNvPr id="88" name="@rise:16|Cell"/>
          <p:cNvSpPr/>
          <p:nvPr/>
        </p:nvSpPr>
        <p:spPr>
          <a:xfrm>
            <a:off x="10067544" y="4489704"/>
            <a:ext cx="1527048" cy="786384"/>
          </a:xfrm>
          <a:prstGeom prst="roundRect">
            <a:avLst>
              <a:gd name="adj" fmla="val 18605"/>
            </a:avLst>
          </a:prstGeom>
          <a:solidFill>
            <a:srgbClr val="FFFFFF"/>
          </a:solidFill>
          <a:ln/>
        </p:spPr>
      </p:sp>
      <p:pic>
        <p:nvPicPr>
          <p:cNvPr id="89" name="@fade:18|Mark" descr="Частично"/>
          <p:cNvPicPr>
            <a:picLocks noChangeAspect="1"/>
          </p:cNvPicPr>
          <p:nvPr/>
        </p:nvPicPr>
        <p:blipFill>
          <a:blip r:embed="rId4"/>
          <a:stretch>
            <a:fillRect/>
          </a:stretch>
        </p:blipFill>
        <p:spPr>
          <a:xfrm>
            <a:off x="10177272" y="4572000"/>
            <a:ext cx="201168" cy="201168"/>
          </a:xfrm>
          <a:prstGeom prst="rect">
            <a:avLst/>
          </a:prstGeom>
        </p:spPr>
      </p:pic>
      <p:sp>
        <p:nvSpPr>
          <p:cNvPr id="90" name="@fade:18|Cell text"/>
          <p:cNvSpPr txBox="1"/>
          <p:nvPr/>
        </p:nvSpPr>
        <p:spPr>
          <a:xfrm>
            <a:off x="10177272" y="4818888"/>
            <a:ext cx="1344168" cy="420624"/>
          </a:xfrm>
          <a:prstGeom prst="rect">
            <a:avLst/>
          </a:prstGeom>
          <a:noFill/>
          <a:ln/>
        </p:spPr>
        <p:txBody>
          <a:bodyPr wrap="square" lIns="0" tIns="0" rIns="0" bIns="0" rtlCol="0" anchor="t"/>
          <a:lstStyle/>
          <a:p>
            <a:pPr marL="0" indent="0">
              <a:buNone/>
            </a:pPr>
            <a:r>
              <a:rPr lang="en-US" sz="1200" dirty="0">
                <a:solidFill>
                  <a:schemeClr val="tx1"/>
                </a:solidFill>
              </a:rPr>
              <a:t>Сообщения / звонки</a:t>
            </a:r>
            <a:endParaRPr lang="en-US" sz="1200" dirty="0"/>
          </a:p>
        </p:txBody>
      </p:sp>
      <p:sp>
        <p:nvSpPr>
          <p:cNvPr id="91" name="@rise:19|Row label card"/>
          <p:cNvSpPr/>
          <p:nvPr/>
        </p:nvSpPr>
        <p:spPr>
          <a:xfrm>
            <a:off x="548640" y="5330952"/>
            <a:ext cx="1600200" cy="786384"/>
          </a:xfrm>
          <a:prstGeom prst="roundRect">
            <a:avLst>
              <a:gd name="adj" fmla="val 18605"/>
            </a:avLst>
          </a:prstGeom>
          <a:solidFill>
            <a:srgbClr val="FBDDE6"/>
          </a:solidFill>
          <a:ln/>
        </p:spPr>
      </p:sp>
      <p:sp>
        <p:nvSpPr>
          <p:cNvPr id="92" name="@fade:21|Row label"/>
          <p:cNvSpPr txBox="1"/>
          <p:nvPr/>
        </p:nvSpPr>
        <p:spPr>
          <a:xfrm>
            <a:off x="658368" y="5330952"/>
            <a:ext cx="1399032" cy="786384"/>
          </a:xfrm>
          <a:prstGeom prst="rect">
            <a:avLst/>
          </a:prstGeom>
          <a:noFill/>
          <a:ln/>
        </p:spPr>
        <p:txBody>
          <a:bodyPr wrap="square" lIns="0" tIns="0" rIns="0" bIns="0" rtlCol="0" anchor="ctr"/>
          <a:lstStyle/>
          <a:p>
            <a:pPr marL="0" indent="0">
              <a:buNone/>
            </a:pPr>
            <a:r>
              <a:rPr lang="en-US" sz="1400" b="1" dirty="0">
                <a:solidFill>
                  <a:schemeClr val="tx1"/>
                </a:solidFill>
              </a:rPr>
              <a:t>События и поиск компании</a:t>
            </a:r>
            <a:endParaRPr lang="en-US" sz="1400" dirty="0"/>
          </a:p>
        </p:txBody>
      </p:sp>
      <p:sp>
        <p:nvSpPr>
          <p:cNvPr id="93" name="@rise:19|Cell"/>
          <p:cNvSpPr/>
          <p:nvPr/>
        </p:nvSpPr>
        <p:spPr>
          <a:xfrm>
            <a:off x="2203704" y="5330952"/>
            <a:ext cx="1527048" cy="786384"/>
          </a:xfrm>
          <a:prstGeom prst="roundRect">
            <a:avLst>
              <a:gd name="adj" fmla="val 18605"/>
            </a:avLst>
          </a:prstGeom>
          <a:solidFill>
            <a:srgbClr val="FFEFBF"/>
          </a:solidFill>
          <a:ln/>
        </p:spPr>
      </p:sp>
      <p:pic>
        <p:nvPicPr>
          <p:cNvPr id="94" name="@fade:21|Mark" descr="Есть"/>
          <p:cNvPicPr>
            <a:picLocks noChangeAspect="1"/>
          </p:cNvPicPr>
          <p:nvPr/>
        </p:nvPicPr>
        <p:blipFill>
          <a:blip r:embed="rId3"/>
          <a:stretch>
            <a:fillRect/>
          </a:stretch>
        </p:blipFill>
        <p:spPr>
          <a:xfrm>
            <a:off x="2313432" y="5413248"/>
            <a:ext cx="201168" cy="201168"/>
          </a:xfrm>
          <a:prstGeom prst="rect">
            <a:avLst/>
          </a:prstGeom>
        </p:spPr>
      </p:pic>
      <p:sp>
        <p:nvSpPr>
          <p:cNvPr id="95" name="@fade:21|Cell text"/>
          <p:cNvSpPr txBox="1"/>
          <p:nvPr/>
        </p:nvSpPr>
        <p:spPr>
          <a:xfrm>
            <a:off x="2313432" y="5660136"/>
            <a:ext cx="1344168" cy="420624"/>
          </a:xfrm>
          <a:prstGeom prst="rect">
            <a:avLst/>
          </a:prstGeom>
          <a:noFill/>
          <a:ln/>
        </p:spPr>
        <p:txBody>
          <a:bodyPr wrap="square" lIns="0" tIns="0" rIns="0" bIns="0" rtlCol="0" anchor="t"/>
          <a:lstStyle/>
          <a:p>
            <a:pPr marL="0" indent="0">
              <a:buNone/>
            </a:pPr>
            <a:r>
              <a:rPr lang="en-US" sz="1200" dirty="0">
                <a:solidFill>
                  <a:schemeClr val="tx1"/>
                </a:solidFill>
              </a:rPr>
              <a:t>События и участники MVP</a:t>
            </a:r>
            <a:endParaRPr lang="en-US" sz="1200" dirty="0"/>
          </a:p>
        </p:txBody>
      </p:sp>
      <p:sp>
        <p:nvSpPr>
          <p:cNvPr id="96" name="@rise:19|Cell"/>
          <p:cNvSpPr/>
          <p:nvPr/>
        </p:nvSpPr>
        <p:spPr>
          <a:xfrm>
            <a:off x="3776472" y="5330952"/>
            <a:ext cx="1527048" cy="786384"/>
          </a:xfrm>
          <a:prstGeom prst="roundRect">
            <a:avLst>
              <a:gd name="adj" fmla="val 18605"/>
            </a:avLst>
          </a:prstGeom>
          <a:solidFill>
            <a:srgbClr val="FFFFFF"/>
          </a:solidFill>
          <a:ln/>
        </p:spPr>
      </p:sp>
      <p:pic>
        <p:nvPicPr>
          <p:cNvPr id="97" name="@fade:21|Mark" descr="Нет"/>
          <p:cNvPicPr>
            <a:picLocks noChangeAspect="1"/>
          </p:cNvPicPr>
          <p:nvPr/>
        </p:nvPicPr>
        <p:blipFill>
          <a:blip r:embed="rId5"/>
          <a:stretch>
            <a:fillRect/>
          </a:stretch>
        </p:blipFill>
        <p:spPr>
          <a:xfrm>
            <a:off x="3886200" y="5413248"/>
            <a:ext cx="201168" cy="201168"/>
          </a:xfrm>
          <a:prstGeom prst="rect">
            <a:avLst/>
          </a:prstGeom>
        </p:spPr>
      </p:pic>
      <p:sp>
        <p:nvSpPr>
          <p:cNvPr id="98" name="@fade:21|Cell text"/>
          <p:cNvSpPr txBox="1"/>
          <p:nvPr/>
        </p:nvSpPr>
        <p:spPr>
          <a:xfrm>
            <a:off x="3886200" y="5660136"/>
            <a:ext cx="1344168" cy="420624"/>
          </a:xfrm>
          <a:prstGeom prst="rect">
            <a:avLst/>
          </a:prstGeom>
          <a:noFill/>
          <a:ln/>
        </p:spPr>
        <p:txBody>
          <a:bodyPr wrap="square" lIns="0" tIns="0" rIns="0" bIns="0" rtlCol="0" anchor="t"/>
          <a:lstStyle/>
          <a:p>
            <a:pPr marL="0" indent="0">
              <a:buNone/>
            </a:pPr>
            <a:r>
              <a:rPr lang="en-US" sz="1200" dirty="0">
                <a:solidFill>
                  <a:schemeClr val="tx1"/>
                </a:solidFill>
              </a:rPr>
              <a:t>Не основной сценарий</a:t>
            </a:r>
            <a:endParaRPr lang="en-US" sz="1200" dirty="0"/>
          </a:p>
        </p:txBody>
      </p:sp>
      <p:sp>
        <p:nvSpPr>
          <p:cNvPr id="99" name="@rise:19|Cell"/>
          <p:cNvSpPr/>
          <p:nvPr/>
        </p:nvSpPr>
        <p:spPr>
          <a:xfrm>
            <a:off x="5349240" y="5330952"/>
            <a:ext cx="1527048" cy="786384"/>
          </a:xfrm>
          <a:prstGeom prst="roundRect">
            <a:avLst>
              <a:gd name="adj" fmla="val 18605"/>
            </a:avLst>
          </a:prstGeom>
          <a:solidFill>
            <a:srgbClr val="FFFFFF"/>
          </a:solidFill>
          <a:ln/>
        </p:spPr>
      </p:sp>
      <p:pic>
        <p:nvPicPr>
          <p:cNvPr id="100" name="@fade:21|Mark" descr="Нет"/>
          <p:cNvPicPr>
            <a:picLocks noChangeAspect="1"/>
          </p:cNvPicPr>
          <p:nvPr/>
        </p:nvPicPr>
        <p:blipFill>
          <a:blip r:embed="rId5"/>
          <a:stretch>
            <a:fillRect/>
          </a:stretch>
        </p:blipFill>
        <p:spPr>
          <a:xfrm>
            <a:off x="5458968" y="5413248"/>
            <a:ext cx="201168" cy="201168"/>
          </a:xfrm>
          <a:prstGeom prst="rect">
            <a:avLst/>
          </a:prstGeom>
        </p:spPr>
      </p:pic>
      <p:sp>
        <p:nvSpPr>
          <p:cNvPr id="101" name="@fade:21|Cell text"/>
          <p:cNvSpPr txBox="1"/>
          <p:nvPr/>
        </p:nvSpPr>
        <p:spPr>
          <a:xfrm>
            <a:off x="5458968" y="5660136"/>
            <a:ext cx="1344168" cy="420624"/>
          </a:xfrm>
          <a:prstGeom prst="rect">
            <a:avLst/>
          </a:prstGeom>
          <a:noFill/>
          <a:ln/>
        </p:spPr>
        <p:txBody>
          <a:bodyPr wrap="square" lIns="0" tIns="0" rIns="0" bIns="0" rtlCol="0" anchor="t"/>
          <a:lstStyle/>
          <a:p>
            <a:pPr marL="0" indent="0">
              <a:buNone/>
            </a:pPr>
            <a:r>
              <a:rPr lang="en-US" sz="1200" dirty="0">
                <a:solidFill>
                  <a:schemeClr val="tx1"/>
                </a:solidFill>
              </a:rPr>
              <a:t>Не основной сценарий</a:t>
            </a:r>
            <a:endParaRPr lang="en-US" sz="1200" dirty="0"/>
          </a:p>
        </p:txBody>
      </p:sp>
      <p:sp>
        <p:nvSpPr>
          <p:cNvPr id="102" name="@rise:19|Cell"/>
          <p:cNvSpPr/>
          <p:nvPr/>
        </p:nvSpPr>
        <p:spPr>
          <a:xfrm>
            <a:off x="6922008" y="5330952"/>
            <a:ext cx="1527048" cy="786384"/>
          </a:xfrm>
          <a:prstGeom prst="roundRect">
            <a:avLst>
              <a:gd name="adj" fmla="val 18605"/>
            </a:avLst>
          </a:prstGeom>
          <a:solidFill>
            <a:srgbClr val="FFFFFF"/>
          </a:solidFill>
          <a:ln/>
        </p:spPr>
      </p:sp>
      <p:pic>
        <p:nvPicPr>
          <p:cNvPr id="103" name="@fade:21|Mark" descr="Нет"/>
          <p:cNvPicPr>
            <a:picLocks noChangeAspect="1"/>
          </p:cNvPicPr>
          <p:nvPr/>
        </p:nvPicPr>
        <p:blipFill>
          <a:blip r:embed="rId5"/>
          <a:stretch>
            <a:fillRect/>
          </a:stretch>
        </p:blipFill>
        <p:spPr>
          <a:xfrm>
            <a:off x="7031736" y="5413248"/>
            <a:ext cx="201168" cy="201168"/>
          </a:xfrm>
          <a:prstGeom prst="rect">
            <a:avLst/>
          </a:prstGeom>
        </p:spPr>
      </p:pic>
      <p:sp>
        <p:nvSpPr>
          <p:cNvPr id="104" name="@fade:21|Cell text"/>
          <p:cNvSpPr txBox="1"/>
          <p:nvPr/>
        </p:nvSpPr>
        <p:spPr>
          <a:xfrm>
            <a:off x="7031736" y="5660136"/>
            <a:ext cx="1344168" cy="420624"/>
          </a:xfrm>
          <a:prstGeom prst="rect">
            <a:avLst/>
          </a:prstGeom>
          <a:noFill/>
          <a:ln/>
        </p:spPr>
        <p:txBody>
          <a:bodyPr wrap="square" lIns="0" tIns="0" rIns="0" bIns="0" rtlCol="0" anchor="t"/>
          <a:lstStyle/>
          <a:p>
            <a:pPr marL="0" indent="0">
              <a:buNone/>
            </a:pPr>
            <a:r>
              <a:rPr lang="en-US" sz="1200" dirty="0">
                <a:solidFill>
                  <a:schemeClr val="tx1"/>
                </a:solidFill>
              </a:rPr>
              <a:t>Не основной сценарий</a:t>
            </a:r>
            <a:endParaRPr lang="en-US" sz="1200" dirty="0"/>
          </a:p>
        </p:txBody>
      </p:sp>
      <p:sp>
        <p:nvSpPr>
          <p:cNvPr id="105" name="@rise:19|Cell"/>
          <p:cNvSpPr/>
          <p:nvPr/>
        </p:nvSpPr>
        <p:spPr>
          <a:xfrm>
            <a:off x="8494776" y="5330952"/>
            <a:ext cx="1527048" cy="786384"/>
          </a:xfrm>
          <a:prstGeom prst="roundRect">
            <a:avLst>
              <a:gd name="adj" fmla="val 18605"/>
            </a:avLst>
          </a:prstGeom>
          <a:solidFill>
            <a:srgbClr val="FFFFFF"/>
          </a:solidFill>
          <a:ln/>
        </p:spPr>
      </p:sp>
      <p:pic>
        <p:nvPicPr>
          <p:cNvPr id="106" name="@fade:21|Mark" descr="Частично"/>
          <p:cNvPicPr>
            <a:picLocks noChangeAspect="1"/>
          </p:cNvPicPr>
          <p:nvPr/>
        </p:nvPicPr>
        <p:blipFill>
          <a:blip r:embed="rId4"/>
          <a:stretch>
            <a:fillRect/>
          </a:stretch>
        </p:blipFill>
        <p:spPr>
          <a:xfrm>
            <a:off x="8604504" y="5413248"/>
            <a:ext cx="201168" cy="201168"/>
          </a:xfrm>
          <a:prstGeom prst="rect">
            <a:avLst/>
          </a:prstGeom>
        </p:spPr>
      </p:pic>
      <p:sp>
        <p:nvSpPr>
          <p:cNvPr id="107" name="@fade:21|Cell text"/>
          <p:cNvSpPr txBox="1"/>
          <p:nvPr/>
        </p:nvSpPr>
        <p:spPr>
          <a:xfrm>
            <a:off x="8604504" y="5660136"/>
            <a:ext cx="1344168" cy="420624"/>
          </a:xfrm>
          <a:prstGeom prst="rect">
            <a:avLst/>
          </a:prstGeom>
          <a:noFill/>
          <a:ln/>
        </p:spPr>
        <p:txBody>
          <a:bodyPr wrap="square" lIns="0" tIns="0" rIns="0" bIns="0" rtlCol="0" anchor="t"/>
          <a:lstStyle/>
          <a:p>
            <a:pPr marL="0" indent="0">
              <a:buNone/>
            </a:pPr>
            <a:r>
              <a:rPr lang="en-US" sz="1200" dirty="0">
                <a:solidFill>
                  <a:schemeClr val="tx1"/>
                </a:solidFill>
              </a:rPr>
              <a:t>Мероприятия / мастер-классы</a:t>
            </a:r>
            <a:endParaRPr lang="en-US" sz="1200" dirty="0"/>
          </a:p>
        </p:txBody>
      </p:sp>
      <p:sp>
        <p:nvSpPr>
          <p:cNvPr id="108" name="@rise:19|Cell"/>
          <p:cNvSpPr/>
          <p:nvPr/>
        </p:nvSpPr>
        <p:spPr>
          <a:xfrm>
            <a:off x="10067544" y="5330952"/>
            <a:ext cx="1527048" cy="786384"/>
          </a:xfrm>
          <a:prstGeom prst="roundRect">
            <a:avLst>
              <a:gd name="adj" fmla="val 18605"/>
            </a:avLst>
          </a:prstGeom>
          <a:solidFill>
            <a:srgbClr val="FFFFFF"/>
          </a:solidFill>
          <a:ln/>
        </p:spPr>
      </p:sp>
      <p:pic>
        <p:nvPicPr>
          <p:cNvPr id="109" name="@fade:21|Mark" descr="Есть"/>
          <p:cNvPicPr>
            <a:picLocks noChangeAspect="1"/>
          </p:cNvPicPr>
          <p:nvPr/>
        </p:nvPicPr>
        <p:blipFill>
          <a:blip r:embed="rId3"/>
          <a:stretch>
            <a:fillRect/>
          </a:stretch>
        </p:blipFill>
        <p:spPr>
          <a:xfrm>
            <a:off x="10177272" y="5413248"/>
            <a:ext cx="201168" cy="201168"/>
          </a:xfrm>
          <a:prstGeom prst="rect">
            <a:avLst/>
          </a:prstGeom>
        </p:spPr>
      </p:pic>
      <p:sp>
        <p:nvSpPr>
          <p:cNvPr id="110" name="@fade:21|Cell text"/>
          <p:cNvSpPr txBox="1"/>
          <p:nvPr/>
        </p:nvSpPr>
        <p:spPr>
          <a:xfrm>
            <a:off x="10177272" y="5660136"/>
            <a:ext cx="1344168" cy="420624"/>
          </a:xfrm>
          <a:prstGeom prst="rect">
            <a:avLst/>
          </a:prstGeom>
          <a:noFill/>
          <a:ln/>
        </p:spPr>
        <p:txBody>
          <a:bodyPr wrap="square" lIns="0" tIns="0" rIns="0" bIns="0" rtlCol="0" anchor="t"/>
          <a:lstStyle/>
          <a:p>
            <a:pPr marL="0" indent="0">
              <a:buNone/>
            </a:pPr>
            <a:r>
              <a:rPr lang="en-US" sz="1200" dirty="0">
                <a:solidFill>
                  <a:schemeClr val="tx1"/>
                </a:solidFill>
              </a:rPr>
              <a:t>Сообщества и чаты</a:t>
            </a:r>
            <a:endParaRPr lang="en-US" sz="1200" dirty="0"/>
          </a:p>
        </p:txBody>
      </p:sp>
      <p:pic>
        <p:nvPicPr>
          <p:cNvPr id="111" name="@fade:24|Legend mark" descr="Есть"/>
          <p:cNvPicPr>
            <a:picLocks noChangeAspect="1"/>
          </p:cNvPicPr>
          <p:nvPr/>
        </p:nvPicPr>
        <p:blipFill>
          <a:blip r:embed="rId3"/>
          <a:stretch>
            <a:fillRect/>
          </a:stretch>
        </p:blipFill>
        <p:spPr>
          <a:xfrm>
            <a:off x="548640" y="6245352"/>
            <a:ext cx="182880" cy="182880"/>
          </a:xfrm>
          <a:prstGeom prst="rect">
            <a:avLst/>
          </a:prstGeom>
        </p:spPr>
      </p:pic>
      <p:sp>
        <p:nvSpPr>
          <p:cNvPr id="112" name="@fade:24|Legend text"/>
          <p:cNvSpPr txBox="1"/>
          <p:nvPr/>
        </p:nvSpPr>
        <p:spPr>
          <a:xfrm>
            <a:off x="804672" y="6208776"/>
            <a:ext cx="2915107" cy="256032"/>
          </a:xfrm>
          <a:prstGeom prst="rect">
            <a:avLst/>
          </a:prstGeom>
          <a:noFill/>
          <a:ln/>
        </p:spPr>
        <p:txBody>
          <a:bodyPr wrap="square" lIns="0" tIns="0" rIns="0" bIns="0" rtlCol="0" anchor="ctr"/>
          <a:lstStyle/>
          <a:p>
            <a:pPr marL="0" indent="0">
              <a:buNone/>
            </a:pPr>
            <a:r>
              <a:rPr lang="en-US" sz="1100" dirty="0">
                <a:solidFill>
                  <a:srgbClr val="6B4A5A"/>
                </a:solidFill>
              </a:rPr>
              <a:t>заявлено / есть в текущем сценарии</a:t>
            </a:r>
            <a:endParaRPr lang="en-US" sz="1100" dirty="0"/>
          </a:p>
        </p:txBody>
      </p:sp>
      <p:pic>
        <p:nvPicPr>
          <p:cNvPr id="113" name="@fade:24|Legend mark" descr="Частично"/>
          <p:cNvPicPr>
            <a:picLocks noChangeAspect="1"/>
          </p:cNvPicPr>
          <p:nvPr/>
        </p:nvPicPr>
        <p:blipFill>
          <a:blip r:embed="rId4"/>
          <a:stretch>
            <a:fillRect/>
          </a:stretch>
        </p:blipFill>
        <p:spPr>
          <a:xfrm>
            <a:off x="3829507" y="6245352"/>
            <a:ext cx="182880" cy="182880"/>
          </a:xfrm>
          <a:prstGeom prst="rect">
            <a:avLst/>
          </a:prstGeom>
        </p:spPr>
      </p:pic>
      <p:sp>
        <p:nvSpPr>
          <p:cNvPr id="114" name="@fade:24|Legend text"/>
          <p:cNvSpPr txBox="1"/>
          <p:nvPr/>
        </p:nvSpPr>
        <p:spPr>
          <a:xfrm>
            <a:off x="4085539" y="6208776"/>
            <a:ext cx="3739896" cy="256032"/>
          </a:xfrm>
          <a:prstGeom prst="rect">
            <a:avLst/>
          </a:prstGeom>
          <a:noFill/>
          <a:ln/>
        </p:spPr>
        <p:txBody>
          <a:bodyPr wrap="square" lIns="0" tIns="0" rIns="0" bIns="0" rtlCol="0" anchor="ctr"/>
          <a:lstStyle/>
          <a:p>
            <a:pPr marL="0" indent="0">
              <a:buNone/>
            </a:pPr>
            <a:r>
              <a:rPr lang="en-US" sz="1100" dirty="0">
                <a:solidFill>
                  <a:srgbClr val="6B4A5A"/>
                </a:solidFill>
              </a:rPr>
              <a:t>частично, вручную или в ограниченном сегменте</a:t>
            </a:r>
            <a:endParaRPr lang="en-US" sz="1100" dirty="0"/>
          </a:p>
        </p:txBody>
      </p:sp>
      <p:pic>
        <p:nvPicPr>
          <p:cNvPr id="115" name="@fade:24|Legend mark" descr="Нет"/>
          <p:cNvPicPr>
            <a:picLocks noChangeAspect="1"/>
          </p:cNvPicPr>
          <p:nvPr/>
        </p:nvPicPr>
        <p:blipFill>
          <a:blip r:embed="rId5"/>
          <a:stretch>
            <a:fillRect/>
          </a:stretch>
        </p:blipFill>
        <p:spPr>
          <a:xfrm>
            <a:off x="7935163" y="6245352"/>
            <a:ext cx="182880" cy="182880"/>
          </a:xfrm>
          <a:prstGeom prst="rect">
            <a:avLst/>
          </a:prstGeom>
        </p:spPr>
      </p:pic>
      <p:sp>
        <p:nvSpPr>
          <p:cNvPr id="116" name="@fade:24|Legend text"/>
          <p:cNvSpPr txBox="1"/>
          <p:nvPr/>
        </p:nvSpPr>
        <p:spPr>
          <a:xfrm>
            <a:off x="8191195" y="6208776"/>
            <a:ext cx="1865376" cy="256032"/>
          </a:xfrm>
          <a:prstGeom prst="rect">
            <a:avLst/>
          </a:prstGeom>
          <a:noFill/>
          <a:ln/>
        </p:spPr>
        <p:txBody>
          <a:bodyPr wrap="square" lIns="0" tIns="0" rIns="0" bIns="0" rtlCol="0" anchor="ctr"/>
          <a:lstStyle/>
          <a:p>
            <a:pPr marL="0" indent="0">
              <a:buNone/>
            </a:pPr>
            <a:r>
              <a:rPr lang="en-US" sz="1100" dirty="0">
                <a:solidFill>
                  <a:srgbClr val="6B4A5A"/>
                </a:solidFill>
              </a:rPr>
              <a:t>не основной сценарий</a:t>
            </a:r>
            <a:endParaRPr lang="en-US" sz="1100" dirty="0"/>
          </a:p>
        </p:txBody>
      </p:sp>
      <p:sp>
        <p:nvSpPr>
          <p:cNvPr id="117" name="@fade:25|Sources"/>
          <p:cNvSpPr txBox="1"/>
          <p:nvPr/>
        </p:nvSpPr>
        <p:spPr>
          <a:xfrm>
            <a:off x="548640" y="6419088"/>
            <a:ext cx="10241280" cy="256032"/>
          </a:xfrm>
          <a:prstGeom prst="rect">
            <a:avLst/>
          </a:prstGeom>
          <a:noFill/>
          <a:ln/>
        </p:spPr>
        <p:txBody>
          <a:bodyPr wrap="square" lIns="0" tIns="0" rIns="0" bIns="0" rtlCol="0" anchor="ctr"/>
          <a:lstStyle/>
          <a:p>
            <a:pPr marL="0" indent="0">
              <a:buNone/>
            </a:pPr>
            <a:r>
              <a:rPr lang="en-US" sz="1100" dirty="0">
                <a:solidFill>
                  <a:srgbClr val="6B4A5A"/>
                </a:solidFill>
              </a:rPr>
              <a:t>Источники: vmestik.by · redsale.by · allsports.by / приложение Allsports · sportpriority.com/ru-by. Функции сверены по публичным описаниям.</a:t>
            </a:r>
            <a:endParaRPr lang="en-US" sz="1100" dirty="0"/>
          </a:p>
        </p:txBody>
      </p:sp>
      <p:sp>
        <p:nvSpPr>
          <p:cNvPr id="118"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12</a:t>
            </a:fld>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fade:0|Pill"/>
          <p:cNvSpPr/>
          <p:nvPr/>
        </p:nvSpPr>
        <p:spPr>
          <a:xfrm>
            <a:off x="548640" y="411480"/>
            <a:ext cx="5914339" cy="329184"/>
          </a:xfrm>
          <a:prstGeom prst="roundRect">
            <a:avLst>
              <a:gd name="adj" fmla="val 50000"/>
            </a:avLst>
          </a:prstGeom>
          <a:solidFill>
            <a:srgbClr val="FF6B5E"/>
          </a:solidFill>
          <a:ln/>
        </p:spPr>
      </p:sp>
      <p:sp>
        <p:nvSpPr>
          <p:cNvPr id="3" name="@fade:0|Pill text"/>
          <p:cNvSpPr txBox="1"/>
          <p:nvPr/>
        </p:nvSpPr>
        <p:spPr>
          <a:xfrm>
            <a:off x="548640" y="411480"/>
            <a:ext cx="5914339"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MVP: ПАРСЕР + РЕАЛЬНЫЕ ПРЕДЛОЖЕНИЯ ОТ ПОЛЬЗОВАТЕЛЕЙ</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Наш MVP</a:t>
            </a:r>
            <a:endParaRPr lang="en-US" sz="4000" dirty="0"/>
          </a:p>
        </p:txBody>
      </p:sp>
      <p:pic>
        <p:nvPicPr>
          <p:cNvPr id="5" name="@rise:3|Screen Событие" descr="Экран приложения Mesto: Событие"/>
          <p:cNvPicPr>
            <a:picLocks noChangeAspect="1"/>
          </p:cNvPicPr>
          <p:nvPr/>
        </p:nvPicPr>
        <p:blipFill>
          <a:blip r:embed="rId3"/>
          <a:stretch>
            <a:fillRect/>
          </a:stretch>
        </p:blipFill>
        <p:spPr>
          <a:xfrm>
            <a:off x="531935" y="1719775"/>
            <a:ext cx="2548011" cy="4419453"/>
          </a:xfrm>
          <a:prstGeom prst="rect">
            <a:avLst/>
          </a:prstGeom>
        </p:spPr>
      </p:pic>
      <p:sp>
        <p:nvSpPr>
          <p:cNvPr id="6" name="@fade:5|Caption Событие"/>
          <p:cNvSpPr txBox="1"/>
          <p:nvPr/>
        </p:nvSpPr>
        <p:spPr>
          <a:xfrm>
            <a:off x="594360" y="5943600"/>
            <a:ext cx="2423160" cy="320040"/>
          </a:xfrm>
          <a:prstGeom prst="rect">
            <a:avLst/>
          </a:prstGeom>
          <a:noFill/>
          <a:ln/>
        </p:spPr>
        <p:txBody>
          <a:bodyPr wrap="square" lIns="0" tIns="0" rIns="0" bIns="0" rtlCol="0" anchor="t"/>
          <a:lstStyle/>
          <a:p>
            <a:pPr marL="0" indent="0" algn="ctr">
              <a:buNone/>
            </a:pPr>
            <a:r>
              <a:rPr lang="en-US" sz="1600" b="1" dirty="0">
                <a:solidFill>
                  <a:srgbClr val="8B1E3F"/>
                </a:solidFill>
              </a:rPr>
              <a:t>Событие</a:t>
            </a:r>
            <a:endParaRPr lang="en-US" sz="1600" dirty="0"/>
          </a:p>
        </p:txBody>
      </p:sp>
      <p:pic>
        <p:nvPicPr>
          <p:cNvPr id="7" name="@rise:6|Screen Карта" descr="Экран приложения Mesto: Карта"/>
          <p:cNvPicPr>
            <a:picLocks noChangeAspect="1"/>
          </p:cNvPicPr>
          <p:nvPr/>
        </p:nvPicPr>
        <p:blipFill>
          <a:blip r:embed="rId4"/>
          <a:stretch>
            <a:fillRect/>
          </a:stretch>
        </p:blipFill>
        <p:spPr>
          <a:xfrm>
            <a:off x="3229415" y="1719775"/>
            <a:ext cx="2548011" cy="4530237"/>
          </a:xfrm>
          <a:prstGeom prst="rect">
            <a:avLst/>
          </a:prstGeom>
        </p:spPr>
      </p:pic>
      <p:sp>
        <p:nvSpPr>
          <p:cNvPr id="8" name="@fade:8|Caption Карта"/>
          <p:cNvSpPr txBox="1"/>
          <p:nvPr/>
        </p:nvSpPr>
        <p:spPr>
          <a:xfrm>
            <a:off x="3291840" y="5943600"/>
            <a:ext cx="2423160" cy="320040"/>
          </a:xfrm>
          <a:prstGeom prst="rect">
            <a:avLst/>
          </a:prstGeom>
          <a:noFill/>
          <a:ln/>
        </p:spPr>
        <p:txBody>
          <a:bodyPr wrap="square" lIns="0" tIns="0" rIns="0" bIns="0" rtlCol="0" anchor="t"/>
          <a:lstStyle/>
          <a:p>
            <a:pPr marL="0" indent="0" algn="ctr">
              <a:buNone/>
            </a:pPr>
            <a:r>
              <a:rPr lang="en-US" sz="1600" b="1" dirty="0">
                <a:solidFill>
                  <a:srgbClr val="8B1E3F"/>
                </a:solidFill>
              </a:rPr>
              <a:t>Карта</a:t>
            </a:r>
            <a:endParaRPr lang="en-US" sz="1600" dirty="0"/>
          </a:p>
        </p:txBody>
      </p:sp>
      <p:pic>
        <p:nvPicPr>
          <p:cNvPr id="9" name="@rise:9|Screen Профиль" descr="Экран приложения Mesto: Профиль"/>
          <p:cNvPicPr>
            <a:picLocks noChangeAspect="1"/>
          </p:cNvPicPr>
          <p:nvPr/>
        </p:nvPicPr>
        <p:blipFill>
          <a:blip r:embed="rId5"/>
          <a:stretch>
            <a:fillRect/>
          </a:stretch>
        </p:blipFill>
        <p:spPr>
          <a:xfrm>
            <a:off x="5926895" y="1719775"/>
            <a:ext cx="2548011" cy="4368018"/>
          </a:xfrm>
          <a:prstGeom prst="rect">
            <a:avLst/>
          </a:prstGeom>
        </p:spPr>
      </p:pic>
      <p:sp>
        <p:nvSpPr>
          <p:cNvPr id="10" name="@fade:11|Caption Профиль"/>
          <p:cNvSpPr txBox="1"/>
          <p:nvPr/>
        </p:nvSpPr>
        <p:spPr>
          <a:xfrm>
            <a:off x="5989320" y="5943600"/>
            <a:ext cx="2423160" cy="320040"/>
          </a:xfrm>
          <a:prstGeom prst="rect">
            <a:avLst/>
          </a:prstGeom>
          <a:noFill/>
          <a:ln/>
        </p:spPr>
        <p:txBody>
          <a:bodyPr wrap="square" lIns="0" tIns="0" rIns="0" bIns="0" rtlCol="0" anchor="t"/>
          <a:lstStyle/>
          <a:p>
            <a:pPr marL="0" indent="0" algn="ctr">
              <a:buNone/>
            </a:pPr>
            <a:r>
              <a:rPr lang="en-US" sz="1600" b="1" dirty="0">
                <a:solidFill>
                  <a:srgbClr val="8B1E3F"/>
                </a:solidFill>
              </a:rPr>
              <a:t>Профиль</a:t>
            </a:r>
            <a:endParaRPr lang="en-US" sz="1600" dirty="0"/>
          </a:p>
        </p:txBody>
      </p:sp>
      <p:sp>
        <p:nvSpPr>
          <p:cNvPr id="11" name="@rise:14|QR card"/>
          <p:cNvSpPr/>
          <p:nvPr/>
        </p:nvSpPr>
        <p:spPr>
          <a:xfrm>
            <a:off x="8732520" y="1783080"/>
            <a:ext cx="2910535" cy="4480560"/>
          </a:xfrm>
          <a:prstGeom prst="roundRect">
            <a:avLst>
              <a:gd name="adj" fmla="val 9425"/>
            </a:avLst>
          </a:prstGeom>
          <a:solidFill>
            <a:srgbClr val="FFEFBF"/>
          </a:solidFill>
          <a:ln/>
        </p:spPr>
      </p:sp>
      <p:sp>
        <p:nvSpPr>
          <p:cNvPr id="12" name="@fade:16|Tag"/>
          <p:cNvSpPr txBox="1"/>
          <p:nvPr/>
        </p:nvSpPr>
        <p:spPr>
          <a:xfrm>
            <a:off x="9006840" y="1965960"/>
            <a:ext cx="2286000" cy="274320"/>
          </a:xfrm>
          <a:prstGeom prst="rect">
            <a:avLst/>
          </a:prstGeom>
          <a:noFill/>
          <a:ln/>
        </p:spPr>
        <p:txBody>
          <a:bodyPr wrap="square" lIns="0" tIns="0" rIns="0" bIns="0" rtlCol="0" anchor="t"/>
          <a:lstStyle/>
          <a:p>
            <a:pPr marL="0" indent="0">
              <a:buNone/>
            </a:pPr>
            <a:r>
              <a:rPr lang="en-US" sz="1300" b="1" kern="0" spc="300" dirty="0">
                <a:solidFill>
                  <a:schemeClr val="tx2"/>
                </a:solidFill>
              </a:rPr>
              <a:t>ПОПРОБУЙТЕ</a:t>
            </a:r>
            <a:endParaRPr lang="en-US" sz="1300" dirty="0"/>
          </a:p>
        </p:txBody>
      </p:sp>
      <p:sp>
        <p:nvSpPr>
          <p:cNvPr id="13" name="@pop:17|QR frame"/>
          <p:cNvSpPr/>
          <p:nvPr/>
        </p:nvSpPr>
        <p:spPr>
          <a:xfrm>
            <a:off x="9006840" y="2377440"/>
            <a:ext cx="1051560" cy="1051560"/>
          </a:xfrm>
          <a:prstGeom prst="roundRect">
            <a:avLst>
              <a:gd name="adj" fmla="val 8696"/>
            </a:avLst>
          </a:prstGeom>
          <a:solidFill>
            <a:srgbClr val="FFFFFF"/>
          </a:solidFill>
          <a:ln/>
        </p:spPr>
      </p:sp>
      <p:pic>
        <p:nvPicPr>
          <p:cNvPr id="14" name="@pop:17|QR Веб" descr="QR-код: Веб"/>
          <p:cNvPicPr>
            <a:picLocks noChangeAspect="1"/>
          </p:cNvPicPr>
          <p:nvPr/>
        </p:nvPicPr>
        <p:blipFill>
          <a:blip r:embed="rId6"/>
          <a:stretch>
            <a:fillRect/>
          </a:stretch>
        </p:blipFill>
        <p:spPr>
          <a:xfrm>
            <a:off x="9052560" y="2423160"/>
            <a:ext cx="960120" cy="960120"/>
          </a:xfrm>
          <a:prstGeom prst="rect">
            <a:avLst/>
          </a:prstGeom>
        </p:spPr>
      </p:pic>
      <p:sp>
        <p:nvSpPr>
          <p:cNvPr id="15" name="@pop:17|Веб icon bg"/>
          <p:cNvSpPr/>
          <p:nvPr/>
        </p:nvSpPr>
        <p:spPr>
          <a:xfrm>
            <a:off x="10195560" y="2670048"/>
            <a:ext cx="457200" cy="457200"/>
          </a:xfrm>
          <a:prstGeom prst="ellipse">
            <a:avLst/>
          </a:prstGeom>
          <a:solidFill>
            <a:srgbClr val="8B1E3F"/>
          </a:solidFill>
          <a:ln/>
        </p:spPr>
      </p:sp>
      <p:pic>
        <p:nvPicPr>
          <p:cNvPr id="16" name="@pop:17|Веб icon" descr="Веб icon"/>
          <p:cNvPicPr>
            <a:picLocks noChangeAspect="1"/>
          </p:cNvPicPr>
          <p:nvPr/>
        </p:nvPicPr>
        <p:blipFill>
          <a:blip r:embed="rId7"/>
          <a:stretch>
            <a:fillRect/>
          </a:stretch>
        </p:blipFill>
        <p:spPr>
          <a:xfrm>
            <a:off x="10305288" y="2779776"/>
            <a:ext cx="237744" cy="237744"/>
          </a:xfrm>
          <a:prstGeom prst="rect">
            <a:avLst/>
          </a:prstGeom>
        </p:spPr>
      </p:pic>
      <p:sp>
        <p:nvSpPr>
          <p:cNvPr id="17" name="@pop:17|QR label Веб"/>
          <p:cNvSpPr txBox="1"/>
          <p:nvPr/>
        </p:nvSpPr>
        <p:spPr>
          <a:xfrm>
            <a:off x="10744200" y="2377440"/>
            <a:ext cx="822960" cy="1051560"/>
          </a:xfrm>
          <a:prstGeom prst="rect">
            <a:avLst/>
          </a:prstGeom>
          <a:noFill/>
          <a:ln/>
        </p:spPr>
        <p:txBody>
          <a:bodyPr wrap="square" lIns="0" tIns="0" rIns="0" bIns="0" rtlCol="0" anchor="ctr"/>
          <a:lstStyle/>
          <a:p>
            <a:pPr marL="0" indent="0">
              <a:buNone/>
            </a:pPr>
            <a:r>
              <a:rPr lang="en-US" sz="1700" b="1" dirty="0">
                <a:solidFill>
                  <a:schemeClr val="tx1"/>
                </a:solidFill>
              </a:rPr>
              <a:t>Веб</a:t>
            </a:r>
            <a:endParaRPr lang="en-US" sz="1700" dirty="0"/>
          </a:p>
        </p:txBody>
      </p:sp>
      <p:sp>
        <p:nvSpPr>
          <p:cNvPr id="18" name="@pop:19|QR frame"/>
          <p:cNvSpPr/>
          <p:nvPr/>
        </p:nvSpPr>
        <p:spPr>
          <a:xfrm>
            <a:off x="9006840" y="3547872"/>
            <a:ext cx="1051560" cy="1051560"/>
          </a:xfrm>
          <a:prstGeom prst="roundRect">
            <a:avLst>
              <a:gd name="adj" fmla="val 8696"/>
            </a:avLst>
          </a:prstGeom>
          <a:solidFill>
            <a:srgbClr val="FFFFFF"/>
          </a:solidFill>
          <a:ln/>
        </p:spPr>
      </p:sp>
      <p:pic>
        <p:nvPicPr>
          <p:cNvPr id="19" name="@pop:19|QR Код" descr="QR-код: Код"/>
          <p:cNvPicPr>
            <a:picLocks noChangeAspect="1"/>
          </p:cNvPicPr>
          <p:nvPr/>
        </p:nvPicPr>
        <p:blipFill>
          <a:blip r:embed="rId8"/>
          <a:stretch>
            <a:fillRect/>
          </a:stretch>
        </p:blipFill>
        <p:spPr>
          <a:xfrm>
            <a:off x="9052560" y="3593592"/>
            <a:ext cx="960120" cy="960120"/>
          </a:xfrm>
          <a:prstGeom prst="rect">
            <a:avLst/>
          </a:prstGeom>
        </p:spPr>
      </p:pic>
      <p:sp>
        <p:nvSpPr>
          <p:cNvPr id="20" name="@pop:19|Код icon bg"/>
          <p:cNvSpPr/>
          <p:nvPr/>
        </p:nvSpPr>
        <p:spPr>
          <a:xfrm>
            <a:off x="10195560" y="3840480"/>
            <a:ext cx="457200" cy="457200"/>
          </a:xfrm>
          <a:prstGeom prst="ellipse">
            <a:avLst/>
          </a:prstGeom>
          <a:solidFill>
            <a:srgbClr val="8B1E3F"/>
          </a:solidFill>
          <a:ln/>
        </p:spPr>
      </p:sp>
      <p:pic>
        <p:nvPicPr>
          <p:cNvPr id="21" name="@pop:19|Код icon" descr="Код icon"/>
          <p:cNvPicPr>
            <a:picLocks noChangeAspect="1"/>
          </p:cNvPicPr>
          <p:nvPr/>
        </p:nvPicPr>
        <p:blipFill>
          <a:blip r:embed="rId9"/>
          <a:stretch>
            <a:fillRect/>
          </a:stretch>
        </p:blipFill>
        <p:spPr>
          <a:xfrm>
            <a:off x="10305288" y="3950208"/>
            <a:ext cx="237744" cy="237744"/>
          </a:xfrm>
          <a:prstGeom prst="rect">
            <a:avLst/>
          </a:prstGeom>
        </p:spPr>
      </p:pic>
      <p:sp>
        <p:nvSpPr>
          <p:cNvPr id="22" name="@pop:19|QR label Код"/>
          <p:cNvSpPr txBox="1"/>
          <p:nvPr/>
        </p:nvSpPr>
        <p:spPr>
          <a:xfrm>
            <a:off x="10744200" y="3547872"/>
            <a:ext cx="822960" cy="1051560"/>
          </a:xfrm>
          <a:prstGeom prst="rect">
            <a:avLst/>
          </a:prstGeom>
          <a:noFill/>
          <a:ln/>
        </p:spPr>
        <p:txBody>
          <a:bodyPr wrap="square" lIns="0" tIns="0" rIns="0" bIns="0" rtlCol="0" anchor="ctr"/>
          <a:lstStyle/>
          <a:p>
            <a:pPr marL="0" indent="0">
              <a:buNone/>
            </a:pPr>
            <a:r>
              <a:rPr lang="en-US" sz="1700" b="1" dirty="0">
                <a:solidFill>
                  <a:schemeClr val="tx1"/>
                </a:solidFill>
              </a:rPr>
              <a:t>Код</a:t>
            </a:r>
            <a:endParaRPr lang="en-US" sz="1700" dirty="0"/>
          </a:p>
        </p:txBody>
      </p:sp>
      <p:sp>
        <p:nvSpPr>
          <p:cNvPr id="23" name="@pop:21|QR frame"/>
          <p:cNvSpPr/>
          <p:nvPr/>
        </p:nvSpPr>
        <p:spPr>
          <a:xfrm>
            <a:off x="9006840" y="4718304"/>
            <a:ext cx="1051560" cy="1051560"/>
          </a:xfrm>
          <a:prstGeom prst="roundRect">
            <a:avLst>
              <a:gd name="adj" fmla="val 8696"/>
            </a:avLst>
          </a:prstGeom>
          <a:solidFill>
            <a:srgbClr val="FFFFFF"/>
          </a:solidFill>
          <a:ln/>
        </p:spPr>
      </p:sp>
      <p:pic>
        <p:nvPicPr>
          <p:cNvPr id="24" name="@pop:21|QR Telegram" descr="QR-код: Telegram"/>
          <p:cNvPicPr>
            <a:picLocks noChangeAspect="1"/>
          </p:cNvPicPr>
          <p:nvPr/>
        </p:nvPicPr>
        <p:blipFill>
          <a:blip r:embed="rId10"/>
          <a:stretch>
            <a:fillRect/>
          </a:stretch>
        </p:blipFill>
        <p:spPr>
          <a:xfrm>
            <a:off x="9052560" y="4764024"/>
            <a:ext cx="960120" cy="960120"/>
          </a:xfrm>
          <a:prstGeom prst="rect">
            <a:avLst/>
          </a:prstGeom>
        </p:spPr>
      </p:pic>
      <p:sp>
        <p:nvSpPr>
          <p:cNvPr id="25" name="@pop:21|Telegram icon bg"/>
          <p:cNvSpPr/>
          <p:nvPr/>
        </p:nvSpPr>
        <p:spPr>
          <a:xfrm>
            <a:off x="10195560" y="5010912"/>
            <a:ext cx="457200" cy="457200"/>
          </a:xfrm>
          <a:prstGeom prst="ellipse">
            <a:avLst/>
          </a:prstGeom>
          <a:solidFill>
            <a:srgbClr val="8B1E3F"/>
          </a:solidFill>
          <a:ln/>
        </p:spPr>
      </p:sp>
      <p:pic>
        <p:nvPicPr>
          <p:cNvPr id="26" name="@pop:21|Telegram icon" descr="Telegram icon"/>
          <p:cNvPicPr>
            <a:picLocks noChangeAspect="1"/>
          </p:cNvPicPr>
          <p:nvPr/>
        </p:nvPicPr>
        <p:blipFill>
          <a:blip r:embed="rId11"/>
          <a:stretch>
            <a:fillRect/>
          </a:stretch>
        </p:blipFill>
        <p:spPr>
          <a:xfrm>
            <a:off x="10305288" y="5120640"/>
            <a:ext cx="237744" cy="237744"/>
          </a:xfrm>
          <a:prstGeom prst="rect">
            <a:avLst/>
          </a:prstGeom>
        </p:spPr>
      </p:pic>
      <p:sp>
        <p:nvSpPr>
          <p:cNvPr id="27" name="@pop:21|QR label Telegram"/>
          <p:cNvSpPr txBox="1"/>
          <p:nvPr/>
        </p:nvSpPr>
        <p:spPr>
          <a:xfrm>
            <a:off x="10744200" y="4718304"/>
            <a:ext cx="822960" cy="1051560"/>
          </a:xfrm>
          <a:prstGeom prst="rect">
            <a:avLst/>
          </a:prstGeom>
          <a:noFill/>
          <a:ln/>
        </p:spPr>
        <p:txBody>
          <a:bodyPr wrap="square" lIns="0" tIns="0" rIns="0" bIns="0" rtlCol="0" anchor="ctr"/>
          <a:lstStyle/>
          <a:p>
            <a:pPr marL="0" indent="0">
              <a:buNone/>
            </a:pPr>
            <a:r>
              <a:rPr lang="en-US" sz="1700" b="1" dirty="0">
                <a:solidFill>
                  <a:schemeClr val="tx1"/>
                </a:solidFill>
              </a:rPr>
              <a:t>Telegram</a:t>
            </a:r>
            <a:endParaRPr lang="en-US" sz="1700" dirty="0"/>
          </a:p>
        </p:txBody>
      </p:sp>
      <p:sp>
        <p:nvSpPr>
          <p:cNvPr id="28" name="@fade:24|Hint"/>
          <p:cNvSpPr txBox="1"/>
          <p:nvPr/>
        </p:nvSpPr>
        <p:spPr>
          <a:xfrm>
            <a:off x="9006840" y="5925312"/>
            <a:ext cx="2453335" cy="274320"/>
          </a:xfrm>
          <a:prstGeom prst="rect">
            <a:avLst/>
          </a:prstGeom>
          <a:noFill/>
          <a:ln/>
        </p:spPr>
        <p:txBody>
          <a:bodyPr wrap="square" lIns="0" tIns="0" rIns="0" bIns="0" rtlCol="0" anchor="t"/>
          <a:lstStyle/>
          <a:p>
            <a:pPr marL="0" indent="0">
              <a:buNone/>
            </a:pPr>
            <a:r>
              <a:rPr lang="en-US" sz="1300" dirty="0">
                <a:solidFill>
                  <a:srgbClr val="6B4A5A"/>
                </a:solidFill>
              </a:rPr>
              <a:t>Наведите камеру телефона</a:t>
            </a:r>
            <a:endParaRPr lang="en-US" sz="1300" dirty="0"/>
          </a:p>
        </p:txBody>
      </p:sp>
      <p:sp>
        <p:nvSpPr>
          <p:cNvPr id="29"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13</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36"/>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72"/>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96"/>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10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132"/>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168"/>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192"/>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204"/>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204"/>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204"/>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204"/>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204"/>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nodeType="withEffect">
                                  <p:stCondLst>
                                    <p:cond delay="228"/>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228"/>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228"/>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228"/>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228"/>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252"/>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par>
                                <p:cTn id="68" presetID="10" presetClass="entr" presetSubtype="0" fill="hold" nodeType="withEffect">
                                  <p:stCondLst>
                                    <p:cond delay="252"/>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00"/>
                                        <p:tgtEl>
                                          <p:spTgt spid="24"/>
                                        </p:tgtEl>
                                      </p:cBhvr>
                                    </p:animEffect>
                                  </p:childTnLst>
                                </p:cTn>
                              </p:par>
                              <p:par>
                                <p:cTn id="71" presetID="10" presetClass="entr" presetSubtype="0" fill="hold" nodeType="withEffect">
                                  <p:stCondLst>
                                    <p:cond delay="252"/>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252"/>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252"/>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288"/>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2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fade:0|Pill"/>
          <p:cNvSpPr/>
          <p:nvPr/>
        </p:nvSpPr>
        <p:spPr>
          <a:xfrm>
            <a:off x="548640" y="411480"/>
            <a:ext cx="2461565" cy="329184"/>
          </a:xfrm>
          <a:prstGeom prst="roundRect">
            <a:avLst>
              <a:gd name="adj" fmla="val 50000"/>
            </a:avLst>
          </a:prstGeom>
          <a:solidFill>
            <a:srgbClr val="B9A6FF"/>
          </a:solidFill>
          <a:ln/>
        </p:spPr>
      </p:sp>
      <p:sp>
        <p:nvSpPr>
          <p:cNvPr id="3" name="@fade:0|Pill text"/>
          <p:cNvSpPr txBox="1"/>
          <p:nvPr/>
        </p:nvSpPr>
        <p:spPr>
          <a:xfrm>
            <a:off x="548640" y="411480"/>
            <a:ext cx="2461565"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ОБНОВЛЕНИЕ ПРОДУКТА</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Как мы улучшили UX</a:t>
            </a:r>
            <a:endParaRPr lang="en-US" sz="4000" dirty="0"/>
          </a:p>
        </p:txBody>
      </p:sp>
      <p:sp>
        <p:nvSpPr>
          <p:cNvPr id="5" name="@rise:2|UX card"/>
          <p:cNvSpPr/>
          <p:nvPr/>
        </p:nvSpPr>
        <p:spPr>
          <a:xfrm>
            <a:off x="548640" y="1828800"/>
            <a:ext cx="5440680" cy="2011680"/>
          </a:xfrm>
          <a:prstGeom prst="roundRect">
            <a:avLst>
              <a:gd name="adj" fmla="val 13636"/>
            </a:avLst>
          </a:prstGeom>
          <a:solidFill>
            <a:srgbClr val="D8ECFF"/>
          </a:solidFill>
          <a:ln/>
        </p:spPr>
      </p:sp>
      <p:sp>
        <p:nvSpPr>
          <p:cNvPr id="6" name="@fade:4|Title"/>
          <p:cNvSpPr txBox="1"/>
          <p:nvPr/>
        </p:nvSpPr>
        <p:spPr>
          <a:xfrm>
            <a:off x="822960" y="2029968"/>
            <a:ext cx="2926080" cy="640080"/>
          </a:xfrm>
          <a:prstGeom prst="rect">
            <a:avLst/>
          </a:prstGeom>
          <a:noFill/>
          <a:ln/>
        </p:spPr>
        <p:txBody>
          <a:bodyPr wrap="square" lIns="0" tIns="0" rIns="0" bIns="0" rtlCol="0" anchor="t"/>
          <a:lstStyle/>
          <a:p>
            <a:pPr marL="0" indent="0">
              <a:buNone/>
            </a:pPr>
            <a:r>
              <a:rPr lang="en-US" sz="1900" b="1" dirty="0">
                <a:solidFill>
                  <a:schemeClr val="tx1"/>
                </a:solidFill>
              </a:rPr>
              <a:t>Тренеры и тренировки — вверху</a:t>
            </a:r>
            <a:endParaRPr lang="en-US" sz="1900" dirty="0"/>
          </a:p>
        </p:txBody>
      </p:sp>
      <p:sp>
        <p:nvSpPr>
          <p:cNvPr id="7" name="@fade:4|Text"/>
          <p:cNvSpPr txBox="1"/>
          <p:nvPr/>
        </p:nvSpPr>
        <p:spPr>
          <a:xfrm>
            <a:off x="822960" y="2697480"/>
            <a:ext cx="2926080" cy="1051560"/>
          </a:xfrm>
          <a:prstGeom prst="rect">
            <a:avLst/>
          </a:prstGeom>
          <a:noFill/>
          <a:ln/>
        </p:spPr>
        <p:txBody>
          <a:bodyPr wrap="square" lIns="0" tIns="0" rIns="0" bIns="0" rtlCol="0" anchor="t"/>
          <a:lstStyle/>
          <a:p>
            <a:pPr marL="0" indent="0">
              <a:buNone/>
            </a:pPr>
            <a:r>
              <a:rPr lang="en-US" sz="1400" dirty="0">
                <a:solidFill>
                  <a:schemeClr val="tx1"/>
                </a:solidFill>
              </a:rPr>
              <a:t>Вынесены отдельным блоком в верхнюю часть экрана</a:t>
            </a:r>
            <a:endParaRPr lang="en-US" sz="1400" dirty="0"/>
          </a:p>
        </p:txBody>
      </p:sp>
      <p:sp>
        <p:nvSpPr>
          <p:cNvPr id="8" name="@fade:4|Mock top"/>
          <p:cNvSpPr/>
          <p:nvPr/>
        </p:nvSpPr>
        <p:spPr>
          <a:xfrm>
            <a:off x="3977640" y="2103120"/>
            <a:ext cx="1783080" cy="457200"/>
          </a:xfrm>
          <a:prstGeom prst="roundRect">
            <a:avLst>
              <a:gd name="adj" fmla="val 36000"/>
            </a:avLst>
          </a:prstGeom>
          <a:solidFill>
            <a:srgbClr val="8B1E3F"/>
          </a:solidFill>
          <a:ln/>
        </p:spPr>
      </p:sp>
      <p:sp>
        <p:nvSpPr>
          <p:cNvPr id="9" name="@fade:4|Mock top text"/>
          <p:cNvSpPr txBox="1"/>
          <p:nvPr/>
        </p:nvSpPr>
        <p:spPr>
          <a:xfrm>
            <a:off x="3977640" y="2103120"/>
            <a:ext cx="1783080" cy="457200"/>
          </a:xfrm>
          <a:prstGeom prst="rect">
            <a:avLst/>
          </a:prstGeom>
          <a:noFill/>
          <a:ln/>
        </p:spPr>
        <p:txBody>
          <a:bodyPr wrap="square" lIns="0" tIns="0" rIns="0" bIns="0" rtlCol="0" anchor="ctr"/>
          <a:lstStyle/>
          <a:p>
            <a:pPr marL="0" indent="0" algn="ctr">
              <a:buNone/>
            </a:pPr>
            <a:r>
              <a:rPr lang="en-US" sz="1400" b="1" dirty="0">
                <a:solidFill>
                  <a:schemeClr val="bg1"/>
                </a:solidFill>
              </a:rPr>
              <a:t>Тренеры</a:t>
            </a:r>
            <a:endParaRPr lang="en-US" sz="1400" dirty="0"/>
          </a:p>
        </p:txBody>
      </p:sp>
      <p:sp>
        <p:nvSpPr>
          <p:cNvPr id="10" name="@fade:4|Mock top2"/>
          <p:cNvSpPr/>
          <p:nvPr/>
        </p:nvSpPr>
        <p:spPr>
          <a:xfrm>
            <a:off x="3977640" y="2651760"/>
            <a:ext cx="1783080" cy="457200"/>
          </a:xfrm>
          <a:prstGeom prst="roundRect">
            <a:avLst>
              <a:gd name="adj" fmla="val 36000"/>
            </a:avLst>
          </a:prstGeom>
          <a:solidFill>
            <a:srgbClr val="8B1E3F"/>
          </a:solidFill>
          <a:ln/>
        </p:spPr>
      </p:sp>
      <p:sp>
        <p:nvSpPr>
          <p:cNvPr id="11" name="@fade:4|Mock top2 text"/>
          <p:cNvSpPr txBox="1"/>
          <p:nvPr/>
        </p:nvSpPr>
        <p:spPr>
          <a:xfrm>
            <a:off x="3977640" y="2651760"/>
            <a:ext cx="1783080" cy="457200"/>
          </a:xfrm>
          <a:prstGeom prst="rect">
            <a:avLst/>
          </a:prstGeom>
          <a:noFill/>
          <a:ln/>
        </p:spPr>
        <p:txBody>
          <a:bodyPr wrap="square" lIns="0" tIns="0" rIns="0" bIns="0" rtlCol="0" anchor="ctr"/>
          <a:lstStyle/>
          <a:p>
            <a:pPr marL="0" indent="0" algn="ctr">
              <a:buNone/>
            </a:pPr>
            <a:r>
              <a:rPr lang="en-US" sz="1400" b="1" dirty="0">
                <a:solidFill>
                  <a:schemeClr val="bg1"/>
                </a:solidFill>
              </a:rPr>
              <a:t>Тренировки</a:t>
            </a:r>
            <a:endParaRPr lang="en-US" sz="1400" dirty="0"/>
          </a:p>
        </p:txBody>
      </p:sp>
      <p:sp>
        <p:nvSpPr>
          <p:cNvPr id="12" name="@fade:4|Mock chip"/>
          <p:cNvSpPr/>
          <p:nvPr/>
        </p:nvSpPr>
        <p:spPr>
          <a:xfrm>
            <a:off x="3977640" y="3246120"/>
            <a:ext cx="548640" cy="347472"/>
          </a:xfrm>
          <a:prstGeom prst="roundRect">
            <a:avLst>
              <a:gd name="adj" fmla="val 31579"/>
            </a:avLst>
          </a:prstGeom>
          <a:solidFill>
            <a:srgbClr val="FFFFFF"/>
          </a:solidFill>
          <a:ln/>
        </p:spPr>
      </p:sp>
      <p:sp>
        <p:nvSpPr>
          <p:cNvPr id="13" name="@fade:4|Mock chip"/>
          <p:cNvSpPr/>
          <p:nvPr/>
        </p:nvSpPr>
        <p:spPr>
          <a:xfrm>
            <a:off x="4590288" y="3246120"/>
            <a:ext cx="548640" cy="347472"/>
          </a:xfrm>
          <a:prstGeom prst="roundRect">
            <a:avLst>
              <a:gd name="adj" fmla="val 31579"/>
            </a:avLst>
          </a:prstGeom>
          <a:solidFill>
            <a:srgbClr val="FFFFFF"/>
          </a:solidFill>
          <a:ln/>
        </p:spPr>
      </p:sp>
      <p:sp>
        <p:nvSpPr>
          <p:cNvPr id="14" name="@fade:4|Mock chip"/>
          <p:cNvSpPr/>
          <p:nvPr/>
        </p:nvSpPr>
        <p:spPr>
          <a:xfrm>
            <a:off x="5202936" y="3246120"/>
            <a:ext cx="548640" cy="347472"/>
          </a:xfrm>
          <a:prstGeom prst="roundRect">
            <a:avLst>
              <a:gd name="adj" fmla="val 31579"/>
            </a:avLst>
          </a:prstGeom>
          <a:solidFill>
            <a:srgbClr val="FFFFFF"/>
          </a:solidFill>
          <a:ln/>
        </p:spPr>
      </p:sp>
      <p:sp>
        <p:nvSpPr>
          <p:cNvPr id="15" name="@rise:5|UX card"/>
          <p:cNvSpPr/>
          <p:nvPr/>
        </p:nvSpPr>
        <p:spPr>
          <a:xfrm>
            <a:off x="6202375" y="1828800"/>
            <a:ext cx="5440680" cy="2011680"/>
          </a:xfrm>
          <a:prstGeom prst="roundRect">
            <a:avLst>
              <a:gd name="adj" fmla="val 13636"/>
            </a:avLst>
          </a:prstGeom>
          <a:solidFill>
            <a:srgbClr val="FFEFBF"/>
          </a:solidFill>
          <a:ln/>
        </p:spPr>
      </p:sp>
      <p:sp>
        <p:nvSpPr>
          <p:cNvPr id="16" name="@fade:7|Title"/>
          <p:cNvSpPr txBox="1"/>
          <p:nvPr/>
        </p:nvSpPr>
        <p:spPr>
          <a:xfrm>
            <a:off x="6476695" y="2029968"/>
            <a:ext cx="2926080" cy="640080"/>
          </a:xfrm>
          <a:prstGeom prst="rect">
            <a:avLst/>
          </a:prstGeom>
          <a:noFill/>
          <a:ln/>
        </p:spPr>
        <p:txBody>
          <a:bodyPr wrap="square" lIns="0" tIns="0" rIns="0" bIns="0" rtlCol="0" anchor="t"/>
          <a:lstStyle/>
          <a:p>
            <a:pPr marL="0" indent="0">
              <a:buNone/>
            </a:pPr>
            <a:r>
              <a:rPr lang="en-US" sz="1900" b="1" dirty="0">
                <a:solidFill>
                  <a:schemeClr val="tx1"/>
                </a:solidFill>
              </a:rPr>
              <a:t>Короткая карусель видов спорта</a:t>
            </a:r>
            <a:endParaRPr lang="en-US" sz="1900" dirty="0"/>
          </a:p>
        </p:txBody>
      </p:sp>
      <p:sp>
        <p:nvSpPr>
          <p:cNvPr id="17" name="@fade:7|Text"/>
          <p:cNvSpPr txBox="1"/>
          <p:nvPr/>
        </p:nvSpPr>
        <p:spPr>
          <a:xfrm>
            <a:off x="6476695" y="2697480"/>
            <a:ext cx="2926080" cy="1051560"/>
          </a:xfrm>
          <a:prstGeom prst="rect">
            <a:avLst/>
          </a:prstGeom>
          <a:noFill/>
          <a:ln/>
        </p:spPr>
        <p:txBody>
          <a:bodyPr wrap="square" lIns="0" tIns="0" rIns="0" bIns="0" rtlCol="0" anchor="t"/>
          <a:lstStyle/>
          <a:p>
            <a:pPr marL="0" indent="0">
              <a:buNone/>
            </a:pPr>
            <a:r>
              <a:rPr lang="en-US" sz="1400" dirty="0">
                <a:solidFill>
                  <a:schemeClr val="tx1"/>
                </a:solidFill>
              </a:rPr>
              <a:t>Только самые популярные: футбол, баскетбол и другие. Вместо долгой прокрутки — кнопка «Далее»</a:t>
            </a:r>
            <a:endParaRPr lang="en-US" sz="1400" dirty="0"/>
          </a:p>
        </p:txBody>
      </p:sp>
      <p:sp>
        <p:nvSpPr>
          <p:cNvPr id="18" name="@fade:7|Mock chip"/>
          <p:cNvSpPr/>
          <p:nvPr/>
        </p:nvSpPr>
        <p:spPr>
          <a:xfrm>
            <a:off x="9631375" y="2103120"/>
            <a:ext cx="868680" cy="365760"/>
          </a:xfrm>
          <a:prstGeom prst="roundRect">
            <a:avLst>
              <a:gd name="adj" fmla="val 50000"/>
            </a:avLst>
          </a:prstGeom>
          <a:solidFill>
            <a:srgbClr val="FFFFFF"/>
          </a:solidFill>
          <a:ln/>
        </p:spPr>
      </p:sp>
      <p:sp>
        <p:nvSpPr>
          <p:cNvPr id="19" name="@fade:7|Mock chip text"/>
          <p:cNvSpPr txBox="1"/>
          <p:nvPr/>
        </p:nvSpPr>
        <p:spPr>
          <a:xfrm>
            <a:off x="9631375" y="2103120"/>
            <a:ext cx="868680" cy="365760"/>
          </a:xfrm>
          <a:prstGeom prst="rect">
            <a:avLst/>
          </a:prstGeom>
          <a:noFill/>
          <a:ln/>
        </p:spPr>
        <p:txBody>
          <a:bodyPr wrap="square" lIns="0" tIns="0" rIns="0" bIns="0" rtlCol="0" anchor="ctr"/>
          <a:lstStyle/>
          <a:p>
            <a:pPr marL="0" indent="0" algn="ctr">
              <a:buNone/>
            </a:pPr>
            <a:r>
              <a:rPr lang="en-US" sz="1300" b="1" dirty="0">
                <a:solidFill>
                  <a:schemeClr val="tx1"/>
                </a:solidFill>
              </a:rPr>
              <a:t>Футбол</a:t>
            </a:r>
            <a:endParaRPr lang="en-US" sz="1300" dirty="0"/>
          </a:p>
        </p:txBody>
      </p:sp>
      <p:sp>
        <p:nvSpPr>
          <p:cNvPr id="20" name="@fade:7|Mock chip"/>
          <p:cNvSpPr/>
          <p:nvPr/>
        </p:nvSpPr>
        <p:spPr>
          <a:xfrm>
            <a:off x="9631375" y="2560320"/>
            <a:ext cx="1051560" cy="365760"/>
          </a:xfrm>
          <a:prstGeom prst="roundRect">
            <a:avLst>
              <a:gd name="adj" fmla="val 50000"/>
            </a:avLst>
          </a:prstGeom>
          <a:solidFill>
            <a:srgbClr val="FFFFFF"/>
          </a:solidFill>
          <a:ln/>
        </p:spPr>
      </p:sp>
      <p:sp>
        <p:nvSpPr>
          <p:cNvPr id="21" name="@fade:7|Mock chip text"/>
          <p:cNvSpPr txBox="1"/>
          <p:nvPr/>
        </p:nvSpPr>
        <p:spPr>
          <a:xfrm>
            <a:off x="9631375" y="2560320"/>
            <a:ext cx="1051560" cy="365760"/>
          </a:xfrm>
          <a:prstGeom prst="rect">
            <a:avLst/>
          </a:prstGeom>
          <a:noFill/>
          <a:ln/>
        </p:spPr>
        <p:txBody>
          <a:bodyPr wrap="square" lIns="0" tIns="0" rIns="0" bIns="0" rtlCol="0" anchor="ctr"/>
          <a:lstStyle/>
          <a:p>
            <a:pPr marL="0" indent="0" algn="ctr">
              <a:buNone/>
            </a:pPr>
            <a:r>
              <a:rPr lang="en-US" sz="1300" b="1" dirty="0">
                <a:solidFill>
                  <a:schemeClr val="tx1"/>
                </a:solidFill>
              </a:rPr>
              <a:t>Баскетбол</a:t>
            </a:r>
            <a:endParaRPr lang="en-US" sz="1300" dirty="0"/>
          </a:p>
        </p:txBody>
      </p:sp>
      <p:sp>
        <p:nvSpPr>
          <p:cNvPr id="22" name="@fade:7|Mock next"/>
          <p:cNvSpPr/>
          <p:nvPr/>
        </p:nvSpPr>
        <p:spPr>
          <a:xfrm>
            <a:off x="9631375" y="3063240"/>
            <a:ext cx="1097280" cy="411480"/>
          </a:xfrm>
          <a:prstGeom prst="roundRect">
            <a:avLst>
              <a:gd name="adj" fmla="val 48889"/>
            </a:avLst>
          </a:prstGeom>
          <a:solidFill>
            <a:srgbClr val="8B1E3F"/>
          </a:solidFill>
          <a:ln/>
        </p:spPr>
      </p:sp>
      <p:sp>
        <p:nvSpPr>
          <p:cNvPr id="23" name="@fade:7|Mock next text"/>
          <p:cNvSpPr txBox="1"/>
          <p:nvPr/>
        </p:nvSpPr>
        <p:spPr>
          <a:xfrm>
            <a:off x="9631375" y="3063240"/>
            <a:ext cx="1097280" cy="411480"/>
          </a:xfrm>
          <a:prstGeom prst="rect">
            <a:avLst/>
          </a:prstGeom>
          <a:noFill/>
          <a:ln/>
        </p:spPr>
        <p:txBody>
          <a:bodyPr wrap="square" lIns="0" tIns="0" rIns="0" bIns="0" rtlCol="0" anchor="ctr"/>
          <a:lstStyle/>
          <a:p>
            <a:pPr marL="0" indent="0" algn="ctr">
              <a:buNone/>
            </a:pPr>
            <a:r>
              <a:rPr lang="en-US" sz="1400" b="1" dirty="0">
                <a:solidFill>
                  <a:schemeClr val="bg1"/>
                </a:solidFill>
              </a:rPr>
              <a:t>Далее  ›</a:t>
            </a:r>
            <a:endParaRPr lang="en-US" sz="1400" dirty="0"/>
          </a:p>
        </p:txBody>
      </p:sp>
      <p:sp>
        <p:nvSpPr>
          <p:cNvPr id="24" name="@rise:8|UX card"/>
          <p:cNvSpPr/>
          <p:nvPr/>
        </p:nvSpPr>
        <p:spPr>
          <a:xfrm>
            <a:off x="548640" y="4023360"/>
            <a:ext cx="5440680" cy="2011680"/>
          </a:xfrm>
          <a:prstGeom prst="roundRect">
            <a:avLst>
              <a:gd name="adj" fmla="val 13636"/>
            </a:avLst>
          </a:prstGeom>
          <a:solidFill>
            <a:srgbClr val="E5DEFF"/>
          </a:solidFill>
          <a:ln/>
        </p:spPr>
      </p:sp>
      <p:sp>
        <p:nvSpPr>
          <p:cNvPr id="25" name="@fade:10|Title"/>
          <p:cNvSpPr txBox="1"/>
          <p:nvPr/>
        </p:nvSpPr>
        <p:spPr>
          <a:xfrm>
            <a:off x="822960" y="4224528"/>
            <a:ext cx="2926080" cy="640080"/>
          </a:xfrm>
          <a:prstGeom prst="rect">
            <a:avLst/>
          </a:prstGeom>
          <a:noFill/>
          <a:ln/>
        </p:spPr>
        <p:txBody>
          <a:bodyPr wrap="square" lIns="0" tIns="0" rIns="0" bIns="0" rtlCol="0" anchor="t"/>
          <a:lstStyle/>
          <a:p>
            <a:pPr marL="0" indent="0">
              <a:buNone/>
            </a:pPr>
            <a:r>
              <a:rPr lang="en-US" sz="1900" b="1" dirty="0">
                <a:solidFill>
                  <a:schemeClr val="tx1"/>
                </a:solidFill>
              </a:rPr>
              <a:t>Фильтры — отдельным окном</a:t>
            </a:r>
            <a:endParaRPr lang="en-US" sz="1900" dirty="0"/>
          </a:p>
        </p:txBody>
      </p:sp>
      <p:sp>
        <p:nvSpPr>
          <p:cNvPr id="26" name="@fade:10|Text"/>
          <p:cNvSpPr txBox="1"/>
          <p:nvPr/>
        </p:nvSpPr>
        <p:spPr>
          <a:xfrm>
            <a:off x="822960" y="4892040"/>
            <a:ext cx="2926080" cy="1051560"/>
          </a:xfrm>
          <a:prstGeom prst="rect">
            <a:avLst/>
          </a:prstGeom>
          <a:noFill/>
          <a:ln/>
        </p:spPr>
        <p:txBody>
          <a:bodyPr wrap="square" lIns="0" tIns="0" rIns="0" bIns="0" rtlCol="0" anchor="t"/>
          <a:lstStyle/>
          <a:p>
            <a:pPr marL="0" indent="0">
              <a:buNone/>
            </a:pPr>
            <a:r>
              <a:rPr lang="en-US" sz="1400" dirty="0">
                <a:solidFill>
                  <a:schemeClr val="tx1"/>
                </a:solidFill>
              </a:rPr>
              <a:t>По «Далее» всплывает окно со всеми видами спорта. Закрывается свайпом, а не нажатием на пустую область</a:t>
            </a:r>
            <a:endParaRPr lang="en-US" sz="1400" dirty="0"/>
          </a:p>
        </p:txBody>
      </p:sp>
      <p:sp>
        <p:nvSpPr>
          <p:cNvPr id="27" name="@fade:10|Mock sheet"/>
          <p:cNvSpPr/>
          <p:nvPr/>
        </p:nvSpPr>
        <p:spPr>
          <a:xfrm>
            <a:off x="3977640" y="4297680"/>
            <a:ext cx="1783080" cy="1463040"/>
          </a:xfrm>
          <a:prstGeom prst="roundRect">
            <a:avLst>
              <a:gd name="adj" fmla="val 13750"/>
            </a:avLst>
          </a:prstGeom>
          <a:solidFill>
            <a:srgbClr val="FFFFFF"/>
          </a:solidFill>
          <a:ln/>
        </p:spPr>
      </p:sp>
      <p:sp>
        <p:nvSpPr>
          <p:cNvPr id="28" name="@fade:10|Mock handle"/>
          <p:cNvSpPr/>
          <p:nvPr/>
        </p:nvSpPr>
        <p:spPr>
          <a:xfrm>
            <a:off x="4594860" y="4407408"/>
            <a:ext cx="548640" cy="64008"/>
          </a:xfrm>
          <a:prstGeom prst="roundRect">
            <a:avLst>
              <a:gd name="adj" fmla="val 50000"/>
            </a:avLst>
          </a:prstGeom>
          <a:solidFill>
            <a:srgbClr val="6B4A5A"/>
          </a:solidFill>
          <a:ln/>
        </p:spPr>
      </p:sp>
      <p:sp>
        <p:nvSpPr>
          <p:cNvPr id="29" name="@fade:10|Mock sport"/>
          <p:cNvSpPr/>
          <p:nvPr/>
        </p:nvSpPr>
        <p:spPr>
          <a:xfrm>
            <a:off x="4133088" y="4663440"/>
            <a:ext cx="457200" cy="301752"/>
          </a:xfrm>
          <a:prstGeom prst="roundRect">
            <a:avLst>
              <a:gd name="adj" fmla="val 30303"/>
            </a:avLst>
          </a:prstGeom>
          <a:solidFill>
            <a:srgbClr val="E5DEFF"/>
          </a:solidFill>
          <a:ln/>
        </p:spPr>
      </p:sp>
      <p:sp>
        <p:nvSpPr>
          <p:cNvPr id="30" name="@fade:10|Mock sport"/>
          <p:cNvSpPr/>
          <p:nvPr/>
        </p:nvSpPr>
        <p:spPr>
          <a:xfrm>
            <a:off x="4663440" y="4663440"/>
            <a:ext cx="457200" cy="301752"/>
          </a:xfrm>
          <a:prstGeom prst="roundRect">
            <a:avLst>
              <a:gd name="adj" fmla="val 30303"/>
            </a:avLst>
          </a:prstGeom>
          <a:solidFill>
            <a:srgbClr val="E5DEFF"/>
          </a:solidFill>
          <a:ln/>
        </p:spPr>
      </p:sp>
      <p:sp>
        <p:nvSpPr>
          <p:cNvPr id="31" name="@fade:10|Mock sport"/>
          <p:cNvSpPr/>
          <p:nvPr/>
        </p:nvSpPr>
        <p:spPr>
          <a:xfrm>
            <a:off x="5193792" y="4663440"/>
            <a:ext cx="457200" cy="301752"/>
          </a:xfrm>
          <a:prstGeom prst="roundRect">
            <a:avLst>
              <a:gd name="adj" fmla="val 30303"/>
            </a:avLst>
          </a:prstGeom>
          <a:solidFill>
            <a:srgbClr val="E5DEFF"/>
          </a:solidFill>
          <a:ln/>
        </p:spPr>
      </p:sp>
      <p:sp>
        <p:nvSpPr>
          <p:cNvPr id="32" name="@fade:10|Mock sport"/>
          <p:cNvSpPr/>
          <p:nvPr/>
        </p:nvSpPr>
        <p:spPr>
          <a:xfrm>
            <a:off x="4133088" y="5074920"/>
            <a:ext cx="457200" cy="301752"/>
          </a:xfrm>
          <a:prstGeom prst="roundRect">
            <a:avLst>
              <a:gd name="adj" fmla="val 30303"/>
            </a:avLst>
          </a:prstGeom>
          <a:solidFill>
            <a:srgbClr val="E5DEFF"/>
          </a:solidFill>
          <a:ln/>
        </p:spPr>
      </p:sp>
      <p:sp>
        <p:nvSpPr>
          <p:cNvPr id="33" name="@fade:10|Mock sport"/>
          <p:cNvSpPr/>
          <p:nvPr/>
        </p:nvSpPr>
        <p:spPr>
          <a:xfrm>
            <a:off x="4663440" y="5074920"/>
            <a:ext cx="457200" cy="301752"/>
          </a:xfrm>
          <a:prstGeom prst="roundRect">
            <a:avLst>
              <a:gd name="adj" fmla="val 30303"/>
            </a:avLst>
          </a:prstGeom>
          <a:solidFill>
            <a:srgbClr val="E5DEFF"/>
          </a:solidFill>
          <a:ln/>
        </p:spPr>
      </p:sp>
      <p:sp>
        <p:nvSpPr>
          <p:cNvPr id="34" name="@fade:10|Mock sport"/>
          <p:cNvSpPr/>
          <p:nvPr/>
        </p:nvSpPr>
        <p:spPr>
          <a:xfrm>
            <a:off x="5193792" y="5074920"/>
            <a:ext cx="457200" cy="301752"/>
          </a:xfrm>
          <a:prstGeom prst="roundRect">
            <a:avLst>
              <a:gd name="adj" fmla="val 30303"/>
            </a:avLst>
          </a:prstGeom>
          <a:solidFill>
            <a:srgbClr val="E5DEFF"/>
          </a:solidFill>
          <a:ln/>
        </p:spPr>
      </p:sp>
      <p:sp>
        <p:nvSpPr>
          <p:cNvPr id="35" name="@fade:10|Swipe bg"/>
          <p:cNvSpPr/>
          <p:nvPr/>
        </p:nvSpPr>
        <p:spPr>
          <a:xfrm>
            <a:off x="5372100" y="5463540"/>
            <a:ext cx="411480" cy="411480"/>
          </a:xfrm>
          <a:prstGeom prst="ellipse">
            <a:avLst/>
          </a:prstGeom>
          <a:solidFill>
            <a:srgbClr val="8B1E3F"/>
          </a:solidFill>
          <a:ln/>
        </p:spPr>
      </p:sp>
      <p:pic>
        <p:nvPicPr>
          <p:cNvPr id="36" name="@fade:10|Swipe" descr="Swipe"/>
          <p:cNvPicPr>
            <a:picLocks noChangeAspect="1"/>
          </p:cNvPicPr>
          <p:nvPr/>
        </p:nvPicPr>
        <p:blipFill>
          <a:blip r:embed="rId3"/>
          <a:stretch>
            <a:fillRect/>
          </a:stretch>
        </p:blipFill>
        <p:spPr>
          <a:xfrm>
            <a:off x="5470855" y="5562295"/>
            <a:ext cx="213970" cy="213970"/>
          </a:xfrm>
          <a:prstGeom prst="rect">
            <a:avLst/>
          </a:prstGeom>
        </p:spPr>
      </p:pic>
      <p:sp>
        <p:nvSpPr>
          <p:cNvPr id="37" name="@fade:10|Swipe text"/>
          <p:cNvSpPr txBox="1"/>
          <p:nvPr/>
        </p:nvSpPr>
        <p:spPr>
          <a:xfrm>
            <a:off x="4160520" y="5504688"/>
            <a:ext cx="822960" cy="256032"/>
          </a:xfrm>
          <a:prstGeom prst="rect">
            <a:avLst/>
          </a:prstGeom>
          <a:noFill/>
          <a:ln/>
        </p:spPr>
        <p:txBody>
          <a:bodyPr wrap="square" lIns="0" tIns="0" rIns="0" bIns="0" rtlCol="0" anchor="t"/>
          <a:lstStyle/>
          <a:p>
            <a:pPr marL="0" indent="0">
              <a:buNone/>
            </a:pPr>
            <a:r>
              <a:rPr lang="en-US" sz="1200" b="1" dirty="0">
                <a:solidFill>
                  <a:srgbClr val="8B1E3F"/>
                </a:solidFill>
              </a:rPr>
              <a:t>свайп</a:t>
            </a:r>
            <a:endParaRPr lang="en-US" sz="1200" dirty="0"/>
          </a:p>
        </p:txBody>
      </p:sp>
      <p:sp>
        <p:nvSpPr>
          <p:cNvPr id="38" name="@rise:11|UX card"/>
          <p:cNvSpPr/>
          <p:nvPr/>
        </p:nvSpPr>
        <p:spPr>
          <a:xfrm>
            <a:off x="6202375" y="4023360"/>
            <a:ext cx="5440680" cy="2011680"/>
          </a:xfrm>
          <a:prstGeom prst="roundRect">
            <a:avLst>
              <a:gd name="adj" fmla="val 13636"/>
            </a:avLst>
          </a:prstGeom>
          <a:solidFill>
            <a:srgbClr val="D2F3E6"/>
          </a:solidFill>
          <a:ln/>
        </p:spPr>
      </p:sp>
      <p:sp>
        <p:nvSpPr>
          <p:cNvPr id="39" name="@fade:13|Title"/>
          <p:cNvSpPr txBox="1"/>
          <p:nvPr/>
        </p:nvSpPr>
        <p:spPr>
          <a:xfrm>
            <a:off x="6476695" y="4224528"/>
            <a:ext cx="2926080" cy="640080"/>
          </a:xfrm>
          <a:prstGeom prst="rect">
            <a:avLst/>
          </a:prstGeom>
          <a:noFill/>
          <a:ln/>
        </p:spPr>
        <p:txBody>
          <a:bodyPr wrap="square" lIns="0" tIns="0" rIns="0" bIns="0" rtlCol="0" anchor="t"/>
          <a:lstStyle/>
          <a:p>
            <a:pPr marL="0" indent="0">
              <a:buNone/>
            </a:pPr>
            <a:r>
              <a:rPr lang="en-US" sz="1900" b="1" dirty="0">
                <a:solidFill>
                  <a:schemeClr val="tx1"/>
                </a:solidFill>
              </a:rPr>
              <a:t>Справка по уровням игры</a:t>
            </a:r>
            <a:endParaRPr lang="en-US" sz="1900" dirty="0"/>
          </a:p>
        </p:txBody>
      </p:sp>
      <p:sp>
        <p:nvSpPr>
          <p:cNvPr id="40" name="@fade:13|Text"/>
          <p:cNvSpPr txBox="1"/>
          <p:nvPr/>
        </p:nvSpPr>
        <p:spPr>
          <a:xfrm>
            <a:off x="6476695" y="4892040"/>
            <a:ext cx="2926080" cy="1051560"/>
          </a:xfrm>
          <a:prstGeom prst="rect">
            <a:avLst/>
          </a:prstGeom>
          <a:noFill/>
          <a:ln/>
        </p:spPr>
        <p:txBody>
          <a:bodyPr wrap="square" lIns="0" tIns="0" rIns="0" bIns="0" rtlCol="0" anchor="t"/>
          <a:lstStyle/>
          <a:p>
            <a:pPr marL="0" indent="0">
              <a:buNone/>
            </a:pPr>
            <a:r>
              <a:rPr lang="en-US" sz="1400" dirty="0">
                <a:solidFill>
                  <a:schemeClr val="tx1"/>
                </a:solidFill>
              </a:rPr>
              <a:t>В каждом спорте уровни называются по-разному, поэтому к фильтрам есть пояснение</a:t>
            </a:r>
            <a:endParaRPr lang="en-US" sz="1400" dirty="0"/>
          </a:p>
        </p:txBody>
      </p:sp>
      <p:sp>
        <p:nvSpPr>
          <p:cNvPr id="41" name="@fade:13|Mock level card"/>
          <p:cNvSpPr/>
          <p:nvPr/>
        </p:nvSpPr>
        <p:spPr>
          <a:xfrm>
            <a:off x="9631375" y="4297680"/>
            <a:ext cx="1783080" cy="749808"/>
          </a:xfrm>
          <a:prstGeom prst="roundRect">
            <a:avLst>
              <a:gd name="adj" fmla="val 19512"/>
            </a:avLst>
          </a:prstGeom>
          <a:solidFill>
            <a:srgbClr val="FFFFFF"/>
          </a:solidFill>
          <a:ln/>
        </p:spPr>
      </p:sp>
      <p:sp>
        <p:nvSpPr>
          <p:cNvPr id="42" name="@fade:13|Mock sport"/>
          <p:cNvSpPr txBox="1"/>
          <p:nvPr/>
        </p:nvSpPr>
        <p:spPr>
          <a:xfrm>
            <a:off x="9768535" y="4370832"/>
            <a:ext cx="1508760" cy="274320"/>
          </a:xfrm>
          <a:prstGeom prst="rect">
            <a:avLst/>
          </a:prstGeom>
          <a:noFill/>
          <a:ln/>
        </p:spPr>
        <p:txBody>
          <a:bodyPr wrap="square" lIns="0" tIns="0" rIns="0" bIns="0" rtlCol="0" anchor="t"/>
          <a:lstStyle/>
          <a:p>
            <a:pPr marL="0" indent="0">
              <a:buNone/>
            </a:pPr>
            <a:r>
              <a:rPr lang="en-US" sz="1300" b="1" dirty="0">
                <a:solidFill>
                  <a:srgbClr val="8B1E3F"/>
                </a:solidFill>
              </a:rPr>
              <a:t>Волейбол</a:t>
            </a:r>
            <a:endParaRPr lang="en-US" sz="1300" dirty="0"/>
          </a:p>
        </p:txBody>
      </p:sp>
      <p:sp>
        <p:nvSpPr>
          <p:cNvPr id="43" name="@fade:13|Mock levels"/>
          <p:cNvSpPr txBox="1"/>
          <p:nvPr/>
        </p:nvSpPr>
        <p:spPr>
          <a:xfrm>
            <a:off x="9768535" y="4663440"/>
            <a:ext cx="1508760" cy="292608"/>
          </a:xfrm>
          <a:prstGeom prst="rect">
            <a:avLst/>
          </a:prstGeom>
          <a:noFill/>
          <a:ln/>
        </p:spPr>
        <p:txBody>
          <a:bodyPr wrap="square" lIns="0" tIns="0" rIns="0" bIns="0" rtlCol="0" anchor="t"/>
          <a:lstStyle/>
          <a:p>
            <a:pPr marL="0" indent="0">
              <a:buNone/>
            </a:pPr>
            <a:r>
              <a:rPr lang="en-US" sz="1600" b="1" dirty="0">
                <a:solidFill>
                  <a:schemeClr val="tx1"/>
                </a:solidFill>
              </a:rPr>
              <a:t>Д2 · Д3</a:t>
            </a:r>
            <a:endParaRPr lang="en-US" sz="1600" dirty="0"/>
          </a:p>
        </p:txBody>
      </p:sp>
      <p:sp>
        <p:nvSpPr>
          <p:cNvPr id="44" name="@fade:13|Mock level card"/>
          <p:cNvSpPr/>
          <p:nvPr/>
        </p:nvSpPr>
        <p:spPr>
          <a:xfrm>
            <a:off x="9631375" y="5166360"/>
            <a:ext cx="1783080" cy="749808"/>
          </a:xfrm>
          <a:prstGeom prst="roundRect">
            <a:avLst>
              <a:gd name="adj" fmla="val 19512"/>
            </a:avLst>
          </a:prstGeom>
          <a:solidFill>
            <a:srgbClr val="FFFFFF"/>
          </a:solidFill>
          <a:ln/>
        </p:spPr>
      </p:sp>
      <p:sp>
        <p:nvSpPr>
          <p:cNvPr id="45" name="@fade:13|Mock sport"/>
          <p:cNvSpPr txBox="1"/>
          <p:nvPr/>
        </p:nvSpPr>
        <p:spPr>
          <a:xfrm>
            <a:off x="9768535" y="5239512"/>
            <a:ext cx="1508760" cy="274320"/>
          </a:xfrm>
          <a:prstGeom prst="rect">
            <a:avLst/>
          </a:prstGeom>
          <a:noFill/>
          <a:ln/>
        </p:spPr>
        <p:txBody>
          <a:bodyPr wrap="square" lIns="0" tIns="0" rIns="0" bIns="0" rtlCol="0" anchor="t"/>
          <a:lstStyle/>
          <a:p>
            <a:pPr marL="0" indent="0">
              <a:buNone/>
            </a:pPr>
            <a:r>
              <a:rPr lang="en-US" sz="1300" b="1" dirty="0">
                <a:solidFill>
                  <a:srgbClr val="8B1E3F"/>
                </a:solidFill>
              </a:rPr>
              <a:t>Бадминтон</a:t>
            </a:r>
            <a:endParaRPr lang="en-US" sz="1300" dirty="0"/>
          </a:p>
        </p:txBody>
      </p:sp>
      <p:sp>
        <p:nvSpPr>
          <p:cNvPr id="46" name="@fade:13|Mock levels"/>
          <p:cNvSpPr txBox="1"/>
          <p:nvPr/>
        </p:nvSpPr>
        <p:spPr>
          <a:xfrm>
            <a:off x="9768535" y="5532120"/>
            <a:ext cx="1508760" cy="292608"/>
          </a:xfrm>
          <a:prstGeom prst="rect">
            <a:avLst/>
          </a:prstGeom>
          <a:noFill/>
          <a:ln/>
        </p:spPr>
        <p:txBody>
          <a:bodyPr wrap="square" lIns="0" tIns="0" rIns="0" bIns="0" rtlCol="0" anchor="t"/>
          <a:lstStyle/>
          <a:p>
            <a:pPr marL="0" indent="0">
              <a:buNone/>
            </a:pPr>
            <a:r>
              <a:rPr lang="en-US" sz="1600" b="1" dirty="0">
                <a:solidFill>
                  <a:schemeClr val="tx1"/>
                </a:solidFill>
              </a:rPr>
              <a:t>A · B · C · D</a:t>
            </a:r>
            <a:endParaRPr lang="en-US" sz="1600" dirty="0"/>
          </a:p>
        </p:txBody>
      </p:sp>
      <p:sp>
        <p:nvSpPr>
          <p:cNvPr id="47"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14</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nodeType="withEffect">
                                  <p:stCondLst>
                                    <p:cond delay="24"/>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48"/>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48"/>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48"/>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nodeType="withEffect">
                                  <p:stCondLst>
                                    <p:cond delay="48"/>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48"/>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48"/>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nodeType="withEffect">
                                  <p:stCondLst>
                                    <p:cond delay="48"/>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48"/>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48"/>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nodeType="withEffect">
                                  <p:stCondLst>
                                    <p:cond delay="6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84"/>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84"/>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nodeType="withEffect">
                                  <p:stCondLst>
                                    <p:cond delay="84"/>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84"/>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84"/>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84"/>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84"/>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84"/>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par>
                                <p:cTn id="68" presetID="10" presetClass="entr" presetSubtype="0" fill="hold" nodeType="withEffect">
                                  <p:stCondLst>
                                    <p:cond delay="96"/>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00"/>
                                        <p:tgtEl>
                                          <p:spTgt spid="24"/>
                                        </p:tgtEl>
                                      </p:cBhvr>
                                    </p:animEffect>
                                  </p:childTnLst>
                                </p:cTn>
                              </p:par>
                              <p:par>
                                <p:cTn id="71" presetID="10" presetClass="entr" presetSubtype="0" fill="hold" nodeType="withEffect">
                                  <p:stCondLst>
                                    <p:cond delay="12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200"/>
                                        <p:tgtEl>
                                          <p:spTgt spid="25"/>
                                        </p:tgtEl>
                                      </p:cBhvr>
                                    </p:animEffect>
                                  </p:childTnLst>
                                </p:cTn>
                              </p:par>
                              <p:par>
                                <p:cTn id="74" presetID="10" presetClass="entr" presetSubtype="0" fill="hold" nodeType="withEffect">
                                  <p:stCondLst>
                                    <p:cond delay="12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200"/>
                                        <p:tgtEl>
                                          <p:spTgt spid="26"/>
                                        </p:tgtEl>
                                      </p:cBhvr>
                                    </p:animEffect>
                                  </p:childTnLst>
                                </p:cTn>
                              </p:par>
                              <p:par>
                                <p:cTn id="77" presetID="10" presetClass="entr" presetSubtype="0" fill="hold" nodeType="withEffect">
                                  <p:stCondLst>
                                    <p:cond delay="12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00"/>
                                        <p:tgtEl>
                                          <p:spTgt spid="27"/>
                                        </p:tgtEl>
                                      </p:cBhvr>
                                    </p:animEffect>
                                  </p:childTnLst>
                                </p:cTn>
                              </p:par>
                              <p:par>
                                <p:cTn id="80" presetID="10" presetClass="entr" presetSubtype="0" fill="hold" nodeType="withEffect">
                                  <p:stCondLst>
                                    <p:cond delay="12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200"/>
                                        <p:tgtEl>
                                          <p:spTgt spid="28"/>
                                        </p:tgtEl>
                                      </p:cBhvr>
                                    </p:animEffect>
                                  </p:childTnLst>
                                </p:cTn>
                              </p:par>
                              <p:par>
                                <p:cTn id="83" presetID="10" presetClass="entr" presetSubtype="0" fill="hold" nodeType="withEffect">
                                  <p:stCondLst>
                                    <p:cond delay="12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200"/>
                                        <p:tgtEl>
                                          <p:spTgt spid="29"/>
                                        </p:tgtEl>
                                      </p:cBhvr>
                                    </p:animEffect>
                                  </p:childTnLst>
                                </p:cTn>
                              </p:par>
                              <p:par>
                                <p:cTn id="86" presetID="10" presetClass="entr" presetSubtype="0" fill="hold" nodeType="withEffect">
                                  <p:stCondLst>
                                    <p:cond delay="12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200"/>
                                        <p:tgtEl>
                                          <p:spTgt spid="30"/>
                                        </p:tgtEl>
                                      </p:cBhvr>
                                    </p:animEffect>
                                  </p:childTnLst>
                                </p:cTn>
                              </p:par>
                              <p:par>
                                <p:cTn id="89" presetID="10" presetClass="entr" presetSubtype="0" fill="hold" nodeType="withEffect">
                                  <p:stCondLst>
                                    <p:cond delay="12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200"/>
                                        <p:tgtEl>
                                          <p:spTgt spid="31"/>
                                        </p:tgtEl>
                                      </p:cBhvr>
                                    </p:animEffect>
                                  </p:childTnLst>
                                </p:cTn>
                              </p:par>
                              <p:par>
                                <p:cTn id="92" presetID="10" presetClass="entr" presetSubtype="0" fill="hold" nodeType="withEffect">
                                  <p:stCondLst>
                                    <p:cond delay="12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200"/>
                                        <p:tgtEl>
                                          <p:spTgt spid="32"/>
                                        </p:tgtEl>
                                      </p:cBhvr>
                                    </p:animEffect>
                                  </p:childTnLst>
                                </p:cTn>
                              </p:par>
                              <p:par>
                                <p:cTn id="95" presetID="10" presetClass="entr" presetSubtype="0" fill="hold" nodeType="withEffect">
                                  <p:stCondLst>
                                    <p:cond delay="12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200"/>
                                        <p:tgtEl>
                                          <p:spTgt spid="33"/>
                                        </p:tgtEl>
                                      </p:cBhvr>
                                    </p:animEffect>
                                  </p:childTnLst>
                                </p:cTn>
                              </p:par>
                              <p:par>
                                <p:cTn id="98" presetID="10" presetClass="entr" presetSubtype="0" fill="hold" nodeType="withEffect">
                                  <p:stCondLst>
                                    <p:cond delay="12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200"/>
                                        <p:tgtEl>
                                          <p:spTgt spid="34"/>
                                        </p:tgtEl>
                                      </p:cBhvr>
                                    </p:animEffect>
                                  </p:childTnLst>
                                </p:cTn>
                              </p:par>
                              <p:par>
                                <p:cTn id="101" presetID="10" presetClass="entr" presetSubtype="0" fill="hold" nodeType="withEffect">
                                  <p:stCondLst>
                                    <p:cond delay="12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200"/>
                                        <p:tgtEl>
                                          <p:spTgt spid="35"/>
                                        </p:tgtEl>
                                      </p:cBhvr>
                                    </p:animEffect>
                                  </p:childTnLst>
                                </p:cTn>
                              </p:par>
                              <p:par>
                                <p:cTn id="104" presetID="10" presetClass="entr" presetSubtype="0" fill="hold" nodeType="withEffect">
                                  <p:stCondLst>
                                    <p:cond delay="12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200"/>
                                        <p:tgtEl>
                                          <p:spTgt spid="36"/>
                                        </p:tgtEl>
                                      </p:cBhvr>
                                    </p:animEffect>
                                  </p:childTnLst>
                                </p:cTn>
                              </p:par>
                              <p:par>
                                <p:cTn id="107" presetID="10" presetClass="entr" presetSubtype="0" fill="hold" nodeType="withEffect">
                                  <p:stCondLst>
                                    <p:cond delay="12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200"/>
                                        <p:tgtEl>
                                          <p:spTgt spid="37"/>
                                        </p:tgtEl>
                                      </p:cBhvr>
                                    </p:animEffect>
                                  </p:childTnLst>
                                </p:cTn>
                              </p:par>
                              <p:par>
                                <p:cTn id="110" presetID="10" presetClass="entr" presetSubtype="0" fill="hold" nodeType="withEffect">
                                  <p:stCondLst>
                                    <p:cond delay="132"/>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200"/>
                                        <p:tgtEl>
                                          <p:spTgt spid="38"/>
                                        </p:tgtEl>
                                      </p:cBhvr>
                                    </p:animEffect>
                                  </p:childTnLst>
                                </p:cTn>
                              </p:par>
                              <p:par>
                                <p:cTn id="113" presetID="10" presetClass="entr" presetSubtype="0" fill="hold" nodeType="withEffect">
                                  <p:stCondLst>
                                    <p:cond delay="156"/>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200"/>
                                        <p:tgtEl>
                                          <p:spTgt spid="39"/>
                                        </p:tgtEl>
                                      </p:cBhvr>
                                    </p:animEffect>
                                  </p:childTnLst>
                                </p:cTn>
                              </p:par>
                              <p:par>
                                <p:cTn id="116" presetID="10" presetClass="entr" presetSubtype="0" fill="hold" nodeType="withEffect">
                                  <p:stCondLst>
                                    <p:cond delay="156"/>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200"/>
                                        <p:tgtEl>
                                          <p:spTgt spid="40"/>
                                        </p:tgtEl>
                                      </p:cBhvr>
                                    </p:animEffect>
                                  </p:childTnLst>
                                </p:cTn>
                              </p:par>
                              <p:par>
                                <p:cTn id="119" presetID="10" presetClass="entr" presetSubtype="0" fill="hold" nodeType="withEffect">
                                  <p:stCondLst>
                                    <p:cond delay="156"/>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200"/>
                                        <p:tgtEl>
                                          <p:spTgt spid="41"/>
                                        </p:tgtEl>
                                      </p:cBhvr>
                                    </p:animEffect>
                                  </p:childTnLst>
                                </p:cTn>
                              </p:par>
                              <p:par>
                                <p:cTn id="122" presetID="10" presetClass="entr" presetSubtype="0" fill="hold" nodeType="withEffect">
                                  <p:stCondLst>
                                    <p:cond delay="156"/>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200"/>
                                        <p:tgtEl>
                                          <p:spTgt spid="42"/>
                                        </p:tgtEl>
                                      </p:cBhvr>
                                    </p:animEffect>
                                  </p:childTnLst>
                                </p:cTn>
                              </p:par>
                              <p:par>
                                <p:cTn id="125" presetID="10" presetClass="entr" presetSubtype="0" fill="hold" nodeType="withEffect">
                                  <p:stCondLst>
                                    <p:cond delay="156"/>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200"/>
                                        <p:tgtEl>
                                          <p:spTgt spid="43"/>
                                        </p:tgtEl>
                                      </p:cBhvr>
                                    </p:animEffect>
                                  </p:childTnLst>
                                </p:cTn>
                              </p:par>
                              <p:par>
                                <p:cTn id="128" presetID="10" presetClass="entr" presetSubtype="0" fill="hold" nodeType="withEffect">
                                  <p:stCondLst>
                                    <p:cond delay="156"/>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200"/>
                                        <p:tgtEl>
                                          <p:spTgt spid="44"/>
                                        </p:tgtEl>
                                      </p:cBhvr>
                                    </p:animEffect>
                                  </p:childTnLst>
                                </p:cTn>
                              </p:par>
                              <p:par>
                                <p:cTn id="131" presetID="10" presetClass="entr" presetSubtype="0" fill="hold" nodeType="withEffect">
                                  <p:stCondLst>
                                    <p:cond delay="156"/>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200"/>
                                        <p:tgtEl>
                                          <p:spTgt spid="45"/>
                                        </p:tgtEl>
                                      </p:cBhvr>
                                    </p:animEffect>
                                  </p:childTnLst>
                                </p:cTn>
                              </p:par>
                              <p:par>
                                <p:cTn id="134" presetID="10" presetClass="entr" presetSubtype="0" fill="hold" nodeType="withEffect">
                                  <p:stCondLst>
                                    <p:cond delay="156"/>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2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fade:0|Pill"/>
          <p:cNvSpPr/>
          <p:nvPr/>
        </p:nvSpPr>
        <p:spPr>
          <a:xfrm>
            <a:off x="548640" y="411480"/>
            <a:ext cx="1490472" cy="329184"/>
          </a:xfrm>
          <a:prstGeom prst="roundRect">
            <a:avLst>
              <a:gd name="adj" fmla="val 50000"/>
            </a:avLst>
          </a:prstGeom>
          <a:solidFill>
            <a:srgbClr val="6FD3B0"/>
          </a:solidFill>
          <a:ln/>
        </p:spPr>
      </p:sp>
      <p:sp>
        <p:nvSpPr>
          <p:cNvPr id="3" name="@fade:0|Pill text"/>
          <p:cNvSpPr txBox="1"/>
          <p:nvPr/>
        </p:nvSpPr>
        <p:spPr>
          <a:xfrm>
            <a:off x="548640" y="411480"/>
            <a:ext cx="1490472"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ЧТО ДАЛЬШЕ</a:t>
            </a:r>
            <a:endParaRPr lang="en-US" sz="1200" dirty="0"/>
          </a:p>
        </p:txBody>
      </p:sp>
      <p:sp>
        <p:nvSpPr>
          <p:cNvPr id="4" name="Text 1"/>
          <p:cNvSpPr>
            <a:spLocks noGrp="1"/>
          </p:cNvSpPr>
          <p:nvPr>
            <p:ph type="title" idx="102" hasCustomPrompt="1"/>
          </p:nvPr>
        </p:nvSpPr>
        <p:spPr>
          <a:xfrm>
            <a:off x="548640" y="822960"/>
            <a:ext cx="9509760" cy="731520"/>
          </a:xfrm>
          <a:prstGeom prst="rect">
            <a:avLst/>
          </a:prstGeom>
          <a:noFill/>
          <a:ln/>
        </p:spPr>
        <p:txBody>
          <a:bodyPr wrap="square" lIns="0" tIns="0" rIns="0" bIns="0" rtlCol="0" anchor="ctr"/>
          <a:lstStyle/>
          <a:p>
            <a:pPr marL="0" indent="0" algn="l">
              <a:buNone/>
            </a:pPr>
            <a:r>
              <a:rPr lang="en-US" sz="4000" b="1" dirty="0">
                <a:solidFill>
                  <a:schemeClr val="tx1"/>
                </a:solidFill>
              </a:rPr>
              <a:t>Следующие шаги</a:t>
            </a:r>
            <a:endParaRPr lang="en-US" sz="4000" dirty="0"/>
          </a:p>
        </p:txBody>
      </p:sp>
      <p:sp>
        <p:nvSpPr>
          <p:cNvPr id="5" name="@rise:2|Step card"/>
          <p:cNvSpPr/>
          <p:nvPr/>
        </p:nvSpPr>
        <p:spPr>
          <a:xfrm>
            <a:off x="548640" y="3017520"/>
            <a:ext cx="3566160" cy="2560320"/>
          </a:xfrm>
          <a:prstGeom prst="roundRect">
            <a:avLst>
              <a:gd name="adj" fmla="val 10714"/>
            </a:avLst>
          </a:prstGeom>
          <a:solidFill>
            <a:srgbClr val="D8ECFF"/>
          </a:solidFill>
          <a:ln/>
        </p:spPr>
      </p:sp>
      <p:sp>
        <p:nvSpPr>
          <p:cNvPr id="6" name="@fade:4|Number bg"/>
          <p:cNvSpPr/>
          <p:nvPr/>
        </p:nvSpPr>
        <p:spPr>
          <a:xfrm>
            <a:off x="850392" y="3319272"/>
            <a:ext cx="585216" cy="585216"/>
          </a:xfrm>
          <a:prstGeom prst="ellipse">
            <a:avLst/>
          </a:prstGeom>
          <a:solidFill>
            <a:srgbClr val="8B1E3F"/>
          </a:solidFill>
          <a:ln/>
        </p:spPr>
      </p:sp>
      <p:sp>
        <p:nvSpPr>
          <p:cNvPr id="7" name="@fade:4|Number"/>
          <p:cNvSpPr txBox="1"/>
          <p:nvPr/>
        </p:nvSpPr>
        <p:spPr>
          <a:xfrm>
            <a:off x="850392" y="3319272"/>
            <a:ext cx="585216" cy="585216"/>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8" name="@fade:4|Icon bg"/>
          <p:cNvSpPr/>
          <p:nvPr/>
        </p:nvSpPr>
        <p:spPr>
          <a:xfrm>
            <a:off x="2971800" y="3200400"/>
            <a:ext cx="822960" cy="822960"/>
          </a:xfrm>
          <a:prstGeom prst="ellipse">
            <a:avLst/>
          </a:prstGeom>
          <a:solidFill>
            <a:srgbClr val="FFFFFF"/>
          </a:solidFill>
          <a:ln/>
        </p:spPr>
      </p:sp>
      <p:pic>
        <p:nvPicPr>
          <p:cNvPr id="9" name="@fade:4|Icon" descr="Icon"/>
          <p:cNvPicPr>
            <a:picLocks noChangeAspect="1"/>
          </p:cNvPicPr>
          <p:nvPr/>
        </p:nvPicPr>
        <p:blipFill>
          <a:blip r:embed="rId3"/>
          <a:stretch>
            <a:fillRect/>
          </a:stretch>
        </p:blipFill>
        <p:spPr>
          <a:xfrm>
            <a:off x="3169310" y="3397910"/>
            <a:ext cx="427939" cy="427939"/>
          </a:xfrm>
          <a:prstGeom prst="rect">
            <a:avLst/>
          </a:prstGeom>
        </p:spPr>
      </p:pic>
      <p:sp>
        <p:nvSpPr>
          <p:cNvPr id="10" name="@fade:4|Step text"/>
          <p:cNvSpPr txBox="1"/>
          <p:nvPr/>
        </p:nvSpPr>
        <p:spPr>
          <a:xfrm>
            <a:off x="914400" y="4206240"/>
            <a:ext cx="2834640" cy="1097280"/>
          </a:xfrm>
          <a:prstGeom prst="rect">
            <a:avLst/>
          </a:prstGeom>
          <a:noFill/>
          <a:ln/>
        </p:spPr>
        <p:txBody>
          <a:bodyPr wrap="square" lIns="0" tIns="0" rIns="0" bIns="0" rtlCol="0" anchor="t"/>
          <a:lstStyle/>
          <a:p>
            <a:pPr marL="0" indent="0">
              <a:buNone/>
            </a:pPr>
            <a:r>
              <a:rPr lang="en-US" sz="2300" b="1" dirty="0">
                <a:solidFill>
                  <a:schemeClr val="tx1"/>
                </a:solidFill>
              </a:rPr>
              <a:t>Проверить качество собранных предложений</a:t>
            </a:r>
            <a:endParaRPr lang="en-US" sz="2300" dirty="0"/>
          </a:p>
        </p:txBody>
      </p:sp>
      <p:sp>
        <p:nvSpPr>
          <p:cNvPr id="11" name="@rise:6|Step card"/>
          <p:cNvSpPr/>
          <p:nvPr/>
        </p:nvSpPr>
        <p:spPr>
          <a:xfrm>
            <a:off x="4312768" y="2468880"/>
            <a:ext cx="3566160" cy="3108960"/>
          </a:xfrm>
          <a:prstGeom prst="roundRect">
            <a:avLst>
              <a:gd name="adj" fmla="val 8824"/>
            </a:avLst>
          </a:prstGeom>
          <a:solidFill>
            <a:srgbClr val="FFEFBF"/>
          </a:solidFill>
          <a:ln/>
        </p:spPr>
      </p:sp>
      <p:sp>
        <p:nvSpPr>
          <p:cNvPr id="12" name="@fade:8|Number bg"/>
          <p:cNvSpPr/>
          <p:nvPr/>
        </p:nvSpPr>
        <p:spPr>
          <a:xfrm>
            <a:off x="4614520" y="2770632"/>
            <a:ext cx="585216" cy="585216"/>
          </a:xfrm>
          <a:prstGeom prst="ellipse">
            <a:avLst/>
          </a:prstGeom>
          <a:solidFill>
            <a:srgbClr val="8B1E3F"/>
          </a:solidFill>
          <a:ln/>
        </p:spPr>
      </p:sp>
      <p:sp>
        <p:nvSpPr>
          <p:cNvPr id="13" name="@fade:8|Number"/>
          <p:cNvSpPr txBox="1"/>
          <p:nvPr/>
        </p:nvSpPr>
        <p:spPr>
          <a:xfrm>
            <a:off x="4614520" y="2770632"/>
            <a:ext cx="585216" cy="585216"/>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4" name="@fade:8|Icon bg"/>
          <p:cNvSpPr/>
          <p:nvPr/>
        </p:nvSpPr>
        <p:spPr>
          <a:xfrm>
            <a:off x="6735928" y="2651760"/>
            <a:ext cx="822960" cy="822960"/>
          </a:xfrm>
          <a:prstGeom prst="ellipse">
            <a:avLst/>
          </a:prstGeom>
          <a:solidFill>
            <a:srgbClr val="FFFFFF"/>
          </a:solidFill>
          <a:ln/>
        </p:spPr>
      </p:sp>
      <p:pic>
        <p:nvPicPr>
          <p:cNvPr id="15" name="@fade:8|Icon" descr="Icon"/>
          <p:cNvPicPr>
            <a:picLocks noChangeAspect="1"/>
          </p:cNvPicPr>
          <p:nvPr/>
        </p:nvPicPr>
        <p:blipFill>
          <a:blip r:embed="rId4"/>
          <a:stretch>
            <a:fillRect/>
          </a:stretch>
        </p:blipFill>
        <p:spPr>
          <a:xfrm>
            <a:off x="6933438" y="2849270"/>
            <a:ext cx="427939" cy="427939"/>
          </a:xfrm>
          <a:prstGeom prst="rect">
            <a:avLst/>
          </a:prstGeom>
        </p:spPr>
      </p:pic>
      <p:sp>
        <p:nvSpPr>
          <p:cNvPr id="16" name="@fade:8|Step text"/>
          <p:cNvSpPr txBox="1"/>
          <p:nvPr/>
        </p:nvSpPr>
        <p:spPr>
          <a:xfrm>
            <a:off x="4678528" y="3657600"/>
            <a:ext cx="2834640" cy="1097280"/>
          </a:xfrm>
          <a:prstGeom prst="rect">
            <a:avLst/>
          </a:prstGeom>
          <a:noFill/>
          <a:ln/>
        </p:spPr>
        <p:txBody>
          <a:bodyPr wrap="square" lIns="0" tIns="0" rIns="0" bIns="0" rtlCol="0" anchor="t"/>
          <a:lstStyle/>
          <a:p>
            <a:pPr marL="0" indent="0">
              <a:buNone/>
            </a:pPr>
            <a:r>
              <a:rPr lang="en-US" sz="2300" b="1" dirty="0">
                <a:solidFill>
                  <a:schemeClr val="tx1"/>
                </a:solidFill>
              </a:rPr>
              <a:t>Улучшить фильтры</a:t>
            </a:r>
            <a:endParaRPr lang="en-US" sz="2300" dirty="0"/>
          </a:p>
        </p:txBody>
      </p:sp>
      <p:sp>
        <p:nvSpPr>
          <p:cNvPr id="17" name="@rise:10|Step card"/>
          <p:cNvSpPr/>
          <p:nvPr/>
        </p:nvSpPr>
        <p:spPr>
          <a:xfrm>
            <a:off x="8076895" y="1920240"/>
            <a:ext cx="3566160" cy="3657600"/>
          </a:xfrm>
          <a:prstGeom prst="roundRect">
            <a:avLst>
              <a:gd name="adj" fmla="val 7692"/>
            </a:avLst>
          </a:prstGeom>
          <a:solidFill>
            <a:srgbClr val="FFDCD6"/>
          </a:solidFill>
          <a:ln/>
        </p:spPr>
      </p:sp>
      <p:sp>
        <p:nvSpPr>
          <p:cNvPr id="18" name="@fade:12|Number bg"/>
          <p:cNvSpPr/>
          <p:nvPr/>
        </p:nvSpPr>
        <p:spPr>
          <a:xfrm>
            <a:off x="8378647" y="2221992"/>
            <a:ext cx="585216" cy="585216"/>
          </a:xfrm>
          <a:prstGeom prst="ellipse">
            <a:avLst/>
          </a:prstGeom>
          <a:solidFill>
            <a:srgbClr val="8B1E3F"/>
          </a:solidFill>
          <a:ln/>
        </p:spPr>
      </p:sp>
      <p:sp>
        <p:nvSpPr>
          <p:cNvPr id="19" name="@fade:12|Number"/>
          <p:cNvSpPr txBox="1"/>
          <p:nvPr/>
        </p:nvSpPr>
        <p:spPr>
          <a:xfrm>
            <a:off x="8378647" y="2221992"/>
            <a:ext cx="585216" cy="585216"/>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20" name="@fade:12|Icon bg"/>
          <p:cNvSpPr/>
          <p:nvPr/>
        </p:nvSpPr>
        <p:spPr>
          <a:xfrm>
            <a:off x="10500055" y="2103120"/>
            <a:ext cx="822960" cy="822960"/>
          </a:xfrm>
          <a:prstGeom prst="ellipse">
            <a:avLst/>
          </a:prstGeom>
          <a:solidFill>
            <a:srgbClr val="FFFFFF"/>
          </a:solidFill>
          <a:ln/>
        </p:spPr>
      </p:sp>
      <p:pic>
        <p:nvPicPr>
          <p:cNvPr id="21" name="@fade:12|Icon" descr="Icon"/>
          <p:cNvPicPr>
            <a:picLocks noChangeAspect="1"/>
          </p:cNvPicPr>
          <p:nvPr/>
        </p:nvPicPr>
        <p:blipFill>
          <a:blip r:embed="rId5"/>
          <a:stretch>
            <a:fillRect/>
          </a:stretch>
        </p:blipFill>
        <p:spPr>
          <a:xfrm>
            <a:off x="10697566" y="2300630"/>
            <a:ext cx="427939" cy="427939"/>
          </a:xfrm>
          <a:prstGeom prst="rect">
            <a:avLst/>
          </a:prstGeom>
        </p:spPr>
      </p:pic>
      <p:sp>
        <p:nvSpPr>
          <p:cNvPr id="22" name="@fade:12|Step text"/>
          <p:cNvSpPr txBox="1"/>
          <p:nvPr/>
        </p:nvSpPr>
        <p:spPr>
          <a:xfrm>
            <a:off x="8442655" y="3108960"/>
            <a:ext cx="2834640" cy="1097280"/>
          </a:xfrm>
          <a:prstGeom prst="rect">
            <a:avLst/>
          </a:prstGeom>
          <a:noFill/>
          <a:ln/>
        </p:spPr>
        <p:txBody>
          <a:bodyPr wrap="square" lIns="0" tIns="0" rIns="0" bIns="0" rtlCol="0" anchor="t"/>
          <a:lstStyle/>
          <a:p>
            <a:pPr marL="0" indent="0">
              <a:buNone/>
            </a:pPr>
            <a:r>
              <a:rPr lang="en-US" sz="2300" b="1" dirty="0">
                <a:solidFill>
                  <a:schemeClr val="tx1"/>
                </a:solidFill>
              </a:rPr>
              <a:t>Понять, какие функции записи наиболее востребованы</a:t>
            </a:r>
            <a:endParaRPr lang="en-US" sz="2300" dirty="0"/>
          </a:p>
        </p:txBody>
      </p:sp>
      <p:sp>
        <p:nvSpPr>
          <p:cNvPr id="23" name="@rise:14|Feedback pill"/>
          <p:cNvSpPr/>
          <p:nvPr/>
        </p:nvSpPr>
        <p:spPr>
          <a:xfrm>
            <a:off x="1828800" y="5760720"/>
            <a:ext cx="8534095" cy="548640"/>
          </a:xfrm>
          <a:prstGeom prst="roundRect">
            <a:avLst>
              <a:gd name="adj" fmla="val 50000"/>
            </a:avLst>
          </a:prstGeom>
          <a:solidFill>
            <a:srgbClr val="8B1E3F"/>
          </a:solidFill>
          <a:ln/>
        </p:spPr>
      </p:sp>
      <p:sp>
        <p:nvSpPr>
          <p:cNvPr id="24" name="@fade:16|Feedback text"/>
          <p:cNvSpPr txBox="1"/>
          <p:nvPr/>
        </p:nvSpPr>
        <p:spPr>
          <a:xfrm>
            <a:off x="1828800" y="5760720"/>
            <a:ext cx="8534095" cy="548640"/>
          </a:xfrm>
          <a:prstGeom prst="rect">
            <a:avLst/>
          </a:prstGeom>
          <a:noFill/>
          <a:ln/>
        </p:spPr>
        <p:txBody>
          <a:bodyPr wrap="square" lIns="0" tIns="0" rIns="0" bIns="0" rtlCol="0" anchor="ctr"/>
          <a:lstStyle/>
          <a:p>
            <a:pPr marL="0" indent="0" algn="ctr">
              <a:buNone/>
            </a:pPr>
            <a:r>
              <a:rPr lang="en-US" sz="1900" b="1" dirty="0">
                <a:solidFill>
                  <a:schemeClr val="bg1"/>
                </a:solidFill>
              </a:rPr>
              <a:t>Будем рады обратной связи по приоритетам развития проекта</a:t>
            </a:r>
            <a:endParaRPr lang="en-US" sz="1900" dirty="0"/>
          </a:p>
        </p:txBody>
      </p:sp>
      <p:sp>
        <p:nvSpPr>
          <p:cNvPr id="25" name="Slide Number Placeholder 0"/>
          <p:cNvSpPr>
            <a:spLocks noGrp="1"/>
          </p:cNvSpPr>
          <p:nvPr>
            <p:ph type="sldNum" sz="quarter" idx="4294967295"/>
          </p:nvPr>
        </p:nvSpPr>
        <p:spPr>
          <a:xfrm>
            <a:off x="1106424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4A5A"/>
                </a:solidFill>
              </a:defRPr>
            </a:lvl1pPr>
          </a:lstStyle>
          <a:p>
            <a:pPr algn="r"/>
            <a:fld id="{F7021451-1387-4CA6-816F-3879F97B5CBC}" type="slidenum">
              <a:rPr lang="en-US" b="0"/>
              <a:t>15</a:t>
            </a:fld>
            <a:endParaRPr 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fade:0|Pill"/>
          <p:cNvSpPr/>
          <p:nvPr/>
        </p:nvSpPr>
        <p:spPr>
          <a:xfrm>
            <a:off x="548640" y="411480"/>
            <a:ext cx="2377440" cy="329184"/>
          </a:xfrm>
          <a:prstGeom prst="roundRect">
            <a:avLst>
              <a:gd name="adj" fmla="val 50000"/>
            </a:avLst>
          </a:prstGeom>
          <a:solidFill>
            <a:srgbClr val="FFC94A"/>
          </a:solidFill>
          <a:ln/>
        </p:spPr>
      </p:sp>
      <p:sp>
        <p:nvSpPr>
          <p:cNvPr id="3" name="@fade:0|Pill text"/>
          <p:cNvSpPr txBox="1"/>
          <p:nvPr/>
        </p:nvSpPr>
        <p:spPr>
          <a:xfrm>
            <a:off x="548640" y="411480"/>
            <a:ext cx="2377440" cy="329184"/>
          </a:xfrm>
          <a:prstGeom prst="rect">
            <a:avLst/>
          </a:prstGeom>
          <a:noFill/>
          <a:ln/>
        </p:spPr>
        <p:txBody>
          <a:bodyPr wrap="square" lIns="0" tIns="0" rIns="0" bIns="0" rtlCol="0" anchor="ctr"/>
          <a:lstStyle/>
          <a:p>
            <a:pPr marL="0" indent="0" algn="ctr">
              <a:buNone/>
            </a:pPr>
            <a:r>
              <a:rPr lang="en-US" sz="1200" b="1" kern="0" spc="200" dirty="0">
                <a:solidFill>
                  <a:schemeClr val="tx1"/>
                </a:solidFill>
              </a:rPr>
              <a:t>ПОСЛЕ ВЫСТУПЛЕНИЯ</a:t>
            </a:r>
            <a:endParaRPr lang="en-US" sz="1200" dirty="0"/>
          </a:p>
        </p:txBody>
      </p:sp>
      <p:sp>
        <p:nvSpPr>
          <p:cNvPr id="4" name="Text 1"/>
          <p:cNvSpPr>
            <a:spLocks noGrp="1"/>
          </p:cNvSpPr>
          <p:nvPr>
            <p:ph type="title" idx="102" hasCustomPrompt="1"/>
          </p:nvPr>
        </p:nvSpPr>
        <p:spPr>
          <a:xfrm>
            <a:off x="548640" y="914400"/>
            <a:ext cx="4297680" cy="1554480"/>
          </a:xfrm>
          <a:prstGeom prst="rect">
            <a:avLst/>
          </a:prstGeom>
          <a:noFill/>
          <a:ln/>
        </p:spPr>
        <p:txBody>
          <a:bodyPr wrap="square" lIns="0" tIns="0" rIns="0" bIns="0" rtlCol="0" anchor="t"/>
          <a:lstStyle/>
          <a:p>
            <a:pPr marL="0" indent="0" algn="l">
              <a:buNone/>
            </a:pPr>
            <a:r>
              <a:rPr lang="en-US" sz="4800" b="1" dirty="0">
                <a:solidFill>
                  <a:schemeClr val="bg1"/>
                </a:solidFill>
              </a:rPr>
              <a:t>Вопросы к жюри</a:t>
            </a:r>
            <a:endParaRPr lang="en-US" sz="4800" dirty="0"/>
          </a:p>
        </p:txBody>
      </p:sp>
      <p:sp>
        <p:nvSpPr>
          <p:cNvPr id="5" name="@pop:16|Thanks"/>
          <p:cNvSpPr txBox="1"/>
          <p:nvPr/>
        </p:nvSpPr>
        <p:spPr>
          <a:xfrm>
            <a:off x="548640" y="3794760"/>
            <a:ext cx="4297680" cy="1005840"/>
          </a:xfrm>
          <a:prstGeom prst="rect">
            <a:avLst/>
          </a:prstGeom>
          <a:noFill/>
          <a:ln/>
        </p:spPr>
        <p:txBody>
          <a:bodyPr wrap="square" lIns="0" tIns="0" rIns="0" bIns="0" rtlCol="0" anchor="t"/>
          <a:lstStyle/>
          <a:p>
            <a:pPr marL="0" indent="0">
              <a:buNone/>
            </a:pPr>
            <a:r>
              <a:rPr lang="en-US" sz="6000" b="1" dirty="0">
                <a:solidFill>
                  <a:schemeClr val="accent1"/>
                </a:solidFill>
              </a:rPr>
              <a:t>Спасибо!</a:t>
            </a:r>
            <a:endParaRPr lang="en-US" sz="6000" dirty="0"/>
          </a:p>
        </p:txBody>
      </p:sp>
      <p:sp>
        <p:nvSpPr>
          <p:cNvPr id="6" name="@fade:19|Tagline"/>
          <p:cNvSpPr txBox="1"/>
          <p:nvPr/>
        </p:nvSpPr>
        <p:spPr>
          <a:xfrm>
            <a:off x="548640" y="4937760"/>
            <a:ext cx="3840480" cy="822960"/>
          </a:xfrm>
          <a:prstGeom prst="rect">
            <a:avLst/>
          </a:prstGeom>
          <a:noFill/>
          <a:ln/>
        </p:spPr>
        <p:txBody>
          <a:bodyPr wrap="square" lIns="0" tIns="0" rIns="0" bIns="0" rtlCol="0" anchor="t"/>
          <a:lstStyle/>
          <a:p>
            <a:pPr marL="0" indent="0">
              <a:buNone/>
            </a:pPr>
            <a:r>
              <a:rPr lang="en-US" sz="1800" dirty="0">
                <a:solidFill>
                  <a:srgbClr val="B9A6FF"/>
                </a:solidFill>
              </a:rPr>
              <a:t>Mesto — компания, тренировки и события в одном месте</a:t>
            </a:r>
            <a:endParaRPr lang="en-US" sz="1800" dirty="0"/>
          </a:p>
        </p:txBody>
      </p:sp>
      <p:sp>
        <p:nvSpPr>
          <p:cNvPr id="7" name="@rise:3|Question card"/>
          <p:cNvSpPr/>
          <p:nvPr/>
        </p:nvSpPr>
        <p:spPr>
          <a:xfrm>
            <a:off x="5120640" y="822960"/>
            <a:ext cx="6522415" cy="1005840"/>
          </a:xfrm>
          <a:prstGeom prst="roundRect">
            <a:avLst>
              <a:gd name="adj" fmla="val 23636"/>
            </a:avLst>
          </a:prstGeom>
          <a:solidFill>
            <a:srgbClr val="431C30"/>
          </a:solidFill>
          <a:ln/>
        </p:spPr>
      </p:sp>
      <p:sp>
        <p:nvSpPr>
          <p:cNvPr id="8" name="@fade:5|Number bg"/>
          <p:cNvSpPr/>
          <p:nvPr/>
        </p:nvSpPr>
        <p:spPr>
          <a:xfrm>
            <a:off x="5431536" y="1042416"/>
            <a:ext cx="566928" cy="566928"/>
          </a:xfrm>
          <a:prstGeom prst="ellipse">
            <a:avLst/>
          </a:prstGeom>
          <a:solidFill>
            <a:srgbClr val="FF6B5E"/>
          </a:solidFill>
          <a:ln/>
        </p:spPr>
      </p:sp>
      <p:sp>
        <p:nvSpPr>
          <p:cNvPr id="9" name="@fade:5|Number"/>
          <p:cNvSpPr txBox="1"/>
          <p:nvPr/>
        </p:nvSpPr>
        <p:spPr>
          <a:xfrm>
            <a:off x="5431536" y="1042416"/>
            <a:ext cx="566928" cy="566928"/>
          </a:xfrm>
          <a:prstGeom prst="rect">
            <a:avLst/>
          </a:prstGeom>
          <a:no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10" name="@fade:5|Question"/>
          <p:cNvSpPr txBox="1"/>
          <p:nvPr/>
        </p:nvSpPr>
        <p:spPr>
          <a:xfrm>
            <a:off x="6217920" y="896112"/>
            <a:ext cx="5150815" cy="859536"/>
          </a:xfrm>
          <a:prstGeom prst="rect">
            <a:avLst/>
          </a:prstGeom>
          <a:noFill/>
          <a:ln/>
        </p:spPr>
        <p:txBody>
          <a:bodyPr wrap="square" lIns="0" tIns="0" rIns="0" bIns="0" rtlCol="0" anchor="ctr"/>
          <a:lstStyle/>
          <a:p>
            <a:pPr marL="0" indent="0">
              <a:buNone/>
            </a:pPr>
            <a:r>
              <a:rPr lang="en-US" sz="1500" dirty="0">
                <a:solidFill>
                  <a:schemeClr val="bg1"/>
                </a:solidFill>
              </a:rPr>
              <a:t>Не слишком ли мы расширили идею? Какой сценарий вы бы выбрали главным для первой версии: поиск компании или подбор тренировок?</a:t>
            </a:r>
            <a:endParaRPr lang="en-US" sz="1500" dirty="0"/>
          </a:p>
        </p:txBody>
      </p:sp>
      <p:sp>
        <p:nvSpPr>
          <p:cNvPr id="11" name="@rise:5|Question card"/>
          <p:cNvSpPr/>
          <p:nvPr/>
        </p:nvSpPr>
        <p:spPr>
          <a:xfrm>
            <a:off x="5120640" y="1920240"/>
            <a:ext cx="6522415" cy="1005840"/>
          </a:xfrm>
          <a:prstGeom prst="roundRect">
            <a:avLst>
              <a:gd name="adj" fmla="val 23636"/>
            </a:avLst>
          </a:prstGeom>
          <a:solidFill>
            <a:srgbClr val="431C30"/>
          </a:solidFill>
          <a:ln/>
        </p:spPr>
      </p:sp>
      <p:sp>
        <p:nvSpPr>
          <p:cNvPr id="12" name="@fade:7|Number bg"/>
          <p:cNvSpPr/>
          <p:nvPr/>
        </p:nvSpPr>
        <p:spPr>
          <a:xfrm>
            <a:off x="5431536" y="2139696"/>
            <a:ext cx="566928" cy="566928"/>
          </a:xfrm>
          <a:prstGeom prst="ellipse">
            <a:avLst/>
          </a:prstGeom>
          <a:solidFill>
            <a:srgbClr val="FFC94A"/>
          </a:solidFill>
          <a:ln/>
        </p:spPr>
      </p:sp>
      <p:sp>
        <p:nvSpPr>
          <p:cNvPr id="13" name="@fade:7|Number"/>
          <p:cNvSpPr txBox="1"/>
          <p:nvPr/>
        </p:nvSpPr>
        <p:spPr>
          <a:xfrm>
            <a:off x="5431536" y="2139696"/>
            <a:ext cx="566928" cy="566928"/>
          </a:xfrm>
          <a:prstGeom prst="rect">
            <a:avLst/>
          </a:prstGeom>
          <a:no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4" name="@fade:7|Question"/>
          <p:cNvSpPr txBox="1"/>
          <p:nvPr/>
        </p:nvSpPr>
        <p:spPr>
          <a:xfrm>
            <a:off x="6217920" y="1993392"/>
            <a:ext cx="5150815" cy="859536"/>
          </a:xfrm>
          <a:prstGeom prst="rect">
            <a:avLst/>
          </a:prstGeom>
          <a:noFill/>
          <a:ln/>
        </p:spPr>
        <p:txBody>
          <a:bodyPr wrap="square" lIns="0" tIns="0" rIns="0" bIns="0" rtlCol="0" anchor="ctr"/>
          <a:lstStyle/>
          <a:p>
            <a:pPr marL="0" indent="0">
              <a:buNone/>
            </a:pPr>
            <a:r>
              <a:rPr lang="en-US" sz="1500" dirty="0">
                <a:solidFill>
                  <a:schemeClr val="bg1"/>
                </a:solidFill>
              </a:rPr>
              <a:t>За какую конкретную пользу клубы и организаторы могли бы платить нам регулярно? Достаточно ли публикаций и продвижения для подписки?</a:t>
            </a:r>
            <a:endParaRPr lang="en-US" sz="1500" dirty="0"/>
          </a:p>
        </p:txBody>
      </p:sp>
      <p:sp>
        <p:nvSpPr>
          <p:cNvPr id="15" name="@rise:7|Question card"/>
          <p:cNvSpPr/>
          <p:nvPr/>
        </p:nvSpPr>
        <p:spPr>
          <a:xfrm>
            <a:off x="5120640" y="3017520"/>
            <a:ext cx="6522415" cy="1005840"/>
          </a:xfrm>
          <a:prstGeom prst="roundRect">
            <a:avLst>
              <a:gd name="adj" fmla="val 23636"/>
            </a:avLst>
          </a:prstGeom>
          <a:solidFill>
            <a:srgbClr val="431C30"/>
          </a:solidFill>
          <a:ln/>
        </p:spPr>
      </p:sp>
      <p:sp>
        <p:nvSpPr>
          <p:cNvPr id="16" name="@fade:9|Number bg"/>
          <p:cNvSpPr/>
          <p:nvPr/>
        </p:nvSpPr>
        <p:spPr>
          <a:xfrm>
            <a:off x="5431536" y="3236976"/>
            <a:ext cx="566928" cy="566928"/>
          </a:xfrm>
          <a:prstGeom prst="ellipse">
            <a:avLst/>
          </a:prstGeom>
          <a:solidFill>
            <a:srgbClr val="6FD3B0"/>
          </a:solidFill>
          <a:ln/>
        </p:spPr>
      </p:sp>
      <p:sp>
        <p:nvSpPr>
          <p:cNvPr id="17" name="@fade:9|Number"/>
          <p:cNvSpPr txBox="1"/>
          <p:nvPr/>
        </p:nvSpPr>
        <p:spPr>
          <a:xfrm>
            <a:off x="5431536" y="3236976"/>
            <a:ext cx="566928" cy="566928"/>
          </a:xfrm>
          <a:prstGeom prst="rect">
            <a:avLst/>
          </a:prstGeom>
          <a:no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8" name="@fade:9|Question"/>
          <p:cNvSpPr txBox="1"/>
          <p:nvPr/>
        </p:nvSpPr>
        <p:spPr>
          <a:xfrm>
            <a:off x="6217920" y="3090672"/>
            <a:ext cx="5150815" cy="859536"/>
          </a:xfrm>
          <a:prstGeom prst="rect">
            <a:avLst/>
          </a:prstGeom>
          <a:noFill/>
          <a:ln/>
        </p:spPr>
        <p:txBody>
          <a:bodyPr wrap="square" lIns="0" tIns="0" rIns="0" bIns="0" rtlCol="0" anchor="ctr"/>
          <a:lstStyle/>
          <a:p>
            <a:pPr marL="0" indent="0">
              <a:buNone/>
            </a:pPr>
            <a:r>
              <a:rPr lang="en-US" sz="1500" dirty="0">
                <a:solidFill>
                  <a:schemeClr val="bg1"/>
                </a:solidFill>
              </a:rPr>
              <a:t>Как вы оцениваете нашу идею подбора: нужен ли здесь ИИ или на первом этапе достаточно хорошей базы и фильтров?</a:t>
            </a:r>
            <a:endParaRPr lang="en-US" sz="1500" dirty="0"/>
          </a:p>
        </p:txBody>
      </p:sp>
      <p:sp>
        <p:nvSpPr>
          <p:cNvPr id="19" name="@rise:9|Question card"/>
          <p:cNvSpPr/>
          <p:nvPr/>
        </p:nvSpPr>
        <p:spPr>
          <a:xfrm>
            <a:off x="5120640" y="4114800"/>
            <a:ext cx="6522415" cy="1005840"/>
          </a:xfrm>
          <a:prstGeom prst="roundRect">
            <a:avLst>
              <a:gd name="adj" fmla="val 23636"/>
            </a:avLst>
          </a:prstGeom>
          <a:solidFill>
            <a:srgbClr val="431C30"/>
          </a:solidFill>
          <a:ln/>
        </p:spPr>
      </p:sp>
      <p:sp>
        <p:nvSpPr>
          <p:cNvPr id="20" name="@fade:11|Number bg"/>
          <p:cNvSpPr/>
          <p:nvPr/>
        </p:nvSpPr>
        <p:spPr>
          <a:xfrm>
            <a:off x="5431536" y="4334256"/>
            <a:ext cx="566928" cy="566928"/>
          </a:xfrm>
          <a:prstGeom prst="ellipse">
            <a:avLst/>
          </a:prstGeom>
          <a:solidFill>
            <a:srgbClr val="B9A6FF"/>
          </a:solidFill>
          <a:ln/>
        </p:spPr>
      </p:sp>
      <p:sp>
        <p:nvSpPr>
          <p:cNvPr id="21" name="@fade:11|Number"/>
          <p:cNvSpPr txBox="1"/>
          <p:nvPr/>
        </p:nvSpPr>
        <p:spPr>
          <a:xfrm>
            <a:off x="5431536" y="4334256"/>
            <a:ext cx="566928" cy="566928"/>
          </a:xfrm>
          <a:prstGeom prst="rect">
            <a:avLst/>
          </a:prstGeom>
          <a:noFill/>
          <a:ln/>
        </p:spPr>
        <p:txBody>
          <a:bodyPr wrap="square" lIns="0" tIns="0" rIns="0" bIns="0" rtlCol="0" anchor="ctr"/>
          <a:lstStyle/>
          <a:p>
            <a:pPr marL="0" indent="0" algn="ctr">
              <a:buNone/>
            </a:pPr>
            <a:r>
              <a:rPr lang="en-US" sz="2200" b="1" dirty="0">
                <a:solidFill>
                  <a:schemeClr val="tx1"/>
                </a:solidFill>
              </a:rPr>
              <a:t>4</a:t>
            </a:r>
            <a:endParaRPr lang="en-US" sz="2200" dirty="0"/>
          </a:p>
        </p:txBody>
      </p:sp>
      <p:sp>
        <p:nvSpPr>
          <p:cNvPr id="22" name="@fade:11|Question"/>
          <p:cNvSpPr txBox="1"/>
          <p:nvPr/>
        </p:nvSpPr>
        <p:spPr>
          <a:xfrm>
            <a:off x="6217920" y="4187952"/>
            <a:ext cx="5150815" cy="859536"/>
          </a:xfrm>
          <a:prstGeom prst="rect">
            <a:avLst/>
          </a:prstGeom>
          <a:noFill/>
          <a:ln/>
        </p:spPr>
        <p:txBody>
          <a:bodyPr wrap="square" lIns="0" tIns="0" rIns="0" bIns="0" rtlCol="0" anchor="ctr"/>
          <a:lstStyle/>
          <a:p>
            <a:pPr marL="0" indent="0">
              <a:buNone/>
            </a:pPr>
            <a:r>
              <a:rPr lang="en-US" sz="1500" dirty="0">
                <a:solidFill>
                  <a:schemeClr val="bg1"/>
                </a:solidFill>
              </a:rPr>
              <a:t>Каким вы видите наше сильное отличие от спортивных агрегаторов вроде Allsports и ClassPass?</a:t>
            </a:r>
            <a:endParaRPr lang="en-US" sz="1500" dirty="0"/>
          </a:p>
        </p:txBody>
      </p:sp>
      <p:sp>
        <p:nvSpPr>
          <p:cNvPr id="23" name="@rise:11|Question card"/>
          <p:cNvSpPr/>
          <p:nvPr/>
        </p:nvSpPr>
        <p:spPr>
          <a:xfrm>
            <a:off x="5120640" y="5212080"/>
            <a:ext cx="6522415" cy="1005840"/>
          </a:xfrm>
          <a:prstGeom prst="roundRect">
            <a:avLst>
              <a:gd name="adj" fmla="val 23636"/>
            </a:avLst>
          </a:prstGeom>
          <a:solidFill>
            <a:srgbClr val="431C30"/>
          </a:solidFill>
          <a:ln/>
        </p:spPr>
      </p:sp>
      <p:sp>
        <p:nvSpPr>
          <p:cNvPr id="24" name="@fade:13|Number bg"/>
          <p:cNvSpPr/>
          <p:nvPr/>
        </p:nvSpPr>
        <p:spPr>
          <a:xfrm>
            <a:off x="5431536" y="5431536"/>
            <a:ext cx="566928" cy="566928"/>
          </a:xfrm>
          <a:prstGeom prst="ellipse">
            <a:avLst/>
          </a:prstGeom>
          <a:solidFill>
            <a:srgbClr val="7CC4FF"/>
          </a:solidFill>
          <a:ln/>
        </p:spPr>
      </p:sp>
      <p:sp>
        <p:nvSpPr>
          <p:cNvPr id="25" name="@fade:13|Number"/>
          <p:cNvSpPr txBox="1"/>
          <p:nvPr/>
        </p:nvSpPr>
        <p:spPr>
          <a:xfrm>
            <a:off x="5431536" y="5431536"/>
            <a:ext cx="566928" cy="566928"/>
          </a:xfrm>
          <a:prstGeom prst="rect">
            <a:avLst/>
          </a:prstGeom>
          <a:noFill/>
          <a:ln/>
        </p:spPr>
        <p:txBody>
          <a:bodyPr wrap="square" lIns="0" tIns="0" rIns="0" bIns="0" rtlCol="0" anchor="ctr"/>
          <a:lstStyle/>
          <a:p>
            <a:pPr marL="0" indent="0" algn="ctr">
              <a:buNone/>
            </a:pPr>
            <a:r>
              <a:rPr lang="en-US" sz="2200" b="1" dirty="0">
                <a:solidFill>
                  <a:schemeClr val="tx1"/>
                </a:solidFill>
              </a:rPr>
              <a:t>5</a:t>
            </a:r>
            <a:endParaRPr lang="en-US" sz="2200" dirty="0"/>
          </a:p>
        </p:txBody>
      </p:sp>
      <p:sp>
        <p:nvSpPr>
          <p:cNvPr id="26" name="@fade:13|Question"/>
          <p:cNvSpPr txBox="1"/>
          <p:nvPr/>
        </p:nvSpPr>
        <p:spPr>
          <a:xfrm>
            <a:off x="6217920" y="5285232"/>
            <a:ext cx="5150815" cy="859536"/>
          </a:xfrm>
          <a:prstGeom prst="rect">
            <a:avLst/>
          </a:prstGeom>
          <a:noFill/>
          <a:ln/>
        </p:spPr>
        <p:txBody>
          <a:bodyPr wrap="square" lIns="0" tIns="0" rIns="0" bIns="0" rtlCol="0" anchor="ctr"/>
          <a:lstStyle/>
          <a:p>
            <a:pPr marL="0" indent="0">
              <a:buNone/>
            </a:pPr>
            <a:r>
              <a:rPr lang="en-US" sz="1500" dirty="0">
                <a:solidFill>
                  <a:schemeClr val="bg1"/>
                </a:solidFill>
              </a:rPr>
              <a:t>Что в этой концепции вы бы убрали или упростили в первую очередь?</a:t>
            </a:r>
            <a:endParaRPr lang="en-US" sz="1500" dirty="0"/>
          </a:p>
        </p:txBody>
      </p:sp>
    </p:spTree>
  </p:cSld>
  <p:clrMapOvr>
    <a:masterClrMapping/>
  </p:clrMapOvr>
  <p:transition>
    <p:fade/>
  </p:transition>
</p:sld>
</file>

<file path=ppt/theme/theme1.xml><?xml version="1.0" encoding="utf-8"?>
<a:theme xmlns:a="http://schemas.openxmlformats.org/drawingml/2006/main" name="Mesto Play">
  <a:themeElements>
    <a:clrScheme name="Mesto Play">
      <a:dk1>
        <a:srgbClr val="2A0F1E"/>
      </a:dk1>
      <a:lt1>
        <a:srgbClr val="FFFFFF"/>
      </a:lt1>
      <a:dk2>
        <a:srgbClr val="8B1E3F"/>
      </a:dk2>
      <a:lt2>
        <a:srgbClr val="FBF1EE"/>
      </a:lt2>
      <a:accent1>
        <a:srgbClr val="FF6B5E"/>
      </a:accent1>
      <a:accent2>
        <a:srgbClr val="FFC94A"/>
      </a:accent2>
      <a:accent3>
        <a:srgbClr val="6FD3B0"/>
      </a:accent3>
      <a:accent4>
        <a:srgbClr val="B9A6FF"/>
      </a:accent4>
      <a:accent5>
        <a:srgbClr val="7CC4FF"/>
      </a:accent5>
      <a:accent6>
        <a:srgbClr val="F7A8C0"/>
      </a:accent6>
      <a:hlink>
        <a:srgbClr val="8B1E3F"/>
      </a:hlink>
      <a:folHlink>
        <a:srgbClr val="6F5A66"/>
      </a:folHlink>
    </a:clrScheme>
    <a:fontScheme name="Mesto Pla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2331</Words>
  <Application>Microsoft Office PowerPoint</Application>
  <PresentationFormat>Широкоэкранный</PresentationFormat>
  <Paragraphs>288</Paragraphs>
  <Slides>16</Slides>
  <Notes>16</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16</vt:i4>
      </vt:variant>
    </vt:vector>
  </HeadingPairs>
  <TitlesOfParts>
    <vt:vector size="19" baseType="lpstr">
      <vt:lpstr>Arial</vt:lpstr>
      <vt:lpstr>Calibri</vt:lpstr>
      <vt:lpstr>Mesto Play</vt:lpstr>
      <vt:lpstr>Презентация PowerPoint</vt:lpstr>
      <vt:lpstr>Презентация PowerPoint</vt:lpstr>
      <vt:lpstr>Презентация PowerPoint</vt:lpstr>
      <vt:lpstr>Презентация PowerPoint</vt:lpstr>
      <vt:lpstr>Позиционирование</vt:lpstr>
      <vt:lpstr>Почему человеку трудно начать</vt:lpstr>
      <vt:lpstr>Анализ аудитории</vt:lpstr>
      <vt:lpstr>Работа с администраторами чатов</vt:lpstr>
      <vt:lpstr>Как человек выбирает занятие</vt:lpstr>
      <vt:lpstr>Спортивный профиль</vt:lpstr>
      <vt:lpstr>Как можем зарабатывать</vt:lpstr>
      <vt:lpstr>Сравнение по ключевым функциям</vt:lpstr>
      <vt:lpstr>Наш MVP</vt:lpstr>
      <vt:lpstr>Как мы улучшили UX</vt:lpstr>
      <vt:lpstr>Следующие шаги</vt:lpstr>
      <vt:lpstr>Вопросы к жюри</vt:lpstr>
    </vt:vector>
  </TitlesOfParts>
  <Company>Mesto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Mesto — питч</dc:title>
  <dc:subject>PptxGenJS Presentation</dc:subject>
  <dc:creator>Mesto</dc:creator>
  <cp:lastModifiedBy>User</cp:lastModifiedBy>
  <cp:revision>2</cp:revision>
  <dcterms:created xsi:type="dcterms:W3CDTF">2026-10-24T20:47:53Z</dcterms:created>
  <dcterms:modified xsi:type="dcterms:W3CDTF">2026-10-24T20:55:32Z</dcterms:modified>
</cp:coreProperties>
</file>